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sldSz cx="9144000" cy="5143500" type="screen16x9"/>
  <p:notesSz cx="6858000" cy="9144000"/>
  <p:embeddedFontLst>
    <p:embeddedFont>
      <p:font typeface="Lato" panose="020F0502020204030203" pitchFamily="34" charset="0"/>
      <p:regular r:id="rId80"/>
      <p:bold r:id="rId81"/>
      <p:italic r:id="rId82"/>
      <p:boldItalic r:id="rId83"/>
    </p:embeddedFont>
    <p:embeddedFont>
      <p:font typeface="Montserrat" panose="00000500000000000000" pitchFamily="2" charset="0"/>
      <p:regular r:id="rId84"/>
      <p:bold r:id="rId85"/>
      <p:italic r:id="rId86"/>
      <p:boldItalic r:id="rId87"/>
    </p:embeddedFont>
    <p:embeddedFont>
      <p:font typeface="Roboto" panose="02000000000000000000" pitchFamily="2" charset="0"/>
      <p:regular r:id="rId88"/>
      <p:bold r:id="rId89"/>
      <p:italic r:id="rId90"/>
      <p:boldItalic r:id="rId91"/>
    </p:embeddedFont>
    <p:embeddedFont>
      <p:font typeface="Roboto Mono" panose="00000009000000000000" pitchFamily="49" charset="0"/>
      <p:regular r:id="rId92"/>
      <p:bold r:id="rId93"/>
      <p:italic r:id="rId94"/>
      <p:boldItalic r:id="rId9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180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5.fntdata"/><Relationship Id="rId89" Type="http://schemas.openxmlformats.org/officeDocument/2006/relationships/font" Target="fonts/font10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font" Target="fonts/font11.fntdata"/><Relationship Id="rId95" Type="http://schemas.openxmlformats.org/officeDocument/2006/relationships/font" Target="fonts/font16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font" Target="fonts/font1.fntdata"/><Relationship Id="rId85" Type="http://schemas.openxmlformats.org/officeDocument/2006/relationships/font" Target="fonts/font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4.fntdata"/><Relationship Id="rId88" Type="http://schemas.openxmlformats.org/officeDocument/2006/relationships/font" Target="fonts/font9.fntdata"/><Relationship Id="rId91" Type="http://schemas.openxmlformats.org/officeDocument/2006/relationships/font" Target="fonts/font12.fntdata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font" Target="fonts/font2.fntdata"/><Relationship Id="rId86" Type="http://schemas.openxmlformats.org/officeDocument/2006/relationships/font" Target="fonts/font7.fntdata"/><Relationship Id="rId94" Type="http://schemas.openxmlformats.org/officeDocument/2006/relationships/font" Target="fonts/font15.fntdata"/><Relationship Id="rId9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font" Target="fonts/font13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8.fntdata"/><Relationship Id="rId61" Type="http://schemas.openxmlformats.org/officeDocument/2006/relationships/slide" Target="slides/slide60.xml"/><Relationship Id="rId82" Type="http://schemas.openxmlformats.org/officeDocument/2006/relationships/font" Target="fonts/font3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font" Target="fonts/font14.fntdata"/><Relationship Id="rId98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4ca80ebf23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4ca80ebf23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87fc3b36c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87fc3b36c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87fc3b36c7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87fc3b36c7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87fc3b36c7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87fc3b36c7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4ca80ebf2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4ca80ebf2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87ccd45540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87ccd45540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87ccd45540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87ccd45540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4ca80ebf23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4ca80ebf23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4ca80ebf23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4ca80ebf23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87ccd4554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87ccd4554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87ccd45540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87ccd45540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87ccd45540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87ccd45540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87ccd45540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87ccd45540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87ccd4554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87ccd4554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87ccd45540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87ccd45540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87ccd45540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87ccd45540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87ccd45540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87ccd45540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87ccd45540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87ccd45540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87ccd45540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87ccd45540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87ccd45540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87ccd45540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896c71402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896c714028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87ccd45540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87ccd45540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87ccd45540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87ccd45540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87ccd45540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87ccd45540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87ccd45540_0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87ccd45540_0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87ccd45540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387ccd45540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87ccd45540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87ccd45540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87ccd45540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387ccd45540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87ccd45540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87ccd45540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87ccd45540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387ccd45540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87ccd45540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87ccd45540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87ccd45540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387ccd45540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87ccd45540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87ccd45540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87ccd45540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87ccd45540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896c714028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896c714028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87ccd45540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87ccd45540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87ccd45540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87ccd45540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87ccd45540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87ccd45540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87ccd45540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387ccd45540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87ccd45540_0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387ccd45540_0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896c714028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896c714028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87ccd45540_0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87ccd45540_0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87ccd45540_0_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387ccd45540_0_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87ccd45540_0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87ccd45540_0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87ccd45540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387ccd45540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87ccd45540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387ccd45540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87ccd45540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387ccd45540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87ccd45540_0_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387ccd45540_0_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896c71402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3896c71402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87ccd45540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387ccd45540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87ccd45540_0_2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387ccd45540_0_2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87ccd45540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87ccd45540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387ccd45540_0_2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4" name="Google Shape;444;g387ccd45540_0_2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87ccd45540_0_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0" name="Google Shape;450;g387ccd45540_0_2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87ccd45540_0_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387ccd45540_0_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87ccd45540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87ccd45540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387edecf51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387edecf51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87edecf51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0" name="Google Shape;470;g387edecf51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87dbed02e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87dbed02e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87dbed02e7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g387dbed02e7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87dbed02e7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5" name="Google Shape;485;g387dbed02e7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87dbed02e7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387dbed02e7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387dbed02e7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387dbed02e7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9f4f864837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39f4f864837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87dbed02e7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387dbed02e7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87dbed02e7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g387dbed02e7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87dbed02e7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387dbed02e7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387dbed02e7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387dbed02e7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87dbed02e7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387dbed02e7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87dbed02e7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387dbed02e7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87dbed02e7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3" name="Google Shape;543;g387dbed02e7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387dbed02e7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387dbed02e7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87dbed02e7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5" name="Google Shape;555;g387dbed02e7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87dbed02e7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87dbed02e7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87dbed02e7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87dbed02e7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87dbed02e7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87dbed02e7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slide" Target="slide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17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slide" Target="slide3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slide" Target="slide6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68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slide" Target="slide7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gpt.com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lucid.app/documents/#/home?folder_id=recent" TargetMode="External"/><Relationship Id="rId5" Type="http://schemas.openxmlformats.org/officeDocument/2006/relationships/hyperlink" Target="https://www.figma.com/" TargetMode="External"/><Relationship Id="rId4" Type="http://schemas.openxmlformats.org/officeDocument/2006/relationships/hyperlink" Target="https://www.deepseek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11700" y="67275"/>
            <a:ext cx="8520600" cy="8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BuyNote</a:t>
            </a:r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311700" y="4350900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Antonio Cordero Serrano 2º CFGS DAM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FFFFFF"/>
                </a:solidFill>
              </a:rPr>
              <a:t>Creación de la presentación: 10/10/2025</a:t>
            </a:r>
            <a:endParaRPr/>
          </a:p>
        </p:txBody>
      </p:sp>
      <p:pic>
        <p:nvPicPr>
          <p:cNvPr id="136" name="Google Shape;136;p13" title="BuyNote__1_-removebg-previe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1838" y="1058175"/>
            <a:ext cx="3140325" cy="314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>
            <a:spLocks noGrp="1"/>
          </p:cNvSpPr>
          <p:nvPr>
            <p:ph type="title"/>
          </p:nvPr>
        </p:nvSpPr>
        <p:spPr>
          <a:xfrm>
            <a:off x="727650" y="5635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Índice</a:t>
            </a:r>
            <a:endParaRPr/>
          </a:p>
        </p:txBody>
      </p:sp>
      <p:sp>
        <p:nvSpPr>
          <p:cNvPr id="142" name="Google Shape;142;p14"/>
          <p:cNvSpPr txBox="1">
            <a:spLocks noGrp="1"/>
          </p:cNvSpPr>
          <p:nvPr>
            <p:ph type="body" idx="1"/>
          </p:nvPr>
        </p:nvSpPr>
        <p:spPr>
          <a:xfrm>
            <a:off x="311700" y="1248500"/>
            <a:ext cx="8520600" cy="356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" sz="2800" b="1" baseline="-25000">
                <a:uFill>
                  <a:noFill/>
                </a:uFill>
                <a:hlinkClick r:id="rId3" action="ppaction://hlinksldjump"/>
              </a:rPr>
              <a:t>Introducción </a:t>
            </a:r>
            <a:r>
              <a:rPr lang="es" sz="2800" b="1" baseline="-25000"/>
              <a:t>(6)</a:t>
            </a:r>
            <a:endParaRPr sz="2800" b="1" baseline="-25000"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" sz="2800" b="1" baseline="-25000">
                <a:uFill>
                  <a:noFill/>
                </a:uFill>
                <a:hlinkClick r:id="rId4" action="ppaction://hlinksldjump"/>
              </a:rPr>
              <a:t>Plan de viabilidad</a:t>
            </a:r>
            <a:r>
              <a:rPr lang="es" sz="2800" b="1" baseline="-25000"/>
              <a:t> (7 - 16)</a:t>
            </a:r>
            <a:endParaRPr sz="2800" b="1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Necesidades actuales del mercado (8)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Competencia (9 - 12)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Valor diferencial de la app (13)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Plan de inversión (14)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Umbral de rentabilidad (15)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Plan de marketing (16)</a:t>
            </a:r>
            <a:endParaRPr sz="2800" baseline="-2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Índice</a:t>
            </a:r>
            <a:endParaRPr/>
          </a:p>
        </p:txBody>
      </p:sp>
      <p:sp>
        <p:nvSpPr>
          <p:cNvPr id="148" name="Google Shape;148;p15"/>
          <p:cNvSpPr txBox="1">
            <a:spLocks noGrp="1"/>
          </p:cNvSpPr>
          <p:nvPr>
            <p:ph type="body" idx="1"/>
          </p:nvPr>
        </p:nvSpPr>
        <p:spPr>
          <a:xfrm>
            <a:off x="311700" y="1051725"/>
            <a:ext cx="8520600" cy="41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2800" b="1" baseline="-25000">
                <a:uFill>
                  <a:noFill/>
                </a:uFill>
                <a:hlinkClick r:id="rId3" action="ppaction://hlinksldjump"/>
              </a:rPr>
              <a:t>Requisitos del sistema</a:t>
            </a:r>
            <a:r>
              <a:rPr lang="es" sz="2800" b="1" baseline="-25000"/>
              <a:t> (17 - 31)</a:t>
            </a:r>
            <a:endParaRPr sz="2800" b="1" baseline="-25000"/>
          </a:p>
          <a:p>
            <a:pPr marL="914400" lvl="1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2800" baseline="-25000"/>
              <a:t>Requisitos de información (18 - 22)</a:t>
            </a:r>
            <a:endParaRPr sz="2800" baseline="-25000"/>
          </a:p>
          <a:p>
            <a:pPr marL="914400" lvl="1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2800" baseline="-25000"/>
              <a:t>Requisitos funcionales (23 - 28)</a:t>
            </a:r>
            <a:endParaRPr sz="2800" baseline="-25000"/>
          </a:p>
          <a:p>
            <a:pPr marL="914400" lvl="1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2800" baseline="-25000"/>
              <a:t>Casos de uso (29 - 31)</a:t>
            </a:r>
            <a:endParaRPr sz="2800" baseline="-25000"/>
          </a:p>
          <a:p>
            <a:pPr marL="457200" lvl="0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2800" b="1" baseline="-25000">
                <a:uFill>
                  <a:noFill/>
                </a:uFill>
                <a:hlinkClick r:id="rId4" action="ppaction://hlinksldjump"/>
              </a:rPr>
              <a:t>Modelo de datos</a:t>
            </a:r>
            <a:r>
              <a:rPr lang="es" sz="2800" b="1" baseline="-25000"/>
              <a:t> (33 - 53)</a:t>
            </a:r>
            <a:endParaRPr sz="2800" b="1" baseline="-25000"/>
          </a:p>
          <a:p>
            <a:pPr marL="914400" lvl="1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2800" baseline="-25000"/>
              <a:t>Modelo conceptual (34 - 36)</a:t>
            </a:r>
            <a:endParaRPr sz="2800" baseline="-25000"/>
          </a:p>
          <a:p>
            <a:pPr marL="1371600" lvl="2" indent="-393064" algn="l" rtl="0"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s" sz="2800" baseline="-25000"/>
              <a:t>Descripción de entidades (37 - 42)</a:t>
            </a:r>
            <a:endParaRPr sz="2800" baseline="-25000"/>
          </a:p>
          <a:p>
            <a:pPr marL="1371600" lvl="2" indent="-393064" algn="l" rtl="0"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s" sz="2800" baseline="-25000"/>
              <a:t>Descripción de interrelacionales (43 - 44)</a:t>
            </a:r>
            <a:endParaRPr sz="2800" baseline="-25000"/>
          </a:p>
          <a:p>
            <a:pPr marL="914400" lvl="1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2800" baseline="-25000"/>
              <a:t>Modelo lógico de datos (45 - 50)</a:t>
            </a:r>
            <a:endParaRPr sz="2800" baseline="-25000"/>
          </a:p>
          <a:p>
            <a:pPr marL="914400" lvl="1" indent="-393065" algn="l" rtl="0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2800" baseline="-25000"/>
              <a:t>Consultas (51 - 54)</a:t>
            </a:r>
            <a:endParaRPr sz="2800" baseline="-25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Índice</a:t>
            </a:r>
            <a:endParaRPr/>
          </a:p>
        </p:txBody>
      </p:sp>
      <p:sp>
        <p:nvSpPr>
          <p:cNvPr id="154" name="Google Shape;154;p16"/>
          <p:cNvSpPr txBox="1">
            <a:spLocks noGrp="1"/>
          </p:cNvSpPr>
          <p:nvPr>
            <p:ph type="body" idx="1"/>
          </p:nvPr>
        </p:nvSpPr>
        <p:spPr>
          <a:xfrm>
            <a:off x="311700" y="939575"/>
            <a:ext cx="8520600" cy="394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425450" algn="l" rtl="0">
              <a:spcBef>
                <a:spcPts val="0"/>
              </a:spcBef>
              <a:spcAft>
                <a:spcPts val="0"/>
              </a:spcAft>
              <a:buSzPts val="3100"/>
              <a:buChar char="●"/>
            </a:pPr>
            <a:r>
              <a:rPr lang="es" sz="3100" b="1" baseline="-25000">
                <a:uFill>
                  <a:noFill/>
                </a:uFill>
                <a:hlinkClick r:id="rId3" action="ppaction://hlinksldjump"/>
              </a:rPr>
              <a:t>Interfaz de usuario</a:t>
            </a:r>
            <a:r>
              <a:rPr lang="es" sz="3100" b="1" baseline="-25000"/>
              <a:t> (55 - 61)</a:t>
            </a:r>
            <a:endParaRPr sz="3100" b="1" baseline="-25000"/>
          </a:p>
          <a:p>
            <a:pPr marL="914400" lvl="1" indent="-425450" algn="l" rtl="0">
              <a:spcBef>
                <a:spcPts val="0"/>
              </a:spcBef>
              <a:spcAft>
                <a:spcPts val="0"/>
              </a:spcAft>
              <a:buSzPts val="3100"/>
              <a:buChar char="○"/>
            </a:pPr>
            <a:r>
              <a:rPr lang="es" sz="3100" baseline="-25000"/>
              <a:t>Definición de pantallas (Figma) (56 - 59)</a:t>
            </a:r>
            <a:endParaRPr sz="3100" baseline="-25000"/>
          </a:p>
          <a:p>
            <a:pPr marL="914400" lvl="1" indent="-425450" algn="l" rtl="0">
              <a:spcBef>
                <a:spcPts val="0"/>
              </a:spcBef>
              <a:spcAft>
                <a:spcPts val="0"/>
              </a:spcAft>
              <a:buSzPts val="3100"/>
              <a:buChar char="○"/>
            </a:pPr>
            <a:r>
              <a:rPr lang="es" sz="3100" baseline="-25000"/>
              <a:t>Mapa de navegación (60 - 61)</a:t>
            </a:r>
            <a:endParaRPr sz="3100" baseline="-25000"/>
          </a:p>
          <a:p>
            <a:pPr marL="457200" lvl="0" indent="-425450" algn="l" rtl="0">
              <a:spcBef>
                <a:spcPts val="0"/>
              </a:spcBef>
              <a:spcAft>
                <a:spcPts val="0"/>
              </a:spcAft>
              <a:buSzPts val="3100"/>
              <a:buChar char="●"/>
            </a:pPr>
            <a:r>
              <a:rPr lang="es" sz="3100" b="1" baseline="-25000">
                <a:uFill>
                  <a:noFill/>
                </a:uFill>
                <a:hlinkClick r:id="rId4" action="ppaction://hlinksldjump"/>
              </a:rPr>
              <a:t>Desarrollo del proyecto del sistema</a:t>
            </a:r>
            <a:r>
              <a:rPr lang="es" sz="3100" b="1" baseline="-25000"/>
              <a:t> (62 - 66)</a:t>
            </a:r>
            <a:endParaRPr sz="3100" b="1" baseline="-25000"/>
          </a:p>
          <a:p>
            <a:pPr marL="914400" lvl="1" indent="-425450" algn="l" rtl="0">
              <a:spcBef>
                <a:spcPts val="0"/>
              </a:spcBef>
              <a:spcAft>
                <a:spcPts val="0"/>
              </a:spcAft>
              <a:buSzPts val="3100"/>
              <a:buChar char="○"/>
            </a:pPr>
            <a:r>
              <a:rPr lang="es" sz="3100" baseline="-25000"/>
              <a:t>Fase 1: Funcionalidades a desarrollar y plan de pruebas (63 - 65)</a:t>
            </a:r>
            <a:endParaRPr sz="3100" baseline="-25000"/>
          </a:p>
          <a:p>
            <a:pPr marL="914400" lvl="1" indent="-425450" algn="l" rtl="0">
              <a:spcBef>
                <a:spcPts val="0"/>
              </a:spcBef>
              <a:spcAft>
                <a:spcPts val="0"/>
              </a:spcAft>
              <a:buSzPts val="3100"/>
              <a:buChar char="○"/>
            </a:pPr>
            <a:r>
              <a:rPr lang="es" sz="3100" baseline="-25000"/>
              <a:t>Fase N: Funcionalidades a desarrollar y plan de pruebas (66 - 67)</a:t>
            </a:r>
            <a:endParaRPr sz="3100" baseline="-25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7"/>
          <p:cNvSpPr txBox="1">
            <a:spLocks noGrp="1"/>
          </p:cNvSpPr>
          <p:nvPr>
            <p:ph type="title"/>
          </p:nvPr>
        </p:nvSpPr>
        <p:spPr>
          <a:xfrm>
            <a:off x="727650" y="5785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Índice</a:t>
            </a:r>
            <a:endParaRPr/>
          </a:p>
        </p:txBody>
      </p:sp>
      <p:sp>
        <p:nvSpPr>
          <p:cNvPr id="160" name="Google Shape;160;p17"/>
          <p:cNvSpPr txBox="1">
            <a:spLocks noGrp="1"/>
          </p:cNvSpPr>
          <p:nvPr>
            <p:ph type="body" idx="1"/>
          </p:nvPr>
        </p:nvSpPr>
        <p:spPr>
          <a:xfrm>
            <a:off x="311700" y="1285875"/>
            <a:ext cx="8520600" cy="35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" sz="2800" b="1" baseline="-25000">
                <a:uFill>
                  <a:noFill/>
                </a:uFill>
                <a:hlinkClick r:id="rId3" action="ppaction://hlinksldjump"/>
              </a:rPr>
              <a:t>Información para el cliente</a:t>
            </a:r>
            <a:r>
              <a:rPr lang="es" sz="2800" b="1" baseline="-25000"/>
              <a:t> (68 - 76)</a:t>
            </a:r>
            <a:endParaRPr sz="2800" b="1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Requisitos físicos y de hardware (69)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Requisitos software (70)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Manual de instalación, configuración y administración (71 - 73)</a:t>
            </a:r>
            <a:endParaRPr sz="2800" baseline="-25000"/>
          </a:p>
          <a:p>
            <a:pPr marL="914400" lvl="1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s" sz="2800" baseline="-25000"/>
              <a:t>Manual de usuario (74 - 76)</a:t>
            </a:r>
            <a:endParaRPr sz="2800" baseline="-25000"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" sz="2800" b="1" baseline="-25000">
                <a:uFill>
                  <a:noFill/>
                </a:uFill>
                <a:hlinkClick r:id="rId4" action="ppaction://hlinksldjump"/>
              </a:rPr>
              <a:t>Bibliografía y fuentes de información</a:t>
            </a:r>
            <a:r>
              <a:rPr lang="es" sz="2800" b="1" baseline="-25000"/>
              <a:t> (77)</a:t>
            </a:r>
            <a:endParaRPr sz="3100" b="1" baseline="-25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Introducción</a:t>
            </a:r>
            <a:endParaRPr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s"/>
              <a:t>Un software para crear y gestionar listas de la compra, tanto individuales como compartidas. Permite añadir productos, incluir observaciones, marcar compras completadas, registrar el precio total y dividir automáticamente el gasto entre los usuarios. En Android, los productos también pueden añadirse mediante código de barras para agilizar la captura de información.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Plan de viabilidad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>
            <a:spLocks noGrp="1"/>
          </p:cNvSpPr>
          <p:nvPr>
            <p:ph type="title"/>
          </p:nvPr>
        </p:nvSpPr>
        <p:spPr>
          <a:xfrm>
            <a:off x="766825" y="5934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es" sz="2500"/>
              <a:t>Necesidades actuales del mercado</a:t>
            </a:r>
            <a:endParaRPr sz="2500"/>
          </a:p>
        </p:txBody>
      </p:sp>
      <p:sp>
        <p:nvSpPr>
          <p:cNvPr id="177" name="Google Shape;177;p20"/>
          <p:cNvSpPr txBox="1">
            <a:spLocks noGrp="1"/>
          </p:cNvSpPr>
          <p:nvPr>
            <p:ph type="body" idx="1"/>
          </p:nvPr>
        </p:nvSpPr>
        <p:spPr>
          <a:xfrm>
            <a:off x="729450" y="1420450"/>
            <a:ext cx="7688700" cy="319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65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Organización sencilla y rápida de las compras.</a:t>
            </a:r>
            <a:br>
              <a:rPr lang="es" sz="1700"/>
            </a:b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Colaboración entre varios usuarios en tiempo real.</a:t>
            </a:r>
            <a:br>
              <a:rPr lang="es" sz="1700"/>
            </a:b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Identificación clara de quién añade o compra cada producto.</a:t>
            </a:r>
            <a:br>
              <a:rPr lang="es" sz="1700"/>
            </a:b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Control de gastos compartidos, algo poco explotado por la competencia.</a:t>
            </a:r>
            <a:br>
              <a:rPr lang="es" sz="1700"/>
            </a:b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" sz="1700"/>
              <a:t>Sincronización multiplataforma (móvil y web).</a:t>
            </a:r>
            <a:endParaRPr sz="17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1"/>
          <p:cNvSpPr txBox="1">
            <a:spLocks noGrp="1"/>
          </p:cNvSpPr>
          <p:nvPr>
            <p:ph type="title"/>
          </p:nvPr>
        </p:nvSpPr>
        <p:spPr>
          <a:xfrm>
            <a:off x="727650" y="5785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</a:t>
            </a:r>
            <a:endParaRPr/>
          </a:p>
        </p:txBody>
      </p:sp>
      <p:sp>
        <p:nvSpPr>
          <p:cNvPr id="183" name="Google Shape;183;p21"/>
          <p:cNvSpPr txBox="1">
            <a:spLocks noGrp="1"/>
          </p:cNvSpPr>
          <p:nvPr>
            <p:ph type="body" idx="1"/>
          </p:nvPr>
        </p:nvSpPr>
        <p:spPr>
          <a:xfrm>
            <a:off x="727650" y="1264000"/>
            <a:ext cx="7688700" cy="327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4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/>
              <a:t>Keep</a:t>
            </a:r>
            <a:endParaRPr sz="48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3957" b="1"/>
              <a:t>Ventajas</a:t>
            </a:r>
            <a:endParaRPr sz="3957" b="1"/>
          </a:p>
          <a:p>
            <a:pPr marL="457200" lvl="0" indent="-347973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Sincronización con cuenta Google</a:t>
            </a:r>
            <a:endParaRPr sz="3957"/>
          </a:p>
          <a:p>
            <a:pPr marL="457200" lvl="0" indent="-347973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Integración con Google Assistant</a:t>
            </a:r>
            <a:endParaRPr sz="3957"/>
          </a:p>
          <a:p>
            <a:pPr marL="457200" lvl="0" indent="-347973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Recordatorios geolocalizados</a:t>
            </a:r>
            <a:endParaRPr sz="3957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3957" b="1"/>
              <a:t>Desventajas</a:t>
            </a:r>
            <a:endParaRPr sz="3957" b="1"/>
          </a:p>
          <a:p>
            <a:pPr marL="457200" lvl="0" indent="-347973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No está pensada para listas de la compras</a:t>
            </a:r>
            <a:endParaRPr sz="3957"/>
          </a:p>
          <a:p>
            <a:pPr marL="457200" lvl="0" indent="-347973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3957"/>
              <a:t>Más orientada a notas rápidas</a:t>
            </a:r>
            <a:endParaRPr sz="3957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2"/>
          <p:cNvSpPr txBox="1">
            <a:spLocks noGrp="1"/>
          </p:cNvSpPr>
          <p:nvPr>
            <p:ph type="title"/>
          </p:nvPr>
        </p:nvSpPr>
        <p:spPr>
          <a:xfrm>
            <a:off x="727650" y="6308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</a:t>
            </a:r>
            <a:endParaRPr/>
          </a:p>
        </p:txBody>
      </p:sp>
      <p:sp>
        <p:nvSpPr>
          <p:cNvPr id="189" name="Google Shape;189;p22"/>
          <p:cNvSpPr txBox="1">
            <a:spLocks noGrp="1"/>
          </p:cNvSpPr>
          <p:nvPr>
            <p:ph type="body" idx="1"/>
          </p:nvPr>
        </p:nvSpPr>
        <p:spPr>
          <a:xfrm>
            <a:off x="727650" y="1249050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0"/>
              <a:t>Listonic</a:t>
            </a:r>
            <a:endParaRPr sz="12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7200" b="1"/>
              <a:t>Ventajas</a:t>
            </a:r>
            <a:endParaRPr sz="7200" b="1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Sugerencias automáticas al escribir</a:t>
            </a:r>
            <a:endParaRPr sz="72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Soporte en múltiples idiomas</a:t>
            </a:r>
            <a:endParaRPr sz="72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Añadir precios a los productos</a:t>
            </a:r>
            <a:endParaRPr sz="72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7200" b="1"/>
              <a:t>Desventajas</a:t>
            </a:r>
            <a:endParaRPr sz="7200" b="1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No realiza cálculo colaborativo</a:t>
            </a:r>
            <a:endParaRPr sz="72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7200"/>
              <a:t>No se refleja quien añadió/compró productos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 txBox="1">
            <a:spLocks noGrp="1"/>
          </p:cNvSpPr>
          <p:nvPr>
            <p:ph type="title"/>
          </p:nvPr>
        </p:nvSpPr>
        <p:spPr>
          <a:xfrm>
            <a:off x="729450" y="5934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</a:t>
            </a:r>
            <a:endParaRPr/>
          </a:p>
        </p:txBody>
      </p:sp>
      <p:sp>
        <p:nvSpPr>
          <p:cNvPr id="195" name="Google Shape;195;p23"/>
          <p:cNvSpPr txBox="1">
            <a:spLocks noGrp="1"/>
          </p:cNvSpPr>
          <p:nvPr>
            <p:ph type="body" idx="1"/>
          </p:nvPr>
        </p:nvSpPr>
        <p:spPr>
          <a:xfrm>
            <a:off x="727650" y="1256525"/>
            <a:ext cx="7688700" cy="358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3000"/>
              <a:t>Out of milk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/>
              <a:t>Ventajas </a:t>
            </a:r>
            <a:endParaRPr sz="180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Funciones como inventario de despensa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Lista de tareas</a:t>
            </a:r>
            <a:endParaRPr sz="18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800"/>
              <a:t>Desventajas</a:t>
            </a:r>
            <a:endParaRPr sz="180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Interfaz “antigua”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No tiene sincronización en tiempo real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 sz="1800"/>
              <a:t>No tiene función de división de gastos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4"/>
          <p:cNvSpPr txBox="1">
            <a:spLocks noGrp="1"/>
          </p:cNvSpPr>
          <p:nvPr>
            <p:ph type="title"/>
          </p:nvPr>
        </p:nvSpPr>
        <p:spPr>
          <a:xfrm>
            <a:off x="729450" y="6159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Competencia</a:t>
            </a:r>
            <a:endParaRPr/>
          </a:p>
        </p:txBody>
      </p:sp>
      <p:sp>
        <p:nvSpPr>
          <p:cNvPr id="201" name="Google Shape;201;p24"/>
          <p:cNvSpPr txBox="1">
            <a:spLocks noGrp="1"/>
          </p:cNvSpPr>
          <p:nvPr>
            <p:ph type="body" idx="1"/>
          </p:nvPr>
        </p:nvSpPr>
        <p:spPr>
          <a:xfrm>
            <a:off x="729450" y="1264000"/>
            <a:ext cx="7688700" cy="338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3000"/>
              <a:t>Bring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900" b="1"/>
              <a:t>Ventajas</a:t>
            </a:r>
            <a:endParaRPr sz="1900" b="1"/>
          </a:p>
          <a:p>
            <a:pPr marL="457200" lvl="0" indent="-349250" algn="l" rtl="0"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s" sz="1900"/>
              <a:t>Diseño organizado y atractivo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s" sz="1900"/>
              <a:t>Categorías que hacen atractiva la organización</a:t>
            </a:r>
            <a:endParaRPr sz="19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900" b="1"/>
              <a:t>Desventajas</a:t>
            </a:r>
            <a:endParaRPr sz="1900" b="1"/>
          </a:p>
          <a:p>
            <a:pPr marL="457200" lvl="0" indent="-349250" algn="l" rtl="0"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s" sz="1900"/>
              <a:t>Incluye publicidad constante</a:t>
            </a:r>
            <a:endParaRPr sz="1900"/>
          </a:p>
          <a:p>
            <a:pPr marL="457200" lvl="0" indent="-349250" algn="l" rtl="0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s" sz="1900"/>
              <a:t>No identifica quien añadió/compró los productos</a:t>
            </a:r>
            <a:endParaRPr sz="1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5"/>
          <p:cNvSpPr txBox="1">
            <a:spLocks noGrp="1"/>
          </p:cNvSpPr>
          <p:nvPr>
            <p:ph type="title"/>
          </p:nvPr>
        </p:nvSpPr>
        <p:spPr>
          <a:xfrm>
            <a:off x="727650" y="5934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es" sz="2500"/>
              <a:t>Valor diferencial de la app</a:t>
            </a:r>
            <a:endParaRPr sz="2500"/>
          </a:p>
        </p:txBody>
      </p:sp>
      <p:sp>
        <p:nvSpPr>
          <p:cNvPr id="207" name="Google Shape;207;p25"/>
          <p:cNvSpPr txBox="1">
            <a:spLocks noGrp="1"/>
          </p:cNvSpPr>
          <p:nvPr>
            <p:ph type="body" idx="1"/>
          </p:nvPr>
        </p:nvSpPr>
        <p:spPr>
          <a:xfrm>
            <a:off x="729450" y="1338200"/>
            <a:ext cx="7688700" cy="345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457200" lvl="0" indent="-341571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Escaneo de productos por código de barras en Android.</a:t>
            </a:r>
            <a:br>
              <a:rPr lang="es" sz="1779"/>
            </a:br>
            <a:endParaRPr sz="1779"/>
          </a:p>
          <a:p>
            <a:pPr marL="457200" lvl="0" indent="-34157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Cálculo automático de cuánto paga cada usuario, basado en el precio total de la lista.</a:t>
            </a:r>
            <a:br>
              <a:rPr lang="es" sz="1779"/>
            </a:br>
            <a:endParaRPr sz="1779"/>
          </a:p>
          <a:p>
            <a:pPr marL="457200" lvl="0" indent="-34157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Registro de qué usuario añade y quién compra cada producto.</a:t>
            </a:r>
            <a:br>
              <a:rPr lang="es" sz="1779"/>
            </a:br>
            <a:endParaRPr sz="1779"/>
          </a:p>
          <a:p>
            <a:pPr marL="457200" lvl="0" indent="-34157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Sincronización inmediata entre Android y Web.</a:t>
            </a:r>
            <a:br>
              <a:rPr lang="es" sz="1779"/>
            </a:br>
            <a:endParaRPr sz="1779"/>
          </a:p>
          <a:p>
            <a:pPr marL="457200" lvl="0" indent="-34157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79"/>
              <a:buChar char="●"/>
            </a:pPr>
            <a:r>
              <a:rPr lang="es" sz="1779"/>
              <a:t>Coste de desarrollo y mantenimiento mínimo, lo que permite crecer sin grandes inversiones iniciales.</a:t>
            </a:r>
            <a:endParaRPr sz="1779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6"/>
          <p:cNvSpPr txBox="1">
            <a:spLocks noGrp="1"/>
          </p:cNvSpPr>
          <p:nvPr>
            <p:ph type="title"/>
          </p:nvPr>
        </p:nvSpPr>
        <p:spPr>
          <a:xfrm>
            <a:off x="729450" y="5934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es" sz="2500"/>
              <a:t>Plan de inversión</a:t>
            </a:r>
            <a:endParaRPr sz="2500"/>
          </a:p>
        </p:txBody>
      </p:sp>
      <p:sp>
        <p:nvSpPr>
          <p:cNvPr id="213" name="Google Shape;213;p26"/>
          <p:cNvSpPr txBox="1">
            <a:spLocks noGrp="1"/>
          </p:cNvSpPr>
          <p:nvPr>
            <p:ph type="body" idx="1"/>
          </p:nvPr>
        </p:nvSpPr>
        <p:spPr>
          <a:xfrm>
            <a:off x="729450" y="1383075"/>
            <a:ext cx="7688700" cy="33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 b="1"/>
              <a:t>Costes fijos reales</a:t>
            </a:r>
            <a:endParaRPr sz="1500" b="1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b="1"/>
              <a:t>Firestore (Firebase)</a:t>
            </a:r>
            <a:r>
              <a:rPr lang="es"/>
              <a:t> → gratuito (plan free).</a:t>
            </a:r>
            <a:br>
              <a:rPr lang="es"/>
            </a:b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b="1"/>
              <a:t>Hosting (Vercel)</a:t>
            </a:r>
            <a:r>
              <a:rPr lang="es"/>
              <a:t> → gratuito.</a:t>
            </a:r>
            <a:br>
              <a:rPr lang="es"/>
            </a:b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b="1"/>
              <a:t>Dominio web</a:t>
            </a:r>
            <a:r>
              <a:rPr lang="es"/>
              <a:t> → 12 €/año.</a:t>
            </a:r>
            <a:br>
              <a:rPr lang="es"/>
            </a:b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b="1"/>
              <a:t>Marketing inicial</a:t>
            </a:r>
            <a:r>
              <a:rPr lang="es"/>
              <a:t> → redes sociales y ASO (estimación: 50–100 € iniciales)(opcional).</a:t>
            </a:r>
            <a:br>
              <a:rPr lang="es"/>
            </a:b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/>
              <a:t>Inversión inicial real</a:t>
            </a:r>
            <a:r>
              <a:rPr lang="es"/>
              <a:t>: aprox. 12-110€ el primer año, sumando el dominio y algo de publicidad básica.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7"/>
          <p:cNvSpPr txBox="1">
            <a:spLocks noGrp="1"/>
          </p:cNvSpPr>
          <p:nvPr>
            <p:ph type="title"/>
          </p:nvPr>
        </p:nvSpPr>
        <p:spPr>
          <a:xfrm>
            <a:off x="727650" y="5934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4000"/>
              <a:buFont typeface="Arial"/>
              <a:buNone/>
            </a:pPr>
            <a:r>
              <a:rPr lang="es" sz="2500"/>
              <a:t>Umbral de rentabilidad</a:t>
            </a:r>
            <a:endParaRPr sz="2500"/>
          </a:p>
        </p:txBody>
      </p:sp>
      <p:sp>
        <p:nvSpPr>
          <p:cNvPr id="219" name="Google Shape;219;p27"/>
          <p:cNvSpPr txBox="1">
            <a:spLocks noGrp="1"/>
          </p:cNvSpPr>
          <p:nvPr>
            <p:ph type="body" idx="1"/>
          </p:nvPr>
        </p:nvSpPr>
        <p:spPr>
          <a:xfrm>
            <a:off x="311700" y="1278400"/>
            <a:ext cx="85206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8015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8"/>
              <a:buChar char="●"/>
            </a:pPr>
            <a:r>
              <a:rPr lang="es" sz="1408" b="1"/>
              <a:t>Ingresos previstos</a:t>
            </a:r>
            <a:r>
              <a:rPr lang="es" sz="1408"/>
              <a:t>:</a:t>
            </a:r>
            <a:br>
              <a:rPr lang="es" sz="1408"/>
            </a:br>
            <a:endParaRPr sz="1408"/>
          </a:p>
          <a:p>
            <a:pPr marL="914400" lvl="1" indent="-31801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○"/>
            </a:pPr>
            <a:r>
              <a:rPr lang="es" sz="1408" b="1"/>
              <a:t>Publicidad</a:t>
            </a:r>
            <a:r>
              <a:rPr lang="es" sz="1408"/>
              <a:t>: ingresos futuros mediante anuncios integrados.</a:t>
            </a:r>
            <a:br>
              <a:rPr lang="es" sz="1408"/>
            </a:br>
            <a:endParaRPr sz="1408"/>
          </a:p>
          <a:p>
            <a:pPr marL="914400" lvl="1" indent="-31801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○"/>
            </a:pPr>
            <a:r>
              <a:rPr lang="es" sz="1408" b="1"/>
              <a:t>Suscripción premium</a:t>
            </a:r>
            <a:r>
              <a:rPr lang="es" sz="1408"/>
              <a:t>: 2,99 €/mes con funciones exclusivas (listas ilimitadas, eliminar anuncios, funciones premium).</a:t>
            </a:r>
            <a:br>
              <a:rPr lang="es" sz="1408"/>
            </a:br>
            <a:endParaRPr sz="1408"/>
          </a:p>
          <a:p>
            <a:pPr marL="457200" lvl="0" indent="-31801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●"/>
            </a:pPr>
            <a:r>
              <a:rPr lang="es" sz="1408" b="1"/>
              <a:t>Ejemplo de rentabilidad mínima</a:t>
            </a:r>
            <a:r>
              <a:rPr lang="es" sz="1408"/>
              <a:t>:</a:t>
            </a:r>
            <a:br>
              <a:rPr lang="es" sz="1408"/>
            </a:br>
            <a:endParaRPr sz="1408"/>
          </a:p>
          <a:p>
            <a:pPr marL="914400" lvl="1" indent="-31801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○"/>
            </a:pPr>
            <a:r>
              <a:rPr lang="es" sz="1408"/>
              <a:t>Con </a:t>
            </a:r>
            <a:r>
              <a:rPr lang="es" sz="1408" b="1"/>
              <a:t>5 usuarios premium</a:t>
            </a:r>
            <a:r>
              <a:rPr lang="es" sz="1408"/>
              <a:t> (2,99 €/mes), ya se generan </a:t>
            </a:r>
            <a:r>
              <a:rPr lang="es" sz="1408" b="1"/>
              <a:t>15 €/mes</a:t>
            </a:r>
            <a:r>
              <a:rPr lang="es" sz="1408"/>
              <a:t> → </a:t>
            </a:r>
            <a:r>
              <a:rPr lang="es" sz="1408" b="1"/>
              <a:t>180 €/año</a:t>
            </a:r>
            <a:r>
              <a:rPr lang="es" sz="1408"/>
              <a:t>, suficiente para cubrir el dominio y marketing básico.</a:t>
            </a:r>
            <a:br>
              <a:rPr lang="es" sz="1408"/>
            </a:br>
            <a:endParaRPr sz="1408"/>
          </a:p>
          <a:p>
            <a:pPr marL="914400" lvl="1" indent="-31801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8"/>
              <a:buChar char="○"/>
            </a:pPr>
            <a:r>
              <a:rPr lang="es" sz="1408"/>
              <a:t>El resto de ingresos, como publicidad, será beneficio adicional.</a:t>
            </a:r>
            <a:br>
              <a:rPr lang="es" sz="1408"/>
            </a:br>
            <a:endParaRPr sz="1408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8"/>
              <a:t>Esto significa que con menos de 10 usuarios premium al año se cubren todos los costes, lo que hace al proyecto viable incluso con una base pequeña de usuarios.</a:t>
            </a:r>
            <a:endParaRPr sz="1408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8"/>
          <p:cNvSpPr txBox="1">
            <a:spLocks noGrp="1"/>
          </p:cNvSpPr>
          <p:nvPr>
            <p:ph type="title"/>
          </p:nvPr>
        </p:nvSpPr>
        <p:spPr>
          <a:xfrm>
            <a:off x="727650" y="6084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es" sz="2500"/>
              <a:t>Plan de marketing</a:t>
            </a:r>
            <a:endParaRPr sz="2500"/>
          </a:p>
        </p:txBody>
      </p:sp>
      <p:sp>
        <p:nvSpPr>
          <p:cNvPr id="225" name="Google Shape;225;p28"/>
          <p:cNvSpPr txBox="1">
            <a:spLocks noGrp="1"/>
          </p:cNvSpPr>
          <p:nvPr>
            <p:ph type="body" idx="1"/>
          </p:nvPr>
        </p:nvSpPr>
        <p:spPr>
          <a:xfrm>
            <a:off x="311700" y="1285875"/>
            <a:ext cx="8520600" cy="37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s" sz="1200" b="1"/>
              <a:t>Estrategia</a:t>
            </a:r>
            <a:endParaRPr sz="1200" b="1"/>
          </a:p>
          <a:p>
            <a:pPr marL="457200" lvl="0" indent="-2921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 b="1"/>
              <a:t>Fase inicial</a:t>
            </a:r>
            <a:r>
              <a:rPr lang="es" sz="1000"/>
              <a:t>: difusión en redes sociales (Instagram, TikTok) con vídeos mostrando cómo dividir gastos fácilmente o cómo organizar compras en grupo.</a:t>
            </a:r>
            <a:endParaRPr sz="1000"/>
          </a:p>
          <a:p>
            <a:pPr marL="457200" lvl="0" indent="-292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 b="1"/>
              <a:t>Versión gratuita atractiva</a:t>
            </a:r>
            <a:r>
              <a:rPr lang="es" sz="1000"/>
              <a:t>: ofrecer todas las funciones básicas para atraer usuarios y después destacar ventajas premium.</a:t>
            </a:r>
            <a:endParaRPr sz="1000"/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s" sz="1200" b="1"/>
              <a:t>Público objetivo</a:t>
            </a:r>
            <a:endParaRPr sz="1200" b="1"/>
          </a:p>
          <a:p>
            <a:pPr marL="457200" lvl="0" indent="-2921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Familias que organizan la compra semanal.</a:t>
            </a:r>
            <a:endParaRPr sz="1000"/>
          </a:p>
          <a:p>
            <a:pPr marL="457200" lvl="0" indent="-292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Compañeros de piso que comparten gastos.</a:t>
            </a:r>
            <a:endParaRPr sz="1000"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Amigos que organizan fiestas, barbacoas o viajes.</a:t>
            </a:r>
            <a:endParaRPr sz="1000"/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s" sz="1200" b="1"/>
              <a:t>Plan a futuro</a:t>
            </a:r>
            <a:endParaRPr sz="1200" b="1"/>
          </a:p>
          <a:p>
            <a:pPr marL="457200" lvl="0" indent="-2921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Incluir publicidad ligera en la versión gratuita (modelo Freemium).</a:t>
            </a:r>
            <a:endParaRPr sz="1000"/>
          </a:p>
          <a:p>
            <a:pPr marL="457200" lvl="0" indent="-2921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Promociones de prueba del plan premium para atraer usuarios.</a:t>
            </a:r>
            <a:endParaRPr sz="1000"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</a:pPr>
            <a:r>
              <a:rPr lang="es" sz="1000"/>
              <a:t>Generar informes anónimos de tendencias de compra</a:t>
            </a:r>
            <a:endParaRPr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9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del sistema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0"/>
          <p:cNvSpPr txBox="1">
            <a:spLocks noGrp="1"/>
          </p:cNvSpPr>
          <p:nvPr>
            <p:ph type="title"/>
          </p:nvPr>
        </p:nvSpPr>
        <p:spPr>
          <a:xfrm>
            <a:off x="727650" y="5860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body" idx="1"/>
          </p:nvPr>
        </p:nvSpPr>
        <p:spPr>
          <a:xfrm>
            <a:off x="729450" y="1412975"/>
            <a:ext cx="7688700" cy="29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000" b="1"/>
              <a:t>Usuarios</a:t>
            </a:r>
            <a:r>
              <a:rPr lang="es" sz="2000"/>
              <a:t>:</a:t>
            </a:r>
            <a:endParaRPr sz="2000"/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Correo electrónico (para registro, login y compartición de listas).</a:t>
            </a:r>
            <a:br>
              <a:rPr lang="es" sz="2000"/>
            </a:b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Contraseña (para autenticación).</a:t>
            </a:r>
            <a:endParaRPr sz="20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1"/>
          <p:cNvSpPr txBox="1">
            <a:spLocks noGrp="1"/>
          </p:cNvSpPr>
          <p:nvPr>
            <p:ph type="title"/>
          </p:nvPr>
        </p:nvSpPr>
        <p:spPr>
          <a:xfrm>
            <a:off x="729450" y="5785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42" name="Google Shape;242;p31"/>
          <p:cNvSpPr txBox="1">
            <a:spLocks noGrp="1"/>
          </p:cNvSpPr>
          <p:nvPr>
            <p:ph type="body" idx="1"/>
          </p:nvPr>
        </p:nvSpPr>
        <p:spPr>
          <a:xfrm>
            <a:off x="729450" y="1323250"/>
            <a:ext cx="7688700" cy="301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800" b="1"/>
              <a:t>Listas de la compra</a:t>
            </a:r>
            <a:r>
              <a:rPr lang="es" sz="1800"/>
              <a:t>:</a:t>
            </a:r>
            <a:endParaRPr sz="180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s" sz="1800"/>
              <a:t>Identificador único de la lista.</a:t>
            </a:r>
            <a:br>
              <a:rPr lang="es" sz="1800"/>
            </a:b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s" sz="1800"/>
              <a:t>Nombre de la lista.</a:t>
            </a:r>
            <a:br>
              <a:rPr lang="es" sz="1800"/>
            </a:b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s" sz="1800"/>
              <a:t>Estado (individual o compartida).</a:t>
            </a:r>
            <a:br>
              <a:rPr lang="es" sz="1800"/>
            </a:b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s" sz="1800"/>
              <a:t>Usuarios vinculados (propietario e invitados).</a:t>
            </a:r>
            <a:endParaRPr sz="18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7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2"/>
          <p:cNvSpPr txBox="1">
            <a:spLocks noGrp="1"/>
          </p:cNvSpPr>
          <p:nvPr>
            <p:ph type="title"/>
          </p:nvPr>
        </p:nvSpPr>
        <p:spPr>
          <a:xfrm>
            <a:off x="2651550" y="563575"/>
            <a:ext cx="38445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48" name="Google Shape;248;p32"/>
          <p:cNvSpPr txBox="1">
            <a:spLocks noGrp="1"/>
          </p:cNvSpPr>
          <p:nvPr>
            <p:ph type="body" idx="1"/>
          </p:nvPr>
        </p:nvSpPr>
        <p:spPr>
          <a:xfrm>
            <a:off x="729450" y="1323250"/>
            <a:ext cx="7688700" cy="301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 b="1"/>
              <a:t>Productos</a:t>
            </a:r>
            <a:r>
              <a:rPr lang="es" sz="1500"/>
              <a:t>:</a:t>
            </a:r>
            <a:endParaRPr sz="1500"/>
          </a:p>
          <a:p>
            <a:pPr marL="457200" lvl="0" indent="-3238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Nombre del producto.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Marca y modelo (si se añade por código de barras).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Estado (pendiente o comprado).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Usuario que lo añadió.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/>
              <a:t>Usuario que lo compró (si aplica).</a:t>
            </a:r>
            <a:endParaRPr sz="15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3"/>
          <p:cNvSpPr txBox="1">
            <a:spLocks noGrp="1"/>
          </p:cNvSpPr>
          <p:nvPr>
            <p:ph type="title"/>
          </p:nvPr>
        </p:nvSpPr>
        <p:spPr>
          <a:xfrm>
            <a:off x="2540550" y="513375"/>
            <a:ext cx="4062900" cy="51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54" name="Google Shape;254;p33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600" b="1"/>
              <a:t>Observaciones</a:t>
            </a:r>
            <a:r>
              <a:rPr lang="es" sz="1600"/>
              <a:t>:</a:t>
            </a:r>
            <a:endParaRPr sz="1600"/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s" sz="1600"/>
              <a:t>Texto de la nota.</a:t>
            </a:r>
            <a:br>
              <a:rPr lang="es" sz="1600"/>
            </a:b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s" sz="1600"/>
              <a:t>Autor de la observación.</a:t>
            </a:r>
            <a:br>
              <a:rPr lang="es" sz="1600"/>
            </a:b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s" sz="1600"/>
              <a:t>Fecha de creación/modificación.</a:t>
            </a:r>
            <a:endParaRPr sz="16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4"/>
          <p:cNvSpPr txBox="1">
            <a:spLocks noGrp="1"/>
          </p:cNvSpPr>
          <p:nvPr>
            <p:ph type="title"/>
          </p:nvPr>
        </p:nvSpPr>
        <p:spPr>
          <a:xfrm>
            <a:off x="2540550" y="513375"/>
            <a:ext cx="4062900" cy="51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60" name="Google Shape;260;p3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334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600" b="1"/>
              <a:t>Pagos</a:t>
            </a:r>
            <a:r>
              <a:rPr lang="es" sz="1600"/>
              <a:t>:</a:t>
            </a:r>
            <a:endParaRPr sz="1600"/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ID de la lista.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Nombre de la lista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Participantes.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Pagos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Total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Última actualización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s" sz="1600"/>
              <a:t>Quien actualizó</a:t>
            </a:r>
            <a:endParaRPr sz="1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de información</a:t>
            </a:r>
            <a:endParaRPr/>
          </a:p>
        </p:txBody>
      </p:sp>
      <p:sp>
        <p:nvSpPr>
          <p:cNvPr id="266" name="Google Shape;266;p3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600" b="1"/>
              <a:t>Precio total de la lista</a:t>
            </a:r>
            <a:r>
              <a:rPr lang="es" sz="1600"/>
              <a:t>:</a:t>
            </a:r>
            <a:endParaRPr sz="1600"/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s" sz="1600"/>
              <a:t>Base para el cálculo del reparto de gastos en listas compartidas.</a:t>
            </a:r>
            <a:endParaRPr sz="160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72" name="Google Shape;272;p3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sz="2000" b="1"/>
              <a:t>Gestión de usuarios</a:t>
            </a:r>
            <a:endParaRPr sz="2000" b="1"/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Registrar un nuevo usuario mediante correo y contraseña.</a:t>
            </a:r>
            <a:br>
              <a:rPr lang="es" sz="2000"/>
            </a:b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Iniciar sesión con credenciales válidas.</a:t>
            </a:r>
            <a:br>
              <a:rPr lang="es" sz="2000"/>
            </a:b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Cerrar sesión.</a:t>
            </a:r>
            <a:endParaRPr sz="2000" b="1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78" name="Google Shape;278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6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852"/>
              <a:buNone/>
            </a:pPr>
            <a:r>
              <a:rPr lang="es" sz="1750" b="1"/>
              <a:t>Gestión de listas</a:t>
            </a:r>
            <a:endParaRPr sz="1750" b="1"/>
          </a:p>
          <a:p>
            <a:pPr marL="457200" lvl="0" indent="-339725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Crear una lista de compras.</a:t>
            </a:r>
            <a:br>
              <a:rPr lang="es" sz="1750"/>
            </a:br>
            <a:endParaRPr sz="1750"/>
          </a:p>
          <a:p>
            <a:pPr marL="457200" lvl="0" indent="-33972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Eliminar una lista (solo el propietario).</a:t>
            </a:r>
            <a:br>
              <a:rPr lang="es" sz="1750"/>
            </a:br>
            <a:endParaRPr sz="1750"/>
          </a:p>
          <a:p>
            <a:pPr marL="457200" lvl="0" indent="-33972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Compartir una lista mediante correo electrónico.</a:t>
            </a:r>
            <a:br>
              <a:rPr lang="es" sz="1750"/>
            </a:br>
            <a:endParaRPr sz="1750"/>
          </a:p>
          <a:p>
            <a:pPr marL="457200" lvl="0" indent="-33972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Dejar de compartir una lista (eliminar usuario invitado).</a:t>
            </a:r>
            <a:br>
              <a:rPr lang="es" sz="1750"/>
            </a:br>
            <a:endParaRPr sz="1750"/>
          </a:p>
          <a:p>
            <a:pPr marL="457200" lvl="0" indent="-33972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Ver listas propias y compartidas.</a:t>
            </a:r>
            <a:br>
              <a:rPr lang="es" sz="1750"/>
            </a:br>
            <a:endParaRPr sz="1750"/>
          </a:p>
          <a:p>
            <a:pPr marL="457200" lvl="0" indent="-33972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50"/>
              <a:buChar char="●"/>
            </a:pPr>
            <a:r>
              <a:rPr lang="es" sz="1750"/>
              <a:t>Diferenciar visualmente entre listas individuales y compartidas.</a:t>
            </a:r>
            <a:endParaRPr sz="1750" b="1"/>
          </a:p>
          <a:p>
            <a:pPr marL="45720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endParaRPr sz="1052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endParaRPr sz="1595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84" name="Google Shape;284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8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lang="es" sz="2050" b="1"/>
              <a:t>Gestión de productos</a:t>
            </a:r>
            <a:endParaRPr sz="2050" b="1"/>
          </a:p>
          <a:p>
            <a:pPr marL="457200" lvl="0" indent="-358775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Añadir productos manualmente.</a:t>
            </a:r>
            <a:br>
              <a:rPr lang="es" sz="2050"/>
            </a:br>
            <a:endParaRPr sz="2050"/>
          </a:p>
          <a:p>
            <a:pPr marL="457200" lvl="0" indent="-35877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Añadir productos mediante escaneo de código de barras (Android).</a:t>
            </a:r>
            <a:br>
              <a:rPr lang="es" sz="2050"/>
            </a:br>
            <a:endParaRPr sz="2050"/>
          </a:p>
          <a:p>
            <a:pPr marL="457200" lvl="0" indent="-35877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Eliminar productos.</a:t>
            </a:r>
            <a:br>
              <a:rPr lang="es" sz="2050"/>
            </a:br>
            <a:endParaRPr sz="2050"/>
          </a:p>
          <a:p>
            <a:pPr marL="457200" lvl="0" indent="-35877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Marcar productos como comprados.</a:t>
            </a:r>
            <a:br>
              <a:rPr lang="es" sz="2050"/>
            </a:br>
            <a:endParaRPr sz="2050"/>
          </a:p>
          <a:p>
            <a:pPr marL="457200" lvl="0" indent="-358775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50"/>
              <a:buChar char="●"/>
            </a:pPr>
            <a:r>
              <a:rPr lang="es" sz="2050"/>
              <a:t>Mostrar en listas compartidas quién añadió y quién compró cada producto.</a:t>
            </a:r>
            <a:endParaRPr sz="2050" b="1"/>
          </a:p>
          <a:p>
            <a:pPr marL="45720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endParaRPr sz="1217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endParaRPr sz="1865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9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90" name="Google Shape;290;p39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sz="2000" b="1"/>
              <a:t>Gestión de observaciones</a:t>
            </a:r>
            <a:endParaRPr sz="2000" b="1"/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Añadir observaciones a una lista.</a:t>
            </a:r>
            <a:br>
              <a:rPr lang="es" sz="2000"/>
            </a:b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Modificar observaciones existentes.</a:t>
            </a:r>
            <a:br>
              <a:rPr lang="es" sz="2000"/>
            </a:b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</a:pPr>
            <a:r>
              <a:rPr lang="es" sz="2000"/>
              <a:t>Eliminar observaciones.</a:t>
            </a:r>
            <a:endParaRPr sz="2000" b="1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296" name="Google Shape;296;p40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sz="2000" b="1"/>
              <a:t>Gestión económica</a:t>
            </a:r>
            <a:endParaRPr sz="2000" b="1"/>
          </a:p>
          <a:p>
            <a:pPr marL="457200" lvl="0" indent="-3556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2000"/>
              <a:buChar char="●"/>
            </a:pPr>
            <a:r>
              <a:rPr lang="es" sz="2000"/>
              <a:t>Calcular el precio total de la lista.</a:t>
            </a:r>
            <a:endParaRPr sz="2000"/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" sz="2000"/>
              <a:t>Calcular cuánto debe pagar cada usuario en listas compartidas.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" sz="2000"/>
              <a:t>Marcar quién pagó y quién no.</a:t>
            </a:r>
            <a:endParaRPr sz="2000"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1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Requisitos funcionales</a:t>
            </a:r>
            <a:endParaRPr/>
          </a:p>
        </p:txBody>
      </p:sp>
      <p:sp>
        <p:nvSpPr>
          <p:cNvPr id="302" name="Google Shape;302;p41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sz="2000" b="1"/>
              <a:t>Sincronización y plataforma</a:t>
            </a:r>
            <a:endParaRPr sz="2000" b="1"/>
          </a:p>
          <a:p>
            <a:pPr marL="457200" lvl="0" indent="-346075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2000"/>
              <a:t>Sincronización entre Android y Web.</a:t>
            </a:r>
            <a:br>
              <a:rPr lang="es" sz="2000"/>
            </a:br>
            <a:endParaRPr sz="2000"/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2000"/>
              <a:t>Acceso desde Android con todas las funciones (incluido escaneo) excepto eliminación de listas.</a:t>
            </a:r>
            <a:br>
              <a:rPr lang="es" sz="2000"/>
            </a:br>
            <a:endParaRPr sz="2000"/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2000"/>
              <a:t>Acceso desde Web con las mismas funciones además de eliminación de listas (excepto escaneo de código de barras).</a:t>
            </a:r>
            <a:endParaRPr sz="20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2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Casos de uso</a:t>
            </a:r>
            <a:endParaRPr/>
          </a:p>
        </p:txBody>
      </p:sp>
      <p:sp>
        <p:nvSpPr>
          <p:cNvPr id="308" name="Google Shape;308;p42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83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381" b="1"/>
              <a:t>CU-01 Crear lista</a:t>
            </a:r>
            <a:endParaRPr sz="1381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271" b="1"/>
              <a:t>Actor</a:t>
            </a:r>
            <a:r>
              <a:rPr lang="es" sz="1271"/>
              <a:t>: Usuario registrado (propietario).</a:t>
            </a:r>
            <a:br>
              <a:rPr lang="es" sz="1271"/>
            </a:br>
            <a:r>
              <a:rPr lang="es" sz="1271"/>
              <a:t> </a:t>
            </a:r>
            <a:r>
              <a:rPr lang="es" sz="1271" b="1"/>
              <a:t>Descripción</a:t>
            </a:r>
            <a:r>
              <a:rPr lang="es" sz="1271"/>
              <a:t>: El usuario crea una lista nueva, introduciendo un nombre identificativo.</a:t>
            </a:r>
            <a:endParaRPr sz="1271"/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381" b="1"/>
              <a:t>CU-02 Compartir lista</a:t>
            </a:r>
            <a:endParaRPr sz="1381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271" b="1"/>
              <a:t>Actor</a:t>
            </a:r>
            <a:r>
              <a:rPr lang="es" sz="1271"/>
              <a:t>: Usuario propietario.</a:t>
            </a:r>
            <a:br>
              <a:rPr lang="es" sz="1271"/>
            </a:br>
            <a:r>
              <a:rPr lang="es" sz="1271"/>
              <a:t> </a:t>
            </a:r>
            <a:r>
              <a:rPr lang="es" sz="1271" b="1"/>
              <a:t>Descripción</a:t>
            </a:r>
            <a:r>
              <a:rPr lang="es" sz="1271"/>
              <a:t>: El propietario introduce el correo de otro usuario y le otorga acceso a la lista.</a:t>
            </a:r>
            <a:endParaRPr sz="1271"/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381" b="1"/>
              <a:t>CU-03 Añadir producto manualmente</a:t>
            </a:r>
            <a:endParaRPr sz="1381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271" b="1"/>
              <a:t>Actor</a:t>
            </a:r>
            <a:r>
              <a:rPr lang="es" sz="1271"/>
              <a:t>: Propietario o invitado.</a:t>
            </a:r>
            <a:br>
              <a:rPr lang="es" sz="1271"/>
            </a:br>
            <a:r>
              <a:rPr lang="es" sz="1271"/>
              <a:t> </a:t>
            </a:r>
            <a:r>
              <a:rPr lang="es" sz="1271" b="1"/>
              <a:t>Descripción</a:t>
            </a:r>
            <a:r>
              <a:rPr lang="es" sz="1271"/>
              <a:t>: Se escribe el nombre de un producto y se añade a la lista seleccionada.</a:t>
            </a:r>
            <a:endParaRPr sz="1271"/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381" b="1"/>
              <a:t>CU-04 Añadir producto por código de barras</a:t>
            </a:r>
            <a:endParaRPr sz="1381" b="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lang="es" sz="1271" b="1"/>
              <a:t>Actor</a:t>
            </a:r>
            <a:r>
              <a:rPr lang="es" sz="1271"/>
              <a:t>: Propietario o invitado (solo en Android).</a:t>
            </a:r>
            <a:br>
              <a:rPr lang="es" sz="1271"/>
            </a:br>
            <a:r>
              <a:rPr lang="es" sz="1271"/>
              <a:t> </a:t>
            </a:r>
            <a:r>
              <a:rPr lang="es" sz="1271" b="1"/>
              <a:t>Descripción</a:t>
            </a:r>
            <a:r>
              <a:rPr lang="es" sz="1271"/>
              <a:t>: Se escanea un producto, y la app registra su información (nombre, marca y modelo).</a:t>
            </a:r>
            <a:endParaRPr sz="1271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605"/>
              <a:buNone/>
            </a:pPr>
            <a:endParaRPr sz="989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3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Casos de uso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43"/>
          <p:cNvSpPr txBox="1">
            <a:spLocks noGrp="1"/>
          </p:cNvSpPr>
          <p:nvPr>
            <p:ph type="body" idx="1"/>
          </p:nvPr>
        </p:nvSpPr>
        <p:spPr>
          <a:xfrm>
            <a:off x="364050" y="1307850"/>
            <a:ext cx="8520600" cy="377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b="1"/>
              <a:t>CU-05 Eliminar producto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b="1"/>
              <a:t>Actor</a:t>
            </a:r>
            <a:r>
              <a:rPr lang="es" sz="1100"/>
              <a:t>: Propietario o invitado.</a:t>
            </a:r>
            <a:br>
              <a:rPr lang="es" sz="1100"/>
            </a:br>
            <a:r>
              <a:rPr lang="es" sz="1100"/>
              <a:t> </a:t>
            </a:r>
            <a:r>
              <a:rPr lang="es" sz="1100" b="1"/>
              <a:t>Descripción</a:t>
            </a:r>
            <a:r>
              <a:rPr lang="es" sz="1100"/>
              <a:t>: Se selecciona un producto de la lista y se elimina.</a:t>
            </a:r>
            <a:endParaRPr b="1"/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/>
              <a:t>CU-06 Marcar producto como comprado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100" b="1"/>
              <a:t>Actor</a:t>
            </a:r>
            <a:r>
              <a:rPr lang="es" sz="1100"/>
              <a:t>: Propietario o invitado.</a:t>
            </a:r>
            <a:br>
              <a:rPr lang="es" sz="1100"/>
            </a:br>
            <a:r>
              <a:rPr lang="es" sz="1100"/>
              <a:t> </a:t>
            </a:r>
            <a:r>
              <a:rPr lang="es" sz="1100" b="1"/>
              <a:t>Descripción</a:t>
            </a:r>
            <a:r>
              <a:rPr lang="es" sz="1100"/>
              <a:t>: Se marca un producto como adquirido; pasa a la sección </a:t>
            </a:r>
            <a:r>
              <a:rPr lang="es" sz="1100" i="1"/>
              <a:t>“Comprados”</a:t>
            </a:r>
            <a:r>
              <a:rPr lang="es" sz="1100"/>
              <a:t> y se registra qué usuario lo compró.</a:t>
            </a:r>
            <a:endParaRPr sz="1100"/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/>
              <a:t>CU-07 Añadir observación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100" b="1"/>
              <a:t>Actor</a:t>
            </a:r>
            <a:r>
              <a:rPr lang="es" sz="1100"/>
              <a:t>: Propietario o invitado.</a:t>
            </a:r>
            <a:br>
              <a:rPr lang="es" sz="1100"/>
            </a:br>
            <a:r>
              <a:rPr lang="es" sz="1100"/>
              <a:t> </a:t>
            </a:r>
            <a:r>
              <a:rPr lang="es" sz="1100" b="1"/>
              <a:t>Descripción</a:t>
            </a:r>
            <a:r>
              <a:rPr lang="es" sz="1100"/>
              <a:t>: El usuario escribe una nota dentro de la lista seleccionada.</a:t>
            </a:r>
            <a:endParaRPr sz="1100"/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/>
              <a:t>CU-08 Modificar observación</a:t>
            </a:r>
            <a:endParaRPr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1100" b="1"/>
              <a:t>Actor</a:t>
            </a:r>
            <a:r>
              <a:rPr lang="es" sz="1100"/>
              <a:t>: Autor de la observación o propietario.</a:t>
            </a:r>
            <a:br>
              <a:rPr lang="es" sz="1100"/>
            </a:br>
            <a:r>
              <a:rPr lang="es" sz="1100"/>
              <a:t> </a:t>
            </a:r>
            <a:r>
              <a:rPr lang="es" sz="1100" b="1"/>
              <a:t>Descripción</a:t>
            </a:r>
            <a:r>
              <a:rPr lang="es" sz="1100"/>
              <a:t>: Se edita el texto de una observación existente.</a:t>
            </a:r>
            <a:endParaRPr sz="18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Casos de uso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44"/>
          <p:cNvSpPr txBox="1">
            <a:spLocks noGrp="1"/>
          </p:cNvSpPr>
          <p:nvPr>
            <p:ph type="body" idx="1"/>
          </p:nvPr>
        </p:nvSpPr>
        <p:spPr>
          <a:xfrm>
            <a:off x="1297500" y="1009250"/>
            <a:ext cx="7038900" cy="37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0" b="1"/>
              <a:t>CU-09 Calcular precio total de la lista</a:t>
            </a:r>
            <a:endParaRPr sz="14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200" b="1"/>
              <a:t>Actor</a:t>
            </a:r>
            <a:r>
              <a:rPr lang="es" sz="1200"/>
              <a:t>: Propietario o invitado.</a:t>
            </a:r>
            <a:br>
              <a:rPr lang="es" sz="1200"/>
            </a:br>
            <a:r>
              <a:rPr lang="es" sz="1200"/>
              <a:t> </a:t>
            </a:r>
            <a:r>
              <a:rPr lang="es" sz="1200" b="1"/>
              <a:t>Descripción</a:t>
            </a:r>
            <a:r>
              <a:rPr lang="es" sz="1200"/>
              <a:t>: El sistema suma los precios de todos los productos y muestra el gasto total estimado.</a:t>
            </a:r>
            <a:endParaRPr sz="1200"/>
          </a:p>
          <a:p>
            <a:pPr marL="0" lvl="0" indent="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0" b="1"/>
              <a:t>CU-11 Mostrar opciones de división de gasto</a:t>
            </a:r>
            <a:endParaRPr sz="1400" b="1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200" b="1"/>
              <a:t>Actor</a:t>
            </a:r>
            <a:r>
              <a:rPr lang="es" sz="1200"/>
              <a:t>: Propietario o invitado en lista compartida.</a:t>
            </a:r>
            <a:br>
              <a:rPr lang="es" sz="1200"/>
            </a:br>
            <a:r>
              <a:rPr lang="es" sz="1200"/>
              <a:t> </a:t>
            </a:r>
            <a:r>
              <a:rPr lang="es" sz="1200" b="1"/>
              <a:t>Descripción</a:t>
            </a:r>
            <a:r>
              <a:rPr lang="es" sz="1200"/>
              <a:t>: A partir del precio total, el sistema reparte el gasto entre los usuarios asociados a la lista.</a:t>
            </a:r>
            <a:endParaRPr sz="120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200" b="1"/>
              <a:t>Actor</a:t>
            </a:r>
            <a:r>
              <a:rPr lang="es" sz="1200">
                <a:latin typeface="Roboto"/>
                <a:ea typeface="Roboto"/>
                <a:cs typeface="Roboto"/>
                <a:sym typeface="Roboto"/>
              </a:rPr>
              <a:t>: Propietario o invitado de lista compartida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200" b="1"/>
              <a:t>Descripción</a:t>
            </a:r>
            <a:r>
              <a:rPr lang="es" sz="1200">
                <a:latin typeface="Roboto"/>
                <a:ea typeface="Roboto"/>
                <a:cs typeface="Roboto"/>
                <a:sym typeface="Roboto"/>
              </a:rPr>
              <a:t>: En función de si es invitado o propietario tendrá una serie de conceptos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0" b="1"/>
              <a:t>CU-12 Editar nombre de la lista</a:t>
            </a:r>
            <a:endParaRPr sz="1400" b="1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200" b="1"/>
              <a:t>Actor</a:t>
            </a:r>
            <a:r>
              <a:rPr lang="es" sz="1200"/>
              <a:t>: Propietario</a:t>
            </a:r>
            <a:br>
              <a:rPr lang="es" sz="1200"/>
            </a:br>
            <a:r>
              <a:rPr lang="es" sz="1200" b="1"/>
              <a:t>Descripción</a:t>
            </a:r>
            <a:r>
              <a:rPr lang="es" sz="1200"/>
              <a:t>: El actor puede modificar el nombre de la lista. El sistema muestra el nombre actual y   permite editarlo. Una vez confirmado el cambio, el sistema actualiza y guarda el nuevo nombre de la lista.</a:t>
            </a:r>
            <a:endParaRPr sz="12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45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Modelo de datos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Modelo conceptual</a:t>
            </a:r>
            <a:endParaRPr sz="2500"/>
          </a:p>
        </p:txBody>
      </p:sp>
      <p:sp>
        <p:nvSpPr>
          <p:cNvPr id="331" name="Google Shape;331;p4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293211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 b="1"/>
              <a:t>Usuarios 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users</a:t>
            </a:r>
            <a:r>
              <a:rPr lang="es" sz="1100" b="1"/>
              <a:t>)</a:t>
            </a:r>
            <a:br>
              <a:rPr lang="es" sz="1100" b="1"/>
            </a:br>
            <a:r>
              <a:rPr lang="es" sz="1100"/>
              <a:t> Representan a las personas que usan la aplicación.</a:t>
            </a:r>
            <a:br>
              <a:rPr lang="es" sz="1100"/>
            </a:br>
            <a:endParaRPr sz="1100"/>
          </a:p>
          <a:p>
            <a:pPr marL="914400" lvl="1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Cada usuario tiene un correo único, fecha de creación, último acceso y un identificador (</a:t>
            </a: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uid</a:t>
            </a:r>
            <a:r>
              <a:rPr lang="es" sz="1100"/>
              <a:t>).</a:t>
            </a:r>
            <a:br>
              <a:rPr lang="es" sz="1100"/>
            </a:br>
            <a:endParaRPr sz="1100"/>
          </a:p>
          <a:p>
            <a:pPr marL="914400" lvl="1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Los usuarios pueden ser propietarios o invitados en las listas.</a:t>
            </a:r>
            <a:br>
              <a:rPr lang="es" sz="1100"/>
            </a:br>
            <a:endParaRPr sz="1100"/>
          </a:p>
          <a:p>
            <a:pPr marL="457200" lvl="0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 b="1"/>
              <a:t>Listas 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lists</a:t>
            </a:r>
            <a:r>
              <a:rPr lang="es" sz="1100" b="1"/>
              <a:t>)</a:t>
            </a:r>
            <a:br>
              <a:rPr lang="es" sz="1100" b="1"/>
            </a:br>
            <a:r>
              <a:rPr lang="es" sz="1100"/>
              <a:t> Representan un conjunto de compras.</a:t>
            </a:r>
            <a:br>
              <a:rPr lang="es" sz="1100"/>
            </a:br>
            <a:endParaRPr sz="1100"/>
          </a:p>
          <a:p>
            <a:pPr marL="914400" lvl="1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Cada lista tiene un nombre, un propietario, un conjunto de usuarios invitados y productos asociados.</a:t>
            </a:r>
            <a:br>
              <a:rPr lang="es" sz="1100"/>
            </a:br>
            <a:endParaRPr sz="1100"/>
          </a:p>
          <a:p>
            <a:pPr marL="914400" lvl="1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Se guardan fechas relevantes (creación, finalización) y estados de la lista.</a:t>
            </a:r>
            <a:br>
              <a:rPr lang="es" sz="1100"/>
            </a:br>
            <a:endParaRPr sz="1100"/>
          </a:p>
          <a:p>
            <a:pPr marL="914400" lvl="1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○"/>
            </a:pPr>
            <a:r>
              <a:rPr lang="es" sz="1100"/>
              <a:t>Se almacena el </a:t>
            </a:r>
            <a:r>
              <a:rPr lang="es" sz="1100" b="1"/>
              <a:t>precio total</a:t>
            </a:r>
            <a:r>
              <a:rPr lang="es" sz="1100"/>
              <a:t>.</a:t>
            </a:r>
            <a:endParaRPr sz="11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500"/>
              <a:t>Modelo conceptual</a:t>
            </a:r>
            <a:endParaRPr sz="2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 b="1"/>
              <a:t>Productos 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items</a:t>
            </a:r>
            <a:r>
              <a:rPr lang="es" sz="1100" b="1"/>
              <a:t>)</a:t>
            </a:r>
            <a:br>
              <a:rPr lang="es" sz="1100" b="1"/>
            </a:br>
            <a:r>
              <a:rPr lang="es" sz="1100"/>
              <a:t> Representan artículos dentro de una lista.</a:t>
            </a:r>
            <a:br>
              <a:rPr lang="es" sz="1100"/>
            </a:br>
            <a:endParaRPr sz="110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Incluyen nombre, categoría, estado (pendiente/comprado), precio (si lo hay).</a:t>
            </a:r>
            <a:br>
              <a:rPr lang="es" sz="1100"/>
            </a:br>
            <a:endParaRPr sz="110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Guardan quién lo añadió y quién lo compró.</a:t>
            </a:r>
            <a:br>
              <a:rPr lang="es" sz="1100"/>
            </a:br>
            <a:endParaRPr sz="110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Están ligados a una lista mediante </a:t>
            </a: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100"/>
              <a:t>.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 b="1"/>
              <a:t>Observaciones 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listObservations</a:t>
            </a:r>
            <a:r>
              <a:rPr lang="es" sz="1100" b="1"/>
              <a:t>)</a:t>
            </a:r>
            <a:br>
              <a:rPr lang="es" sz="1100" b="1"/>
            </a:br>
            <a:r>
              <a:rPr lang="es" sz="1100"/>
              <a:t> Son notas o comentarios sobre una lista.</a:t>
            </a:r>
            <a:br>
              <a:rPr lang="es" sz="1100"/>
            </a:br>
            <a:endParaRPr sz="110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Tienen autor, fecha de última modificación y el contenido de la observación.</a:t>
            </a:r>
            <a:br>
              <a:rPr lang="es" sz="1100"/>
            </a:br>
            <a:endParaRPr sz="110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s" sz="1100"/>
              <a:t>Se asocian a una lista.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Modelo conceptual</a:t>
            </a:r>
            <a:endParaRPr/>
          </a:p>
        </p:txBody>
      </p:sp>
      <p:sp>
        <p:nvSpPr>
          <p:cNvPr id="343" name="Google Shape;343;p4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 b="1"/>
              <a:t>Pagos(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listPayments</a:t>
            </a:r>
            <a:r>
              <a:rPr lang="es" sz="1100" b="1"/>
              <a:t>)</a:t>
            </a:r>
            <a:endParaRPr sz="1100" b="1"/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1100" b="1"/>
              <a:t>Incluyen el nombre de la lista, ID, usuarios que han pagado, ultima actualización y quien lo actualizó</a:t>
            </a:r>
            <a:endParaRPr sz="1100" b="1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49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Descripción de entidades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54" name="Google Shape;354;p50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 b="1"/>
              <a:t>Usuarios (</a:t>
            </a:r>
            <a:r>
              <a:rPr lang="es" sz="15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users</a:t>
            </a:r>
            <a:r>
              <a:rPr lang="es" sz="1500" b="1"/>
              <a:t>)</a:t>
            </a:r>
            <a:endParaRPr sz="1500" b="1"/>
          </a:p>
          <a:p>
            <a:pPr marL="457200" lvl="0" indent="-3238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uid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(string, clave primaria lógica)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email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(string, único)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createdAt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(timestamp)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lastLogin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(timestamp)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searchEmail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(string, para búsquedas rápidas)</a:t>
            </a:r>
            <a:endParaRPr sz="16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51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60" name="Google Shape;360;p51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b="1"/>
              <a:t>Listas 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lists</a:t>
            </a:r>
            <a:r>
              <a:rPr lang="es" sz="1100" b="1"/>
              <a:t>)</a:t>
            </a:r>
            <a:endParaRPr sz="1100" b="1"/>
          </a:p>
          <a:p>
            <a:pPr marL="457200" lvl="0" indent="-287972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userId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referencia al propietario en </a:t>
            </a: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users</a:t>
            </a:r>
            <a:r>
              <a:rPr lang="es" sz="1100"/>
              <a:t>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ownerEmail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redundancia para mostrar sin lookup)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name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createdAt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(timestamp)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finalizedAt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(timestamp, opcional)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finalizedBy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correo de quien finalizó)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sharedWith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(array de correos)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purchaseInfo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(mapa con metadatos de compra)</a:t>
            </a:r>
            <a:br>
              <a:rPr lang="es" sz="1100"/>
            </a:br>
            <a:endParaRPr sz="1100"/>
          </a:p>
          <a:p>
            <a:pPr marL="457200" lvl="0" indent="-28797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totalPrice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(number, suma de todos los productos)</a:t>
            </a:r>
            <a:endParaRPr sz="1500" b="1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66" name="Google Shape;366;p52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b="1"/>
              <a:t>Productos (</a:t>
            </a:r>
            <a:r>
              <a:rPr lang="es" sz="11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items</a:t>
            </a:r>
            <a:r>
              <a:rPr lang="es" sz="1100" b="1"/>
              <a:t>)</a:t>
            </a:r>
            <a:endParaRPr sz="1100" b="1"/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referencia a </a:t>
            </a: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lists</a:t>
            </a:r>
            <a:r>
              <a:rPr lang="es" sz="1100"/>
              <a:t>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text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nombre del producto)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category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categoría general, ej. DAIRY)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completed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(boolean, comprado o no)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addedBy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correo del usuario)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purchasedBy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correo del comprador, opcional)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createdAt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(timestamp)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userId</a:t>
            </a:r>
            <a:r>
              <a:rPr lang="es" sz="1100">
                <a:solidFill>
                  <a:srgbClr val="00FF00"/>
                </a:solidFill>
              </a:rPr>
              <a:t> </a:t>
            </a:r>
            <a:r>
              <a:rPr lang="es" sz="1100"/>
              <a:t>(string, referencia a </a:t>
            </a: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users</a:t>
            </a:r>
            <a:r>
              <a:rPr lang="es" sz="1100"/>
              <a:t>)</a:t>
            </a:r>
            <a:endParaRPr sz="1500" b="1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3"/>
          <p:cNvSpPr txBox="1">
            <a:spLocks noGrp="1"/>
          </p:cNvSpPr>
          <p:nvPr>
            <p:ph type="title"/>
          </p:nvPr>
        </p:nvSpPr>
        <p:spPr>
          <a:xfrm>
            <a:off x="1297500" y="40122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72" name="Google Shape;372;p53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 b="1"/>
              <a:t>Observaciones (</a:t>
            </a:r>
            <a:r>
              <a:rPr lang="es" sz="15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listObservations</a:t>
            </a:r>
            <a:r>
              <a:rPr lang="es" sz="1500" b="1"/>
              <a:t>)</a:t>
            </a:r>
            <a:endParaRPr sz="1500" b="1"/>
          </a:p>
          <a:p>
            <a:pPr marL="457200" lvl="0" indent="-3238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observations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(string)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updatedBy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(string, correo del autor/modificador)</a:t>
            </a:r>
            <a:br>
              <a:rPr lang="es" sz="1500"/>
            </a:br>
            <a:endParaRPr sz="150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updatedAt</a:t>
            </a:r>
            <a:r>
              <a:rPr lang="es" sz="1500">
                <a:solidFill>
                  <a:srgbClr val="00FF00"/>
                </a:solidFill>
              </a:rPr>
              <a:t> </a:t>
            </a:r>
            <a:r>
              <a:rPr lang="es" sz="1500"/>
              <a:t>(timestamp)</a:t>
            </a:r>
            <a:endParaRPr sz="1900" b="1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4"/>
          <p:cNvSpPr txBox="1">
            <a:spLocks noGrp="1"/>
          </p:cNvSpPr>
          <p:nvPr>
            <p:ph type="title"/>
          </p:nvPr>
        </p:nvSpPr>
        <p:spPr>
          <a:xfrm>
            <a:off x="1297500" y="40122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Descripción de entidades</a:t>
            </a:r>
            <a:endParaRPr sz="2500"/>
          </a:p>
        </p:txBody>
      </p:sp>
      <p:sp>
        <p:nvSpPr>
          <p:cNvPr id="378" name="Google Shape;378;p5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 b="1"/>
              <a:t>Pagos(</a:t>
            </a:r>
            <a:r>
              <a:rPr lang="es" sz="1500" b="1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listPayments</a:t>
            </a:r>
            <a:r>
              <a:rPr lang="es" sz="1500" b="1"/>
              <a:t>)</a:t>
            </a:r>
            <a:endParaRPr sz="15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500"/>
              <a:t>(string)</a:t>
            </a: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listName</a:t>
            </a:r>
            <a:r>
              <a:rPr lang="es" sz="1500"/>
              <a:t>(string)</a:t>
            </a: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paymentParticipants</a:t>
            </a:r>
            <a:r>
              <a:rPr lang="es" sz="1500"/>
              <a:t>(Array)</a:t>
            </a: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payments</a:t>
            </a:r>
            <a:r>
              <a:rPr lang="es" sz="1500"/>
              <a:t>(Array)</a:t>
            </a:r>
            <a:endParaRPr sz="1500">
              <a:solidFill>
                <a:srgbClr val="00FF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totalAmount</a:t>
            </a:r>
            <a:r>
              <a:rPr lang="es" sz="1500"/>
              <a:t>(int)</a:t>
            </a:r>
            <a:endParaRPr sz="1500">
              <a:solidFill>
                <a:srgbClr val="00FF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updatedAt</a:t>
            </a:r>
            <a:r>
              <a:rPr lang="es" sz="1500"/>
              <a:t>(timestamp)</a:t>
            </a:r>
            <a:endParaRPr sz="1500">
              <a:solidFill>
                <a:srgbClr val="00FF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updatedBy</a:t>
            </a:r>
            <a:r>
              <a:rPr lang="es" sz="1500"/>
              <a:t>(timestamp)</a:t>
            </a:r>
            <a:endParaRPr sz="1500">
              <a:solidFill>
                <a:srgbClr val="00FF0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5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Descripción de interrelaciones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Descripción de interrelaciones</a:t>
            </a:r>
            <a:endParaRPr/>
          </a:p>
        </p:txBody>
      </p:sp>
      <p:sp>
        <p:nvSpPr>
          <p:cNvPr id="389" name="Google Shape;389;p5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 b="1"/>
              <a:t>Un usuario</a:t>
            </a:r>
            <a:r>
              <a:rPr lang="es" sz="1500"/>
              <a:t> puede tener </a:t>
            </a:r>
            <a:r>
              <a:rPr lang="es" sz="1500" b="1"/>
              <a:t>varias listas</a:t>
            </a:r>
            <a:r>
              <a:rPr lang="es" sz="1500"/>
              <a:t> (relación 1:N).</a:t>
            </a:r>
            <a:br>
              <a:rPr lang="es" sz="1500"/>
            </a:b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 b="1"/>
              <a:t>Una lista</a:t>
            </a:r>
            <a:r>
              <a:rPr lang="es" sz="1500"/>
              <a:t> puede estar compartida con </a:t>
            </a:r>
            <a:r>
              <a:rPr lang="es" sz="1500" b="1"/>
              <a:t>varios usuarios</a:t>
            </a:r>
            <a:r>
              <a:rPr lang="es" sz="1500"/>
              <a:t> (relación N:M, implementada con </a:t>
            </a: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sharedWith</a:t>
            </a:r>
            <a:r>
              <a:rPr lang="es" sz="1500"/>
              <a:t>).</a:t>
            </a:r>
            <a:br>
              <a:rPr lang="es" sz="1500"/>
            </a:b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 b="1"/>
              <a:t>Una lista</a:t>
            </a:r>
            <a:r>
              <a:rPr lang="es" sz="1500"/>
              <a:t> contiene </a:t>
            </a:r>
            <a:r>
              <a:rPr lang="es" sz="1500" b="1"/>
              <a:t>varios productos</a:t>
            </a:r>
            <a:r>
              <a:rPr lang="es" sz="1500"/>
              <a:t> (relación 1:N vía </a:t>
            </a:r>
            <a:r>
              <a:rPr lang="es" sz="1500">
                <a:solidFill>
                  <a:srgbClr val="00FF00"/>
                </a:solidFill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500"/>
              <a:t>).</a:t>
            </a:r>
            <a:br>
              <a:rPr lang="es" sz="1500"/>
            </a:b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00" b="1"/>
              <a:t>Una lista</a:t>
            </a:r>
            <a:r>
              <a:rPr lang="es" sz="1500"/>
              <a:t> puede tener </a:t>
            </a:r>
            <a:r>
              <a:rPr lang="es" sz="1500" b="1"/>
              <a:t>varias observaciones</a:t>
            </a:r>
            <a:r>
              <a:rPr lang="es" sz="1500"/>
              <a:t> (relación 1:N).</a:t>
            </a:r>
            <a:br>
              <a:rPr lang="es" sz="1500"/>
            </a:br>
            <a:endParaRPr sz="15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1500" b="1"/>
              <a:t>Un producto</a:t>
            </a:r>
            <a:r>
              <a:rPr lang="es" sz="1500"/>
              <a:t> pertenece a una sola lista, pero puede ser añadido y comprado por usuarios distintos.</a:t>
            </a:r>
            <a:endParaRPr sz="22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7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5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00" name="Google Shape;400;p5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users (colección)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└── {uid} (documento)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      - email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      - createdAt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      - lastLogin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        - searchEmail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9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06" name="Google Shape;406;p59"/>
          <p:cNvSpPr txBox="1">
            <a:spLocks noGrp="1"/>
          </p:cNvSpPr>
          <p:nvPr>
            <p:ph type="body" idx="1"/>
          </p:nvPr>
        </p:nvSpPr>
        <p:spPr>
          <a:xfrm>
            <a:off x="1054125" y="892350"/>
            <a:ext cx="7778100" cy="413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lists (colección)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└── {listId} (documento)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name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ownerEmail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userId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createdAt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finalizedAt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finalizedBy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sharedWith [array]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purchaseInfo {map}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totalPrice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expenseSplit {map}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358"/>
              <a:buNone/>
            </a:pPr>
            <a:r>
              <a:rPr lang="es" sz="1047"/>
              <a:t>        - extraInfo</a:t>
            </a:r>
            <a:endParaRPr sz="1047"/>
          </a:p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358"/>
              <a:buNone/>
            </a:pPr>
            <a:endParaRPr sz="785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6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12" name="Google Shape;412;p60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76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items (colección)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└── {itemId} (documento)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listId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text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category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completed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addedBy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purchasedBy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createdAt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rPr lang="es" sz="1595"/>
              <a:t>        - userId</a:t>
            </a:r>
            <a:endParaRPr sz="1595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1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18" name="Google Shape;418;p61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400"/>
              <a:t>listObservations (colección)</a:t>
            </a:r>
            <a:endParaRPr sz="2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400"/>
              <a:t>  └── {observationId} (documento)</a:t>
            </a:r>
            <a:endParaRPr sz="2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400"/>
              <a:t>        - listId</a:t>
            </a:r>
            <a:endParaRPr sz="2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400"/>
              <a:t>        - observations</a:t>
            </a:r>
            <a:endParaRPr sz="2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2400"/>
              <a:t>        - updatedBy</a:t>
            </a:r>
            <a:endParaRPr sz="24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400"/>
              <a:t>        - updatedAt</a:t>
            </a:r>
            <a:endParaRPr sz="24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62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Modelo lógico de datos</a:t>
            </a:r>
            <a:endParaRPr/>
          </a:p>
        </p:txBody>
      </p:sp>
      <p:sp>
        <p:nvSpPr>
          <p:cNvPr id="424" name="Google Shape;424;p62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76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listPayment(colección)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└── {itemId} (documento)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listId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listName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paymentParticipants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payments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totalAmount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2"/>
              <a:buNone/>
            </a:pPr>
            <a:r>
              <a:rPr lang="es" sz="1595"/>
              <a:t>        - updatedAt</a:t>
            </a:r>
            <a:endParaRPr sz="1595"/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rPr lang="es" sz="1595"/>
              <a:t>        - updatedBy</a:t>
            </a:r>
            <a:endParaRPr sz="1595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6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Consultas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6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Consultas</a:t>
            </a:r>
            <a:endParaRPr/>
          </a:p>
        </p:txBody>
      </p:sp>
      <p:sp>
        <p:nvSpPr>
          <p:cNvPr id="435" name="Google Shape;435;p64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56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700" b="1"/>
              <a:t>Obtener todas las listas de un usuario (propietario o compartidas):</a:t>
            </a:r>
            <a:endParaRPr sz="17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db.collection("lists")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.where("ownerEmail", "==", userEmail)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7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db.collection("lists")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.where("sharedWith", "array-contains", userEmail)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9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Consultas</a:t>
            </a:r>
            <a:endParaRPr/>
          </a:p>
        </p:txBody>
      </p:sp>
      <p:sp>
        <p:nvSpPr>
          <p:cNvPr id="441" name="Google Shape;441;p6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 b="1"/>
              <a:t>Obtener productos de una lista:</a:t>
            </a:r>
            <a:endParaRPr sz="17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db.collection("items")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.where("listId", "==", listId)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7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6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4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Consultas </a:t>
            </a:r>
            <a:endParaRPr/>
          </a:p>
        </p:txBody>
      </p:sp>
      <p:sp>
        <p:nvSpPr>
          <p:cNvPr id="447" name="Google Shape;447;p6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358" b="1"/>
              <a:t>Mostrar observaciones de una lista:</a:t>
            </a:r>
            <a:endParaRPr sz="1358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db.collection("listObservations")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.where("listId", "==", listId)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.orderBy("updatedAt", "desc")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b="1"/>
              <a:t>Mostrar pagos de una lista</a:t>
            </a:r>
            <a:endParaRPr sz="135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db.collection("</a:t>
            </a:r>
            <a:r>
              <a:rPr lang="es" sz="1157">
                <a:latin typeface="Roboto"/>
                <a:ea typeface="Roboto"/>
                <a:cs typeface="Roboto"/>
                <a:sym typeface="Roboto"/>
              </a:rPr>
              <a:t>listPayments</a:t>
            </a: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")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.where("listId", "==", listId)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.orderBy("updatedAt", "desc")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Roboto Mono"/>
                <a:ea typeface="Roboto Mono"/>
                <a:cs typeface="Roboto Mono"/>
                <a:sym typeface="Roboto Mono"/>
              </a:rPr>
              <a:t>  .get()</a:t>
            </a:r>
            <a:endParaRPr sz="1157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67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Interfaz de usuario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7" name="Google Shape;457;p68" title="Screenshot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9538" y="82563"/>
            <a:ext cx="6704924" cy="497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8337" y="89412"/>
            <a:ext cx="6187325" cy="4964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7" name="Google Shape;467;p70" title="Screenshot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4213" y="93450"/>
            <a:ext cx="6675574" cy="4956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2" name="Google Shape;472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18600" y="152400"/>
            <a:ext cx="4106795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72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Mapa de navegación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Diagrama">
            <a:extLst>
              <a:ext uri="{FF2B5EF4-FFF2-40B4-BE49-F238E27FC236}">
                <a16:creationId xmlns:a16="http://schemas.microsoft.com/office/drawing/2014/main" id="{DE9DADC1-AD92-F55B-01E8-AE4BFC425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537" y="192232"/>
            <a:ext cx="4126925" cy="4759036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74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Desarrollo del proyecto del sistema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5"/>
          <p:cNvSpPr txBox="1">
            <a:spLocks noGrp="1"/>
          </p:cNvSpPr>
          <p:nvPr>
            <p:ph type="title"/>
          </p:nvPr>
        </p:nvSpPr>
        <p:spPr>
          <a:xfrm>
            <a:off x="1052550" y="408700"/>
            <a:ext cx="7038900" cy="4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500"/>
              <a:t>Desarrollo del proyecto del sistema</a:t>
            </a:r>
            <a:endParaRPr sz="2500"/>
          </a:p>
          <a:p>
            <a:pPr marL="0" lvl="0" indent="0" algn="ctr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75"/>
          <p:cNvSpPr txBox="1">
            <a:spLocks noGrp="1"/>
          </p:cNvSpPr>
          <p:nvPr>
            <p:ph type="body" idx="1"/>
          </p:nvPr>
        </p:nvSpPr>
        <p:spPr>
          <a:xfrm>
            <a:off x="311700" y="949450"/>
            <a:ext cx="8520600" cy="414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b="1"/>
              <a:t>Fase 1</a:t>
            </a:r>
            <a:endParaRPr b="1"/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64705"/>
              <a:buFont typeface="Arial"/>
              <a:buNone/>
            </a:pPr>
            <a:r>
              <a:rPr lang="es" sz="1700" b="1"/>
              <a:t>Funcionalidades</a:t>
            </a:r>
            <a:endParaRPr sz="17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402" b="1">
                <a:latin typeface="Arial"/>
                <a:ea typeface="Arial"/>
                <a:cs typeface="Arial"/>
                <a:sym typeface="Arial"/>
              </a:rPr>
              <a:t>Android:</a:t>
            </a:r>
            <a:endParaRPr sz="1402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284276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Registro e inicio de sesión de usuarios (correo y contraseña).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marL="457200" lvl="0" indent="-284276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Crear listas de compras (listas individuales).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marL="457200" lvl="0" indent="-284276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Ver listas propias (menú principal).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marL="457200" lvl="0" indent="-284276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Añadir productos manualmente a una lista.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marL="457200" lvl="0" indent="-284276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Marcar productos como comprados.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marL="457200" lvl="0" indent="-284276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Eliminar productos de la lista.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402" b="1">
                <a:latin typeface="Arial"/>
                <a:ea typeface="Arial"/>
                <a:cs typeface="Arial"/>
                <a:sym typeface="Arial"/>
              </a:rPr>
              <a:t>Web:</a:t>
            </a:r>
            <a:endParaRPr sz="1402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284276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Registro e inicio de sesión de usuarios (correo y contraseña).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marL="457200" lvl="0" indent="-284276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Crear listas de compras.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marL="457200" lvl="0" indent="-284276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Eliminar listas.</a:t>
            </a:r>
            <a:br>
              <a:rPr lang="es" sz="1402">
                <a:latin typeface="Arial"/>
                <a:ea typeface="Arial"/>
                <a:cs typeface="Arial"/>
                <a:sym typeface="Arial"/>
              </a:rPr>
            </a:b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marL="457200" lvl="0" indent="-284276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s" sz="1402">
                <a:latin typeface="Arial"/>
                <a:ea typeface="Arial"/>
                <a:cs typeface="Arial"/>
                <a:sym typeface="Arial"/>
              </a:rPr>
              <a:t>Añadir, eliminar y compartir productos dentro de las listas.</a:t>
            </a:r>
            <a:endParaRPr sz="1402">
              <a:latin typeface="Arial"/>
              <a:ea typeface="Arial"/>
              <a:cs typeface="Arial"/>
              <a:sym typeface="Arial"/>
            </a:endParaRPr>
          </a:p>
          <a:p>
            <a:pPr marL="457200" lvl="0" indent="-288131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endParaRPr sz="1500" b="1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76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4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0" b="1"/>
              <a:t>Plan de pruebas</a:t>
            </a:r>
            <a:endParaRPr sz="14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200" b="1">
                <a:latin typeface="Arial"/>
                <a:ea typeface="Arial"/>
                <a:cs typeface="Arial"/>
                <a:sym typeface="Arial"/>
              </a:rPr>
              <a:t>Android</a:t>
            </a:r>
            <a:endParaRPr sz="12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lang="es" sz="1200" b="1">
                <a:latin typeface="Arial"/>
                <a:ea typeface="Arial"/>
                <a:cs typeface="Arial"/>
                <a:sym typeface="Arial"/>
              </a:rPr>
              <a:t>Prueba de registro: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crear un usuario nuevo; comprobar que se guarda en Firestore y no permite duplicados.</a:t>
            </a:r>
            <a:br>
              <a:rPr lang="es" sz="1200">
                <a:latin typeface="Arial"/>
                <a:ea typeface="Arial"/>
                <a:cs typeface="Arial"/>
                <a:sym typeface="Arial"/>
              </a:rPr>
            </a:b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lang="es" sz="1200" b="1">
                <a:latin typeface="Arial"/>
                <a:ea typeface="Arial"/>
                <a:cs typeface="Arial"/>
                <a:sym typeface="Arial"/>
              </a:rPr>
              <a:t>Prueba de inicio de sesión: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iniciar con usuario válido y no registrado; verificar mensajes de error.</a:t>
            </a:r>
            <a:br>
              <a:rPr lang="es" sz="1200">
                <a:latin typeface="Arial"/>
                <a:ea typeface="Arial"/>
                <a:cs typeface="Arial"/>
                <a:sym typeface="Arial"/>
              </a:rPr>
            </a:b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lang="es" sz="1200" b="1">
                <a:latin typeface="Arial"/>
                <a:ea typeface="Arial"/>
                <a:cs typeface="Arial"/>
                <a:sym typeface="Arial"/>
              </a:rPr>
              <a:t>Prueba de creación de lista: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crear lista con nombre; comprobar que aparece en el menú principal.</a:t>
            </a:r>
            <a:br>
              <a:rPr lang="es" sz="1200">
                <a:latin typeface="Arial"/>
                <a:ea typeface="Arial"/>
                <a:cs typeface="Arial"/>
                <a:sym typeface="Arial"/>
              </a:rPr>
            </a:b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lang="es" sz="1200" b="1">
                <a:latin typeface="Arial"/>
                <a:ea typeface="Arial"/>
                <a:cs typeface="Arial"/>
                <a:sym typeface="Arial"/>
              </a:rPr>
              <a:t>Prueba de añadir productos: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añadir productos manualmente; verificar que se guardan con </a:t>
            </a:r>
            <a:r>
              <a:rPr lang="es" sz="1200">
                <a:latin typeface="Roboto Mono"/>
                <a:ea typeface="Roboto Mono"/>
                <a:cs typeface="Roboto Mono"/>
                <a:sym typeface="Roboto Mono"/>
              </a:rPr>
              <a:t>listId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correcto.</a:t>
            </a:r>
            <a:br>
              <a:rPr lang="es" sz="1200">
                <a:latin typeface="Arial"/>
                <a:ea typeface="Arial"/>
                <a:cs typeface="Arial"/>
                <a:sym typeface="Arial"/>
              </a:rPr>
            </a:b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</a:pPr>
            <a:r>
              <a:rPr lang="es" sz="1200" b="1">
                <a:latin typeface="Arial"/>
                <a:ea typeface="Arial"/>
                <a:cs typeface="Arial"/>
                <a:sym typeface="Arial"/>
              </a:rPr>
              <a:t>Prueba de marcar productos como comprados: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marcar un producto y comprobar que cambia su estado a </a:t>
            </a:r>
            <a:r>
              <a:rPr lang="es" sz="1200">
                <a:latin typeface="Roboto Mono"/>
                <a:ea typeface="Roboto Mono"/>
                <a:cs typeface="Roboto Mono"/>
                <a:sym typeface="Roboto Mono"/>
              </a:rPr>
              <a:t>completed = true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y se mueve a “Comprados”.</a:t>
            </a:r>
            <a:br>
              <a:rPr lang="es" sz="1200">
                <a:latin typeface="Arial"/>
                <a:ea typeface="Arial"/>
                <a:cs typeface="Arial"/>
                <a:sym typeface="Arial"/>
              </a:rPr>
            </a:b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es" sz="1200" b="1">
                <a:latin typeface="Arial"/>
                <a:ea typeface="Arial"/>
                <a:cs typeface="Arial"/>
                <a:sym typeface="Arial"/>
              </a:rPr>
              <a:t>Prueba de eliminación de productos:</a:t>
            </a:r>
            <a:r>
              <a:rPr lang="es" sz="1200">
                <a:latin typeface="Arial"/>
                <a:ea typeface="Arial"/>
                <a:cs typeface="Arial"/>
                <a:sym typeface="Arial"/>
              </a:rPr>
              <a:t> eliminar producto y verificar que desaparece tanto de la interfaz como de Firestore.</a:t>
            </a:r>
            <a:br>
              <a:rPr lang="e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1"/>
          </a:p>
        </p:txBody>
      </p:sp>
      <p:sp>
        <p:nvSpPr>
          <p:cNvPr id="499" name="Google Shape;499;p76"/>
          <p:cNvSpPr txBox="1">
            <a:spLocks noGrp="1"/>
          </p:cNvSpPr>
          <p:nvPr>
            <p:ph type="title"/>
          </p:nvPr>
        </p:nvSpPr>
        <p:spPr>
          <a:xfrm>
            <a:off x="1052550" y="401225"/>
            <a:ext cx="70389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Desarrollo del proyecto del sistema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77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4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0" b="1"/>
              <a:t>Plan de pruebas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b="1">
                <a:latin typeface="Arial"/>
                <a:ea typeface="Arial"/>
                <a:cs typeface="Arial"/>
                <a:sym typeface="Arial"/>
              </a:rPr>
              <a:t>Web</a:t>
            </a:r>
            <a:endParaRPr b="1"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Char char="●"/>
            </a:pPr>
            <a:r>
              <a:rPr lang="es" b="1">
                <a:latin typeface="Arial"/>
                <a:ea typeface="Arial"/>
                <a:cs typeface="Arial"/>
                <a:sym typeface="Arial"/>
              </a:rPr>
              <a:t>Prueba de registro e inicio de sesión:</a:t>
            </a:r>
            <a:r>
              <a:rPr lang="es">
                <a:latin typeface="Arial"/>
                <a:ea typeface="Arial"/>
                <a:cs typeface="Arial"/>
                <a:sym typeface="Arial"/>
              </a:rPr>
              <a:t> registrar y acceder con usuario válido; validar errores en datos incorrectos.</a:t>
            </a:r>
            <a:br>
              <a:rPr lang="es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Char char="●"/>
            </a:pPr>
            <a:r>
              <a:rPr lang="es" b="1">
                <a:latin typeface="Arial"/>
                <a:ea typeface="Arial"/>
                <a:cs typeface="Arial"/>
                <a:sym typeface="Arial"/>
              </a:rPr>
              <a:t>Prueba de creación de lista:</a:t>
            </a:r>
            <a:r>
              <a:rPr lang="es">
                <a:latin typeface="Arial"/>
                <a:ea typeface="Arial"/>
                <a:cs typeface="Arial"/>
                <a:sym typeface="Arial"/>
              </a:rPr>
              <a:t> crear lista y verificar que se muestra correctamente.</a:t>
            </a:r>
            <a:br>
              <a:rPr lang="es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Char char="●"/>
            </a:pPr>
            <a:r>
              <a:rPr lang="es" b="1">
                <a:latin typeface="Arial"/>
                <a:ea typeface="Arial"/>
                <a:cs typeface="Arial"/>
                <a:sym typeface="Arial"/>
              </a:rPr>
              <a:t>Prueba de eliminación de lista:</a:t>
            </a:r>
            <a:r>
              <a:rPr lang="es">
                <a:latin typeface="Arial"/>
                <a:ea typeface="Arial"/>
                <a:cs typeface="Arial"/>
                <a:sym typeface="Arial"/>
              </a:rPr>
              <a:t> eliminar lista y comprobar su eliminación en Firestore.</a:t>
            </a:r>
            <a:br>
              <a:rPr lang="es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Char char="●"/>
            </a:pPr>
            <a:r>
              <a:rPr lang="es" b="1">
                <a:latin typeface="Arial"/>
                <a:ea typeface="Arial"/>
                <a:cs typeface="Arial"/>
                <a:sym typeface="Arial"/>
              </a:rPr>
              <a:t>Prueba de productos:</a:t>
            </a:r>
            <a:r>
              <a:rPr lang="es">
                <a:latin typeface="Arial"/>
                <a:ea typeface="Arial"/>
                <a:cs typeface="Arial"/>
                <a:sym typeface="Arial"/>
              </a:rPr>
              <a:t> añadir y eliminar productos, comprobando su persistencia en la base de datos.</a:t>
            </a:r>
            <a:br>
              <a:rPr lang="es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Char char="●"/>
            </a:pPr>
            <a:r>
              <a:rPr lang="es" b="1">
                <a:latin typeface="Arial"/>
                <a:ea typeface="Arial"/>
                <a:cs typeface="Arial"/>
                <a:sym typeface="Arial"/>
              </a:rPr>
              <a:t>Prueba de compartición:</a:t>
            </a:r>
            <a:r>
              <a:rPr lang="es">
                <a:latin typeface="Arial"/>
                <a:ea typeface="Arial"/>
                <a:cs typeface="Arial"/>
                <a:sym typeface="Arial"/>
              </a:rPr>
              <a:t> compartir lista con otro usuario y verificar que tiene acceso a ella.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e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1"/>
          </a:p>
        </p:txBody>
      </p:sp>
      <p:sp>
        <p:nvSpPr>
          <p:cNvPr id="505" name="Google Shape;505;p77"/>
          <p:cNvSpPr txBox="1">
            <a:spLocks noGrp="1"/>
          </p:cNvSpPr>
          <p:nvPr>
            <p:ph type="title"/>
          </p:nvPr>
        </p:nvSpPr>
        <p:spPr>
          <a:xfrm>
            <a:off x="1052550" y="401225"/>
            <a:ext cx="70389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Desarrollo del proyecto del sistema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78"/>
          <p:cNvSpPr txBox="1">
            <a:spLocks noGrp="1"/>
          </p:cNvSpPr>
          <p:nvPr>
            <p:ph type="title"/>
          </p:nvPr>
        </p:nvSpPr>
        <p:spPr>
          <a:xfrm>
            <a:off x="1052550" y="386275"/>
            <a:ext cx="7038900" cy="50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Desarrollo del proyecto del sistema</a:t>
            </a:r>
            <a:endParaRPr/>
          </a:p>
        </p:txBody>
      </p:sp>
      <p:sp>
        <p:nvSpPr>
          <p:cNvPr id="511" name="Google Shape;511;p78"/>
          <p:cNvSpPr txBox="1">
            <a:spLocks noGrp="1"/>
          </p:cNvSpPr>
          <p:nvPr>
            <p:ph type="body" idx="1"/>
          </p:nvPr>
        </p:nvSpPr>
        <p:spPr>
          <a:xfrm>
            <a:off x="416350" y="1181200"/>
            <a:ext cx="8520600" cy="28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sz="1100" b="1"/>
              <a:t>Fase 2:</a:t>
            </a:r>
            <a:endParaRPr sz="1100" b="1"/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sz="1000" b="1"/>
              <a:t>Funcionalidades</a:t>
            </a:r>
            <a:endParaRPr sz="1000" b="1"/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AutoNum type="arabicPeriod"/>
            </a:pPr>
            <a:r>
              <a:rPr lang="es" sz="1400" b="1"/>
              <a:t>Añadir productos mediante código de barras (Android).</a:t>
            </a:r>
            <a:endParaRPr sz="1400"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s" sz="1400" b="1"/>
              <a:t>Compartir listas con otros usuarios mediante correo electrónico.</a:t>
            </a:r>
            <a:endParaRPr sz="1400"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s" sz="1400" b="1"/>
              <a:t>Añadir, modificar y eliminar observaciones.</a:t>
            </a:r>
            <a:endParaRPr sz="1400"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s" sz="1400" b="1"/>
              <a:t>Calcular precio total de la lista y cuánto paga cada usuario.</a:t>
            </a:r>
            <a:endParaRPr sz="1400"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s" sz="1400" b="1"/>
              <a:t>Diferenciación visual de listas (individuales vs compartidas).</a:t>
            </a:r>
            <a:endParaRPr sz="800"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s" sz="1400" b="1"/>
              <a:t>Sincronización en tiempo real entre Android y Web.</a:t>
            </a:r>
            <a:endParaRPr sz="1400"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s" sz="1400" b="1"/>
              <a:t>Finalizar listas y registrar quién finalizó la compra.</a:t>
            </a:r>
            <a:endParaRPr sz="1400" b="1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s" sz="1400" b="1"/>
              <a:t>Editar nombres de las listas</a:t>
            </a:r>
            <a:endParaRPr sz="1400" b="1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79"/>
          <p:cNvSpPr txBox="1">
            <a:spLocks noGrp="1"/>
          </p:cNvSpPr>
          <p:nvPr>
            <p:ph type="title"/>
          </p:nvPr>
        </p:nvSpPr>
        <p:spPr>
          <a:xfrm>
            <a:off x="1052550" y="371325"/>
            <a:ext cx="7038900" cy="5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Desarrollo del proyecto del sistema</a:t>
            </a:r>
            <a:endParaRPr/>
          </a:p>
        </p:txBody>
      </p:sp>
      <p:sp>
        <p:nvSpPr>
          <p:cNvPr id="517" name="Google Shape;517;p79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63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s" sz="1400" b="1"/>
              <a:t>Plan de pruebas</a:t>
            </a:r>
            <a:endParaRPr sz="1400" b="1"/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s" sz="1400" b="1">
                <a:latin typeface="Arial"/>
                <a:ea typeface="Arial"/>
                <a:cs typeface="Arial"/>
                <a:sym typeface="Arial"/>
              </a:rPr>
              <a:t>Prueba de observaciones: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crear, modificar y eliminar observaciones; comprobar autor y fecha.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s" sz="1400" b="1">
                <a:latin typeface="Arial"/>
                <a:ea typeface="Arial"/>
                <a:cs typeface="Arial"/>
                <a:sym typeface="Arial"/>
              </a:rPr>
              <a:t>Prueba de cálculo de gastos: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introducir precios y verificar el total y el reparto.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s" sz="1400" b="1">
                <a:latin typeface="Arial"/>
                <a:ea typeface="Arial"/>
                <a:cs typeface="Arial"/>
                <a:sym typeface="Arial"/>
              </a:rPr>
              <a:t>Prueba de diferenciación visual: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confirmar que listas compartidas se muestran con diseño distinto.</a:t>
            </a:r>
            <a:br>
              <a:rPr lang="es" sz="1400">
                <a:latin typeface="Arial"/>
                <a:ea typeface="Arial"/>
                <a:cs typeface="Arial"/>
                <a:sym typeface="Arial"/>
              </a:rPr>
            </a:br>
            <a:r>
              <a:rPr lang="es" sz="1400" b="1">
                <a:latin typeface="Arial"/>
                <a:ea typeface="Arial"/>
                <a:cs typeface="Arial"/>
                <a:sym typeface="Arial"/>
              </a:rPr>
              <a:t>Prueba de sincronización: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modificar datos desde Android y comprobar reflejo inmediato en Web.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 sz="1400" b="1">
                <a:latin typeface="Arial"/>
                <a:ea typeface="Arial"/>
                <a:cs typeface="Arial"/>
                <a:sym typeface="Arial"/>
              </a:rPr>
              <a:t>Prueba de finalización: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finalizar lista y verificar campos </a:t>
            </a:r>
            <a:r>
              <a:rPr lang="es" sz="1400">
                <a:latin typeface="Roboto Mono"/>
                <a:ea typeface="Roboto Mono"/>
                <a:cs typeface="Roboto Mono"/>
                <a:sym typeface="Roboto Mono"/>
              </a:rPr>
              <a:t>finalizedAt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s" sz="1400">
                <a:latin typeface="Roboto Mono"/>
                <a:ea typeface="Roboto Mono"/>
                <a:cs typeface="Roboto Mono"/>
                <a:sym typeface="Roboto Mono"/>
              </a:rPr>
              <a:t>finalizedBy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en Firestore.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s" sz="1400" b="1">
                <a:latin typeface="Arial"/>
                <a:ea typeface="Arial"/>
                <a:cs typeface="Arial"/>
                <a:sym typeface="Arial"/>
              </a:rPr>
              <a:t>Prueba de edición:</a:t>
            </a:r>
            <a:r>
              <a:rPr lang="es" sz="1400">
                <a:latin typeface="Arial"/>
                <a:ea typeface="Arial"/>
                <a:cs typeface="Arial"/>
                <a:sym typeface="Arial"/>
              </a:rPr>
              <a:t> Editar el nombre de una lista y comprobar que se modifica </a:t>
            </a:r>
            <a:endParaRPr sz="1200" b="1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80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Información para el cliente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81"/>
          <p:cNvSpPr txBox="1">
            <a:spLocks noGrp="1"/>
          </p:cNvSpPr>
          <p:nvPr>
            <p:ph type="title"/>
          </p:nvPr>
        </p:nvSpPr>
        <p:spPr>
          <a:xfrm>
            <a:off x="1052550" y="393750"/>
            <a:ext cx="7038900" cy="50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Información para el cliente</a:t>
            </a:r>
            <a:endParaRPr/>
          </a:p>
        </p:txBody>
      </p:sp>
      <p:sp>
        <p:nvSpPr>
          <p:cNvPr id="528" name="Google Shape;528;p81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6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700" b="1"/>
              <a:t>Requisitos físicos y de hardware</a:t>
            </a:r>
            <a:endParaRPr sz="17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b="1"/>
              <a:t>Para Android:</a:t>
            </a:r>
            <a:endParaRPr sz="1100" b="1"/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Dispositivo con sistema operativo Android 8.0 (Oreo) o superior.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Memoria RAM mínima: 2 GB.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Espacio de almacenamiento disponible: 50 MB aprox.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Cámara (opcional, solo si quiere usar la función de escaneo de códigos de barras).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Conexión a Internet estable para sincronización y listas.</a:t>
            </a:r>
            <a:endParaRPr sz="11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b="1"/>
              <a:t>Para Web:</a:t>
            </a:r>
            <a:endParaRPr sz="1100" b="1"/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Ordenador, portátil o tablet con navegador moderno: Chrome, Firefox, Edge o Safari actualizado.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Conexión a Internet estable para sincronización y listas.</a:t>
            </a:r>
            <a:endParaRPr sz="110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82"/>
          <p:cNvSpPr txBox="1">
            <a:spLocks noGrp="1"/>
          </p:cNvSpPr>
          <p:nvPr>
            <p:ph type="title"/>
          </p:nvPr>
        </p:nvSpPr>
        <p:spPr>
          <a:xfrm>
            <a:off x="1052550" y="378800"/>
            <a:ext cx="7038900" cy="5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Información para el cliente</a:t>
            </a:r>
            <a:endParaRPr/>
          </a:p>
        </p:txBody>
      </p:sp>
      <p:sp>
        <p:nvSpPr>
          <p:cNvPr id="534" name="Google Shape;534;p82"/>
          <p:cNvSpPr txBox="1">
            <a:spLocks noGrp="1"/>
          </p:cNvSpPr>
          <p:nvPr>
            <p:ph type="body" idx="1"/>
          </p:nvPr>
        </p:nvSpPr>
        <p:spPr>
          <a:xfrm>
            <a:off x="311700" y="1307850"/>
            <a:ext cx="8520600" cy="374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700" b="1"/>
              <a:t>Requisitos software</a:t>
            </a:r>
            <a:endParaRPr sz="17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b="1"/>
              <a:t>Para Android:</a:t>
            </a:r>
            <a:endParaRPr sz="1100" b="1"/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App instalada desde Google Play o mediante APK proporcionado.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Sistema operativo Android 8.0 o superior.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Permisos de la app: cámara (solo si se va a usar escaneo de códigos de barras).</a:t>
            </a:r>
            <a:endParaRPr sz="11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b="1"/>
              <a:t>Para Web:</a:t>
            </a:r>
            <a:endParaRPr sz="1100" b="1"/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Navegador actualizado: Chrome, Firefox, Edge o Safari.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Capacidad de conectarse al dominio de la app.</a:t>
            </a:r>
            <a:endParaRPr sz="11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100" b="1"/>
              <a:t>Común a ambas plataformas:</a:t>
            </a:r>
            <a:endParaRPr sz="1100" b="1"/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Cuenta de usuario con correo electrónico y contraseña.</a:t>
            </a:r>
            <a:br>
              <a:rPr lang="es" sz="1100"/>
            </a:b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" sz="1100"/>
              <a:t>Conexión a Internet para ver y sincronizar listas</a:t>
            </a:r>
            <a:endParaRPr sz="1100" b="1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83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5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Información para el cliente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83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600" b="1"/>
              <a:t>Manual de instalación, configuración y administración</a:t>
            </a:r>
            <a:endParaRPr sz="16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es" sz="1600" b="1"/>
              <a:t>Instalación en Android:</a:t>
            </a:r>
            <a:endParaRPr sz="1600" b="1"/>
          </a:p>
          <a:p>
            <a:pPr marL="457200" lvl="0" indent="-32258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AutoNum type="arabicPeriod"/>
            </a:pPr>
            <a:r>
              <a:rPr lang="es" sz="1600"/>
              <a:t>Descargar la app desde Google Play o instalar el APK proporcionado.</a:t>
            </a:r>
            <a:br>
              <a:rPr lang="es" sz="1600"/>
            </a:br>
            <a:endParaRPr sz="1600"/>
          </a:p>
          <a:p>
            <a:pPr marL="457200" lvl="0" indent="-32258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AutoNum type="arabicPeriod"/>
            </a:pPr>
            <a:r>
              <a:rPr lang="es" sz="1600"/>
              <a:t>Conceder permisos de cámara si se desea usar el escaneo de códigos de barras.</a:t>
            </a:r>
            <a:br>
              <a:rPr lang="es" sz="1600"/>
            </a:br>
            <a:endParaRPr sz="1600"/>
          </a:p>
          <a:p>
            <a:pPr marL="457200" lvl="0" indent="-32258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AutoNum type="arabicPeriod"/>
            </a:pPr>
            <a:r>
              <a:rPr lang="es" sz="1600"/>
              <a:t>Abrir la app e iniciar sesión o registrarse con correo y contraseña.</a:t>
            </a:r>
            <a:br>
              <a:rPr lang="es" sz="1600"/>
            </a:br>
            <a:endParaRPr sz="1600"/>
          </a:p>
          <a:p>
            <a:pPr marL="457200" lvl="0" indent="-293211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68750"/>
              <a:buAutoNum type="arabicPeriod"/>
            </a:pPr>
            <a:r>
              <a:rPr lang="es" sz="1600"/>
              <a:t>La app se sincroniza automáticamente con la nube (Firestore).</a:t>
            </a:r>
            <a:br>
              <a:rPr lang="es" sz="1100"/>
            </a:br>
            <a:endParaRPr sz="11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84"/>
          <p:cNvSpPr txBox="1">
            <a:spLocks noGrp="1"/>
          </p:cNvSpPr>
          <p:nvPr>
            <p:ph type="title"/>
          </p:nvPr>
        </p:nvSpPr>
        <p:spPr>
          <a:xfrm>
            <a:off x="1297500" y="408700"/>
            <a:ext cx="7038900" cy="50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Información para el cliente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8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600" b="1"/>
              <a:t>Manual de instalación, configuración y administración</a:t>
            </a:r>
            <a:endParaRPr sz="16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00" b="1"/>
              <a:t>Instalación en Web:</a:t>
            </a:r>
            <a:endParaRPr sz="1400" b="1"/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s" sz="1400"/>
              <a:t>Acceder al dominio de la app.</a:t>
            </a:r>
            <a:br>
              <a:rPr lang="es" sz="1400"/>
            </a:b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s" sz="1400"/>
              <a:t>Registrarse o iniciar sesión con correo y contraseña.</a:t>
            </a:r>
            <a:br>
              <a:rPr lang="es" sz="1400"/>
            </a:b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s" sz="1400"/>
              <a:t>Todas las listas y productos se sincronizan automáticamente.</a:t>
            </a:r>
            <a:endParaRPr sz="210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85"/>
          <p:cNvSpPr txBox="1">
            <a:spLocks noGrp="1"/>
          </p:cNvSpPr>
          <p:nvPr>
            <p:ph type="title"/>
          </p:nvPr>
        </p:nvSpPr>
        <p:spPr>
          <a:xfrm>
            <a:off x="1297500" y="401225"/>
            <a:ext cx="7038900" cy="5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Información para el cliente</a:t>
            </a:r>
            <a:endParaRPr/>
          </a:p>
        </p:txBody>
      </p:sp>
      <p:sp>
        <p:nvSpPr>
          <p:cNvPr id="552" name="Google Shape;552;p8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600" b="1"/>
              <a:t>Manual de instalación, configuración y administración</a:t>
            </a:r>
            <a:endParaRPr sz="1600" b="1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8571"/>
              <a:buFont typeface="Arial"/>
              <a:buNone/>
            </a:pPr>
            <a:r>
              <a:rPr lang="es" sz="1400" b="1"/>
              <a:t>Configuración y administración de listas:</a:t>
            </a:r>
            <a:endParaRPr sz="1400" b="1"/>
          </a:p>
          <a:p>
            <a:pPr marL="457200" lvl="0" indent="-310832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400"/>
              <a:t>Crear listas individuales o compartirlas con otros usuarios mediante correo electrónico.</a:t>
            </a:r>
            <a:br>
              <a:rPr lang="es" sz="1400"/>
            </a:br>
            <a:endParaRPr sz="1400"/>
          </a:p>
          <a:p>
            <a:pPr marL="457200" lvl="0" indent="-31083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400"/>
              <a:t>Añadir, modificar o eliminar productos y observaciones.</a:t>
            </a:r>
            <a:br>
              <a:rPr lang="es" sz="1400"/>
            </a:br>
            <a:endParaRPr sz="1400"/>
          </a:p>
          <a:p>
            <a:pPr marL="457200" lvl="0" indent="-31083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400"/>
              <a:t>Añadir precios a productos y ver el total de la lista.</a:t>
            </a:r>
            <a:br>
              <a:rPr lang="es" sz="1400"/>
            </a:br>
            <a:endParaRPr sz="1400"/>
          </a:p>
          <a:p>
            <a:pPr marL="457200" lvl="0" indent="-31083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400"/>
              <a:t>Calcular automáticamente cuánto debe pagar cada usuario en listas compartidas.</a:t>
            </a:r>
            <a:br>
              <a:rPr lang="es" sz="1400"/>
            </a:br>
            <a:endParaRPr sz="1400"/>
          </a:p>
          <a:p>
            <a:pPr marL="457200" lvl="0" indent="-310832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400"/>
              <a:t>Finalizar listas y administrar permisos de usuarios invitados.</a:t>
            </a:r>
            <a:endParaRPr sz="210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86"/>
          <p:cNvSpPr txBox="1">
            <a:spLocks noGrp="1"/>
          </p:cNvSpPr>
          <p:nvPr>
            <p:ph type="title"/>
          </p:nvPr>
        </p:nvSpPr>
        <p:spPr>
          <a:xfrm>
            <a:off x="1052550" y="371325"/>
            <a:ext cx="7038900" cy="54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Información para el cliente</a:t>
            </a:r>
            <a:endParaRPr/>
          </a:p>
        </p:txBody>
      </p:sp>
      <p:sp>
        <p:nvSpPr>
          <p:cNvPr id="558" name="Google Shape;558;p8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88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900"/>
              <a:t>Manual de usuario</a:t>
            </a:r>
            <a:endParaRPr sz="19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84615"/>
              <a:buFont typeface="Arial"/>
              <a:buNone/>
            </a:pPr>
            <a:r>
              <a:rPr lang="es" sz="1300" b="1"/>
              <a:t>1. Registro e inicio de sesión:</a:t>
            </a:r>
            <a:endParaRPr sz="1300" b="1"/>
          </a:p>
          <a:p>
            <a:pPr marL="457200" lvl="0" indent="-304958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300"/>
              <a:t>Crear una cuenta con correo y contraseña.</a:t>
            </a:r>
            <a:br>
              <a:rPr lang="es" sz="1300"/>
            </a:br>
            <a:endParaRPr sz="1300"/>
          </a:p>
          <a:p>
            <a:pPr marL="457200" lvl="0" indent="-304958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300"/>
              <a:t>Iniciar sesión con usuario registrado.</a:t>
            </a:r>
            <a:endParaRPr sz="13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84615"/>
              <a:buFont typeface="Arial"/>
              <a:buNone/>
            </a:pPr>
            <a:r>
              <a:rPr lang="es" sz="1300" b="1"/>
              <a:t>2. Crear lista de compras:</a:t>
            </a:r>
            <a:endParaRPr sz="1300" b="1"/>
          </a:p>
          <a:p>
            <a:pPr marL="457200" lvl="0" indent="-304958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300"/>
              <a:t>Pulsar el botón “Crear lista”, introducir un nombre y guardar.</a:t>
            </a:r>
            <a:endParaRPr sz="13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b="1"/>
              <a:t>3.  Editar lista de compras:</a:t>
            </a:r>
            <a:endParaRPr b="1"/>
          </a:p>
          <a:p>
            <a:pPr marL="457200" lvl="0" indent="-304958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/>
              <a:t>Pulsar el botón del lápiz,, modificar el nombre y guardar.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84615"/>
              <a:buFont typeface="Arial"/>
              <a:buNone/>
            </a:pPr>
            <a:r>
              <a:rPr lang="es" sz="1300" b="1"/>
              <a:t>3. Añadir productos:</a:t>
            </a:r>
            <a:endParaRPr sz="1300" b="1"/>
          </a:p>
          <a:p>
            <a:pPr marL="457200" lvl="0" indent="-304958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300" b="1"/>
              <a:t>Manual:</a:t>
            </a:r>
            <a:r>
              <a:rPr lang="es" sz="1300"/>
              <a:t> escribir el nombre del producto y guardarlo.</a:t>
            </a:r>
            <a:br>
              <a:rPr lang="es" sz="1300"/>
            </a:br>
            <a:endParaRPr sz="1300"/>
          </a:p>
          <a:p>
            <a:pPr marL="457200" lvl="0" indent="-304958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Char char="●"/>
            </a:pPr>
            <a:r>
              <a:rPr lang="es" sz="1300" b="1"/>
              <a:t>Android (opcional):</a:t>
            </a:r>
            <a:r>
              <a:rPr lang="es" sz="1300"/>
              <a:t> usar el escáner de códigos de barras para añadir automáticamente nombre, marca y modelo.</a:t>
            </a:r>
            <a:endParaRPr sz="200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87"/>
          <p:cNvSpPr txBox="1">
            <a:spLocks noGrp="1"/>
          </p:cNvSpPr>
          <p:nvPr>
            <p:ph type="title"/>
          </p:nvPr>
        </p:nvSpPr>
        <p:spPr>
          <a:xfrm>
            <a:off x="1052550" y="371325"/>
            <a:ext cx="7038900" cy="5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Información para el cliente</a:t>
            </a:r>
            <a:endParaRPr/>
          </a:p>
        </p:txBody>
      </p:sp>
      <p:sp>
        <p:nvSpPr>
          <p:cNvPr id="564" name="Google Shape;564;p87"/>
          <p:cNvSpPr txBox="1">
            <a:spLocks noGrp="1"/>
          </p:cNvSpPr>
          <p:nvPr>
            <p:ph type="body" idx="1"/>
          </p:nvPr>
        </p:nvSpPr>
        <p:spPr>
          <a:xfrm>
            <a:off x="311700" y="1353150"/>
            <a:ext cx="8520600" cy="371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00" b="1"/>
              <a:t>4. Gestionar productos:</a:t>
            </a:r>
            <a:endParaRPr sz="1300" b="1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Marcar productos como comprados.</a:t>
            </a:r>
            <a:br>
              <a:rPr lang="es" sz="1300"/>
            </a:br>
            <a:endParaRPr sz="1300"/>
          </a:p>
          <a:p>
            <a:pPr marL="45720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Eliminar productos.</a:t>
            </a:r>
            <a:br>
              <a:rPr lang="es" sz="1300"/>
            </a:br>
            <a:endParaRPr sz="130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Ver productos comprados al final de la lista para mantener claridad.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00" b="1"/>
              <a:t>5. Observaciones:</a:t>
            </a:r>
            <a:endParaRPr sz="1300" b="1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Añadir notas sobre la lista o productos.</a:t>
            </a:r>
            <a:br>
              <a:rPr lang="es" sz="1300"/>
            </a:br>
            <a:endParaRPr sz="130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Modificar o eliminar observaciones si es necesario.</a:t>
            </a:r>
            <a:endParaRPr sz="13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00" b="1"/>
              <a:t>6. Compartir listas:</a:t>
            </a:r>
            <a:endParaRPr sz="1300" b="1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Introducir el correo del usuario invitado y enviar invitación.</a:t>
            </a:r>
            <a:br>
              <a:rPr lang="es" sz="1300"/>
            </a:br>
            <a:endParaRPr sz="130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Ver quién ha añadido y quién ha comprado cada producto.</a:t>
            </a:r>
            <a:endParaRPr sz="200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88"/>
          <p:cNvSpPr txBox="1">
            <a:spLocks noGrp="1"/>
          </p:cNvSpPr>
          <p:nvPr>
            <p:ph type="title"/>
          </p:nvPr>
        </p:nvSpPr>
        <p:spPr>
          <a:xfrm>
            <a:off x="2454600" y="251700"/>
            <a:ext cx="4234800" cy="5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"/>
              <a:t>Información para el cliente</a:t>
            </a:r>
            <a:endParaRPr/>
          </a:p>
        </p:txBody>
      </p:sp>
      <p:sp>
        <p:nvSpPr>
          <p:cNvPr id="570" name="Google Shape;570;p88"/>
          <p:cNvSpPr txBox="1">
            <a:spLocks noGrp="1"/>
          </p:cNvSpPr>
          <p:nvPr>
            <p:ph type="body" idx="1"/>
          </p:nvPr>
        </p:nvSpPr>
        <p:spPr>
          <a:xfrm>
            <a:off x="311700" y="1473950"/>
            <a:ext cx="8520600" cy="382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00" b="1"/>
              <a:t>7. Gestión económica:</a:t>
            </a:r>
            <a:endParaRPr sz="1300" b="1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Añadir precios a productos.</a:t>
            </a:r>
            <a:br>
              <a:rPr lang="es" sz="1300"/>
            </a:br>
            <a:endParaRPr sz="130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Consultar </a:t>
            </a:r>
            <a:r>
              <a:rPr lang="es" sz="1300" b="1"/>
              <a:t>total de la lista</a:t>
            </a:r>
            <a:r>
              <a:rPr lang="es" sz="1300"/>
              <a:t>.</a:t>
            </a:r>
            <a:br>
              <a:rPr lang="es" sz="1300"/>
            </a:br>
            <a:endParaRPr sz="130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Calcular automáticamente cuánto debe pagar cada usuario en listas compartidas.</a:t>
            </a:r>
            <a:br>
              <a:rPr lang="es" sz="1300"/>
            </a:br>
            <a:endParaRPr sz="13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00" b="1"/>
              <a:t>8. Sincronización y finalización de listas:</a:t>
            </a:r>
            <a:endParaRPr sz="1300" b="1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Todos los cambios se reflejan en tiempo real en Android y Web.</a:t>
            </a:r>
            <a:br>
              <a:rPr lang="es" sz="1300"/>
            </a:br>
            <a:endParaRPr sz="130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s" sz="1300"/>
              <a:t>Finalizar lista cuando se completa la compra y registrar quien la finalizó.</a:t>
            </a:r>
            <a:endParaRPr sz="13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89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5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 sz="2500"/>
              <a:t>Bibliografía y fuentes de información</a:t>
            </a:r>
            <a:endParaRPr sz="2500"/>
          </a:p>
        </p:txBody>
      </p:sp>
      <p:sp>
        <p:nvSpPr>
          <p:cNvPr id="576" name="Google Shape;576;p89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u="sng">
                <a:hlinkClick r:id="rId3"/>
              </a:rPr>
              <a:t>Chatgpt</a:t>
            </a:r>
            <a:r>
              <a:rPr lang="es"/>
              <a:t>, </a:t>
            </a:r>
            <a:r>
              <a:rPr lang="es" u="sng">
                <a:hlinkClick r:id="rId4"/>
              </a:rPr>
              <a:t>Deepseek </a:t>
            </a:r>
            <a:r>
              <a:rPr lang="es"/>
              <a:t>→ Cuestiones de código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>
                <a:hlinkClick r:id="rId5"/>
              </a:rPr>
              <a:t>Figma </a:t>
            </a:r>
            <a:r>
              <a:rPr lang="es"/>
              <a:t>→ Creación de pantallas del software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>
                <a:hlinkClick r:id="rId6"/>
              </a:rPr>
              <a:t>LucidChart </a:t>
            </a:r>
            <a:r>
              <a:rPr lang="es"/>
              <a:t>→ Creación de mapa de navegación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3738</Words>
  <Application>Microsoft Office PowerPoint</Application>
  <PresentationFormat>Presentación en pantalla (16:9)</PresentationFormat>
  <Paragraphs>492</Paragraphs>
  <Slides>77</Slides>
  <Notes>77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77</vt:i4>
      </vt:variant>
    </vt:vector>
  </HeadingPairs>
  <TitlesOfParts>
    <vt:vector size="83" baseType="lpstr">
      <vt:lpstr>Arial</vt:lpstr>
      <vt:lpstr>Montserrat</vt:lpstr>
      <vt:lpstr>Roboto Mono</vt:lpstr>
      <vt:lpstr>Roboto</vt:lpstr>
      <vt:lpstr>Lato</vt:lpstr>
      <vt:lpstr>Focus</vt:lpstr>
      <vt:lpstr>BuyNote</vt:lpstr>
      <vt:lpstr>Índice</vt:lpstr>
      <vt:lpstr>Índice</vt:lpstr>
      <vt:lpstr>Índice</vt:lpstr>
      <vt:lpstr>Índice</vt:lpstr>
      <vt:lpstr>Introducción</vt:lpstr>
      <vt:lpstr>Plan de viabilidad</vt:lpstr>
      <vt:lpstr>Necesidades actuales del mercado</vt:lpstr>
      <vt:lpstr>Competencia</vt:lpstr>
      <vt:lpstr>Competencia</vt:lpstr>
      <vt:lpstr>Competencia</vt:lpstr>
      <vt:lpstr>Competencia</vt:lpstr>
      <vt:lpstr>Valor diferencial de la app</vt:lpstr>
      <vt:lpstr>Plan de inversión</vt:lpstr>
      <vt:lpstr>Umbral de rentabilidad</vt:lpstr>
      <vt:lpstr>Plan de marketing</vt:lpstr>
      <vt:lpstr>Requisitos del sistema</vt:lpstr>
      <vt:lpstr>Requisitos de información</vt:lpstr>
      <vt:lpstr>Requisitos de información</vt:lpstr>
      <vt:lpstr>Requisitos de información</vt:lpstr>
      <vt:lpstr>Requisitos de información</vt:lpstr>
      <vt:lpstr>Requisitos de información</vt:lpstr>
      <vt:lpstr>Requisitos de información</vt:lpstr>
      <vt:lpstr>Requisitos funcionales</vt:lpstr>
      <vt:lpstr>Requisitos funcionales</vt:lpstr>
      <vt:lpstr>Requisitos funcionales</vt:lpstr>
      <vt:lpstr>Requisitos funcionales</vt:lpstr>
      <vt:lpstr>Requisitos funcionales</vt:lpstr>
      <vt:lpstr>Requisitos funcionales</vt:lpstr>
      <vt:lpstr>Casos de uso</vt:lpstr>
      <vt:lpstr>Casos de uso </vt:lpstr>
      <vt:lpstr>Casos de uso </vt:lpstr>
      <vt:lpstr>Modelo de datos</vt:lpstr>
      <vt:lpstr>Modelo conceptual</vt:lpstr>
      <vt:lpstr>Modelo conceptual </vt:lpstr>
      <vt:lpstr>Modelo conceptual</vt:lpstr>
      <vt:lpstr>Descripción de entidades</vt:lpstr>
      <vt:lpstr>Descripción de entidades</vt:lpstr>
      <vt:lpstr>Descripción de entidades</vt:lpstr>
      <vt:lpstr>Descripción de entidades</vt:lpstr>
      <vt:lpstr>Descripción de entidades</vt:lpstr>
      <vt:lpstr>Descripción de entidades</vt:lpstr>
      <vt:lpstr>Descripción de interrelaciones</vt:lpstr>
      <vt:lpstr>Descripción de interrelaciones</vt:lpstr>
      <vt:lpstr>Modelo lógico de datos</vt:lpstr>
      <vt:lpstr>Modelo lógico de datos</vt:lpstr>
      <vt:lpstr>Modelo lógico de datos</vt:lpstr>
      <vt:lpstr>Modelo lógico de datos</vt:lpstr>
      <vt:lpstr>Modelo lógico de datos</vt:lpstr>
      <vt:lpstr>Modelo lógico de datos</vt:lpstr>
      <vt:lpstr>Consultas</vt:lpstr>
      <vt:lpstr>Consultas</vt:lpstr>
      <vt:lpstr>Consultas</vt:lpstr>
      <vt:lpstr>Consultas </vt:lpstr>
      <vt:lpstr>Interfaz de usuario</vt:lpstr>
      <vt:lpstr>Presentación de PowerPoint</vt:lpstr>
      <vt:lpstr>Presentación de PowerPoint</vt:lpstr>
      <vt:lpstr>Presentación de PowerPoint</vt:lpstr>
      <vt:lpstr>Presentación de PowerPoint</vt:lpstr>
      <vt:lpstr>Mapa de navegación</vt:lpstr>
      <vt:lpstr>Presentación de PowerPoint</vt:lpstr>
      <vt:lpstr>Desarrollo del proyecto del sistema</vt:lpstr>
      <vt:lpstr>Desarrollo del proyecto del sistema </vt:lpstr>
      <vt:lpstr>Desarrollo del proyecto del sistema</vt:lpstr>
      <vt:lpstr>Desarrollo del proyecto del sistema</vt:lpstr>
      <vt:lpstr>Desarrollo del proyecto del sistema</vt:lpstr>
      <vt:lpstr>Desarrollo del proyecto del sistema</vt:lpstr>
      <vt:lpstr>Información para el cliente</vt:lpstr>
      <vt:lpstr>Información para el cliente</vt:lpstr>
      <vt:lpstr>Información para el cliente</vt:lpstr>
      <vt:lpstr>Información para el cliente </vt:lpstr>
      <vt:lpstr>Información para el cliente </vt:lpstr>
      <vt:lpstr>Información para el cliente</vt:lpstr>
      <vt:lpstr>Información para el cliente</vt:lpstr>
      <vt:lpstr>Información para el cliente</vt:lpstr>
      <vt:lpstr>Información para el cliente</vt:lpstr>
      <vt:lpstr>Bibliografía y fuentes de información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Antonio Cordero</cp:lastModifiedBy>
  <cp:revision>1</cp:revision>
  <dcterms:modified xsi:type="dcterms:W3CDTF">2025-11-14T16:57:40Z</dcterms:modified>
</cp:coreProperties>
</file>