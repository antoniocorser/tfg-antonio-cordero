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</p:sldIdLst>
  <p:sldSz cx="9144000" cy="5143500" type="screen16x9"/>
  <p:notesSz cx="6858000" cy="9144000"/>
  <p:embeddedFontLst>
    <p:embeddedFont>
      <p:font typeface="Lato" panose="020F0502020204030203" pitchFamily="34" charset="0"/>
      <p:regular r:id="rId63"/>
      <p:bold r:id="rId64"/>
      <p:italic r:id="rId65"/>
      <p:boldItalic r:id="rId66"/>
    </p:embeddedFont>
    <p:embeddedFont>
      <p:font typeface="Montserrat" panose="00000500000000000000" pitchFamily="2" charset="0"/>
      <p:regular r:id="rId67"/>
      <p:bold r:id="rId68"/>
      <p:italic r:id="rId69"/>
      <p:boldItalic r:id="rId70"/>
    </p:embeddedFont>
    <p:embeddedFont>
      <p:font typeface="Roboto" panose="02000000000000000000" pitchFamily="2" charset="0"/>
      <p:regular r:id="rId71"/>
      <p:bold r:id="rId72"/>
      <p:italic r:id="rId73"/>
      <p:boldItalic r:id="rId74"/>
    </p:embeddedFont>
    <p:embeddedFont>
      <p:font typeface="Roboto Mono" panose="00000009000000000000" pitchFamily="49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2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77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78" Type="http://schemas.openxmlformats.org/officeDocument/2006/relationships/font" Target="fonts/font16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ca80ebf2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ca80ebf2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7fc3b36c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7fc3b36c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7fc3b36c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7fc3b36c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ca80ebf2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ca80ebf2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7ccd4554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7ccd4554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7ccd4554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7ccd4554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ca80ebf2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ca80ebf2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ca80ebf2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ca80ebf2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7ccd4554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7ccd4554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7ccd4554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7ccd4554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7ccd4554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7ccd4554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7ccd4554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7ccd4554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7ccd4554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7ccd4554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7ccd4554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7ccd4554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7ccd45540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7ccd45540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7ccd45540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7ccd45540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7ccd4554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7ccd4554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7ccd4554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7ccd4554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7ccd45540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7ccd45540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96c71402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896c71402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7ccd45540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87ccd45540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7ccd45540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7ccd45540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7ccd4554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7ccd4554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7ccd45540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7ccd45540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7ccd45540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7ccd45540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7ccd4554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7ccd4554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7ccd4554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7ccd4554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7ccd4554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7ccd4554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7ccd4554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87ccd4554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7ccd45540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87ccd45540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7ccd4554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7ccd4554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7ccd45540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7ccd45540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7ccd45540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7ccd45540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96c71402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96c71402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7ccd45540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7ccd45540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7ccd4554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7ccd4554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7ccd45540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87ccd45540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7ccd45540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7ccd45540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87ccd45540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87ccd45540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96c71402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96c71402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7ccd45540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87ccd45540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7ccd45540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87ccd45540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7ccd45540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7ccd45540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87ccd45540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87ccd45540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7ccd45540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87ccd45540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7ccd4554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87ccd4554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7ccd45540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7ccd45540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896c71402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896c71402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87ccd45540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87ccd45540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87ccd45540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87ccd45540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87ccd4554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87ccd4554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87ccd45540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87ccd45540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7ccd45540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87ccd45540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87ccd45540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87ccd45540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87ccd45540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87ccd45540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87edecf51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87edecf51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87edecf5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87edecf5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87dbed02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87dbed02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7dbed02e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87dbed02e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slide" Target="slide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11700" y="67275"/>
            <a:ext cx="8520600" cy="8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BuyNote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11700" y="4350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Antonio Cordero Serrano 2º CFGS DAM</a:t>
            </a:r>
            <a:endParaRPr/>
          </a:p>
        </p:txBody>
      </p:sp>
      <p:pic>
        <p:nvPicPr>
          <p:cNvPr id="136" name="Google Shape;136;p13" title="BuyNote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838" y="1058175"/>
            <a:ext cx="3140325" cy="314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727650" y="563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body" idx="1"/>
          </p:nvPr>
        </p:nvSpPr>
        <p:spPr>
          <a:xfrm>
            <a:off x="311700" y="1248500"/>
            <a:ext cx="8520600" cy="3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" sz="2800" b="1" baseline="-25000">
                <a:uFill>
                  <a:noFill/>
                </a:uFill>
                <a:hlinkClick r:id="rId3" action="ppaction://hlinksldjump"/>
              </a:rPr>
              <a:t>Introducción </a:t>
            </a:r>
            <a:r>
              <a:rPr lang="es" sz="2800" b="1" baseline="-25000"/>
              <a:t>(6)</a:t>
            </a:r>
            <a:endParaRPr sz="2800" b="1" baseline="-250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" sz="2800" b="1" baseline="-25000">
                <a:uFill>
                  <a:noFill/>
                </a:uFill>
                <a:hlinkClick r:id="rId4" action="ppaction://hlinksldjump"/>
              </a:rPr>
              <a:t>Plan de viabilidad</a:t>
            </a:r>
            <a:r>
              <a:rPr lang="es" sz="2800" b="1" baseline="-25000"/>
              <a:t> (7 - 16)</a:t>
            </a:r>
            <a:endParaRPr sz="2800" b="1" baseline="-250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s" sz="2800" baseline="-25000"/>
              <a:t>Necesidades actuales del mercado (8)</a:t>
            </a:r>
            <a:endParaRPr sz="2800" baseline="-250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s" sz="2800" baseline="-25000"/>
              <a:t>Competencia (9 - 12)</a:t>
            </a:r>
            <a:endParaRPr sz="2800" baseline="-250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s" sz="2800" baseline="-25000"/>
              <a:t>Valor diferencial de la app (13)</a:t>
            </a:r>
            <a:endParaRPr sz="2800" baseline="-250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s" sz="2800" baseline="-25000"/>
              <a:t>Plan de inversión (14)</a:t>
            </a:r>
            <a:endParaRPr sz="2800" baseline="-250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s" sz="2800" baseline="-25000"/>
              <a:t>Umbral de rentabilidad (15)</a:t>
            </a:r>
            <a:endParaRPr sz="2800" baseline="-250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s" sz="2800" baseline="-25000"/>
              <a:t>Plan de marketing (16)</a:t>
            </a:r>
            <a:endParaRPr sz="2800" baseline="-2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body" idx="1"/>
          </p:nvPr>
        </p:nvSpPr>
        <p:spPr>
          <a:xfrm>
            <a:off x="311700" y="1051725"/>
            <a:ext cx="8520600" cy="41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9306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800" b="1" baseline="-25000">
                <a:uFill>
                  <a:noFill/>
                </a:uFill>
                <a:hlinkClick r:id="rId3" action="ppaction://hlinksldjump"/>
              </a:rPr>
              <a:t>Requisitos del sistema</a:t>
            </a:r>
            <a:r>
              <a:rPr lang="es" sz="2800" b="1" baseline="-25000"/>
              <a:t> (17 - 31)</a:t>
            </a:r>
            <a:endParaRPr sz="2800" b="1" baseline="-25000"/>
          </a:p>
          <a:p>
            <a:pPr marL="914400" lvl="1" indent="-3930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2800" baseline="-25000"/>
              <a:t>Requisitos de información (18 - 22)</a:t>
            </a:r>
            <a:endParaRPr sz="2800" baseline="-25000"/>
          </a:p>
          <a:p>
            <a:pPr marL="914400" lvl="1" indent="-3930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2800" baseline="-25000"/>
              <a:t>Requisitos funcionales (23 - 28)</a:t>
            </a:r>
            <a:endParaRPr sz="2800" baseline="-25000"/>
          </a:p>
          <a:p>
            <a:pPr marL="914400" lvl="1" indent="-3930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2800" baseline="-25000"/>
              <a:t>Casos de uso (29 - 31)</a:t>
            </a:r>
            <a:endParaRPr sz="2800" baseline="-25000"/>
          </a:p>
          <a:p>
            <a:pPr marL="457200" lvl="0" indent="-39306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800" b="1" baseline="-25000">
                <a:uFill>
                  <a:noFill/>
                </a:uFill>
                <a:hlinkClick r:id="rId4" action="ppaction://hlinksldjump"/>
              </a:rPr>
              <a:t>Modelo de datos</a:t>
            </a:r>
            <a:r>
              <a:rPr lang="es" sz="2800" b="1" baseline="-25000"/>
              <a:t> (33 - 53)</a:t>
            </a:r>
            <a:endParaRPr sz="2800" b="1" baseline="-25000"/>
          </a:p>
          <a:p>
            <a:pPr marL="914400" lvl="1" indent="-3930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2800" baseline="-25000"/>
              <a:t>Modelo conceptual (34 - 36)</a:t>
            </a:r>
            <a:endParaRPr sz="2800" baseline="-25000"/>
          </a:p>
          <a:p>
            <a:pPr marL="1371600" lvl="2" indent="-393064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s" sz="2800" baseline="-25000"/>
              <a:t>Descripción de entidades (37 - 42)</a:t>
            </a:r>
            <a:endParaRPr sz="2800" baseline="-25000"/>
          </a:p>
          <a:p>
            <a:pPr marL="1371600" lvl="2" indent="-393064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s" sz="2800" baseline="-25000"/>
              <a:t>Descripción de interrelacionales (43 - 44)</a:t>
            </a:r>
            <a:endParaRPr sz="2800" baseline="-25000"/>
          </a:p>
          <a:p>
            <a:pPr marL="914400" lvl="1" indent="-3930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2800" baseline="-25000"/>
              <a:t>Modelo lógico de datos (45 - 50)</a:t>
            </a:r>
            <a:endParaRPr sz="2800" baseline="-25000"/>
          </a:p>
          <a:p>
            <a:pPr marL="914400" lvl="1" indent="-3930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2800" baseline="-25000"/>
              <a:t>Consultas (51 - 54)</a:t>
            </a:r>
            <a:endParaRPr sz="2800" baseline="-25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311700" y="939575"/>
            <a:ext cx="8520600" cy="39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" sz="3100" b="1" baseline="-25000" dirty="0">
                <a:uFill>
                  <a:noFill/>
                </a:uFill>
                <a:hlinkClick r:id="rId3" action="ppaction://hlinksldjump"/>
              </a:rPr>
              <a:t>Interfaz de usuario</a:t>
            </a:r>
            <a:r>
              <a:rPr lang="es" sz="3100" b="1" baseline="-25000" dirty="0"/>
              <a:t> (55 - 61)</a:t>
            </a:r>
            <a:endParaRPr sz="3100" b="1" baseline="-25000" dirty="0"/>
          </a:p>
          <a:p>
            <a:pPr marL="914400" lvl="1" indent="-425450" algn="l" rtl="0"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s" sz="3100" baseline="-25000" dirty="0"/>
              <a:t>Definición de pantallas (Figma) (56 - 59)</a:t>
            </a:r>
            <a:endParaRPr sz="3100" baseline="-25000" dirty="0"/>
          </a:p>
          <a:p>
            <a:pPr marL="914400" lvl="1" indent="-425450" algn="l" rtl="0"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s" sz="3100" baseline="-25000" dirty="0"/>
              <a:t>Mapa de navegación (60 - </a:t>
            </a:r>
            <a:r>
              <a:rPr lang="es" sz="3100" baseline="-25000"/>
              <a:t>61)</a:t>
            </a:r>
            <a:endParaRPr lang="es" sz="3100" baseline="-2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 software para crear y gestionar listas de la compra, tanto individuales como compartidas. Permite añadir productos, incluir observaciones, marcar compras completadas, registrar el precio total y dividir automáticamente el gasto entre los usuarios. En Android, los productos también pueden añadirse mediante código de barras para agilizar la captura de información.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 de viabilidad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766825" y="5934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" sz="2500"/>
              <a:t>Necesidades actuales del mercado</a:t>
            </a:r>
            <a:endParaRPr sz="2500"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729450" y="1420450"/>
            <a:ext cx="7688700" cy="31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" sz="1700"/>
              <a:t>Organización sencilla y rápida de las compras.</a:t>
            </a:r>
            <a:br>
              <a:rPr lang="es" sz="1700"/>
            </a:b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" sz="1700"/>
              <a:t>Colaboración entre varios usuarios en tiempo real.</a:t>
            </a:r>
            <a:br>
              <a:rPr lang="es" sz="1700"/>
            </a:b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" sz="1700"/>
              <a:t>Identificación clara de quién añade o compra cada producto.</a:t>
            </a:r>
            <a:br>
              <a:rPr lang="es" sz="1700"/>
            </a:b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" sz="1700"/>
              <a:t>Control de gastos compartidos, algo poco explotado por la competencia.</a:t>
            </a:r>
            <a:br>
              <a:rPr lang="es" sz="1700"/>
            </a:b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" sz="1700"/>
              <a:t>Sincronización multiplataforma (móvil y web).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727650" y="5785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</a:t>
            </a: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727650" y="1264000"/>
            <a:ext cx="7688700" cy="32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Keep</a:t>
            </a:r>
            <a:endParaRPr sz="4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3957" b="1"/>
              <a:t>Ventajas</a:t>
            </a:r>
            <a:endParaRPr sz="3957" b="1"/>
          </a:p>
          <a:p>
            <a:pPr marL="457200" lvl="0" indent="-347973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3957"/>
              <a:t>Sincronización con cuenta Google</a:t>
            </a:r>
            <a:endParaRPr sz="3957"/>
          </a:p>
          <a:p>
            <a:pPr marL="457200" lvl="0" indent="-34797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3957"/>
              <a:t>Integración con Google Assistant</a:t>
            </a:r>
            <a:endParaRPr sz="3957"/>
          </a:p>
          <a:p>
            <a:pPr marL="457200" lvl="0" indent="-34797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3957"/>
              <a:t>Recordatorios geolocalizados</a:t>
            </a:r>
            <a:endParaRPr sz="395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3957" b="1"/>
              <a:t>Desventajas</a:t>
            </a:r>
            <a:endParaRPr sz="3957" b="1"/>
          </a:p>
          <a:p>
            <a:pPr marL="457200" lvl="0" indent="-347973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3957"/>
              <a:t>No está pensada para listas de la compras</a:t>
            </a:r>
            <a:endParaRPr sz="3957"/>
          </a:p>
          <a:p>
            <a:pPr marL="457200" lvl="0" indent="-34797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3957"/>
              <a:t>Más orientada a notas rápidas</a:t>
            </a:r>
            <a:endParaRPr sz="3957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727650" y="6308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727650" y="124905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0"/>
              <a:t>Listonic</a:t>
            </a:r>
            <a:endParaRPr sz="1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7200" b="1"/>
              <a:t>Ventajas</a:t>
            </a:r>
            <a:endParaRPr sz="7200"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7200"/>
              <a:t>Sugerencias automáticas al escribir</a:t>
            </a:r>
            <a:endParaRPr sz="72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7200"/>
              <a:t>Soporte en múltiples idiomas</a:t>
            </a:r>
            <a:endParaRPr sz="72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7200"/>
              <a:t>Añadir precios a los productos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7200" b="1"/>
              <a:t>Desventajas</a:t>
            </a:r>
            <a:endParaRPr sz="7200"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7200"/>
              <a:t>No realiza cálculo colaborativo</a:t>
            </a:r>
            <a:endParaRPr sz="72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7200"/>
              <a:t>No se refleja quien añadió/compró productos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729450" y="5934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</a:t>
            </a: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727650" y="1256525"/>
            <a:ext cx="7688700" cy="35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/>
              <a:t>Out of milk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Ventajas </a:t>
            </a:r>
            <a:endParaRPr sz="180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Funciones como inventario de despensa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Lista de tareas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/>
              <a:t>Desventajas</a:t>
            </a:r>
            <a:endParaRPr sz="180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Interfaz “antigua”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No tiene sincronización en tiempo real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No tiene función de división de gastos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729450" y="615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body" idx="1"/>
          </p:nvPr>
        </p:nvSpPr>
        <p:spPr>
          <a:xfrm>
            <a:off x="729450" y="1264000"/>
            <a:ext cx="7688700" cy="3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/>
              <a:t>Bring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/>
              <a:t>Ventajas</a:t>
            </a:r>
            <a:endParaRPr sz="1900" b="1"/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Diseño organizado y atractivo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Categorías que hacen atractiva la organización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 b="1"/>
              <a:t>Desventajas</a:t>
            </a:r>
            <a:endParaRPr sz="1900" b="1"/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Incluye publicidad constante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No identifica quien añadió/compró los productos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727650" y="5934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" sz="2500"/>
              <a:t>Valor diferencial de la app</a:t>
            </a:r>
            <a:endParaRPr sz="2500"/>
          </a:p>
        </p:txBody>
      </p:sp>
      <p:sp>
        <p:nvSpPr>
          <p:cNvPr id="207" name="Google Shape;207;p25"/>
          <p:cNvSpPr txBox="1">
            <a:spLocks noGrp="1"/>
          </p:cNvSpPr>
          <p:nvPr>
            <p:ph type="body" idx="1"/>
          </p:nvPr>
        </p:nvSpPr>
        <p:spPr>
          <a:xfrm>
            <a:off x="729450" y="1338200"/>
            <a:ext cx="7688700" cy="3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1571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79"/>
              <a:buChar char="●"/>
            </a:pPr>
            <a:r>
              <a:rPr lang="es" sz="1779"/>
              <a:t>Escaneo de productos por código de barras en Android.</a:t>
            </a:r>
            <a:br>
              <a:rPr lang="es" sz="1779"/>
            </a:br>
            <a:endParaRPr sz="1779"/>
          </a:p>
          <a:p>
            <a:pPr marL="457200" lvl="0" indent="-34157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79"/>
              <a:buChar char="●"/>
            </a:pPr>
            <a:r>
              <a:rPr lang="es" sz="1779"/>
              <a:t>Cálculo automático de cuánto paga cada usuario, basado en el precio total de la lista.</a:t>
            </a:r>
            <a:br>
              <a:rPr lang="es" sz="1779"/>
            </a:br>
            <a:endParaRPr sz="1779"/>
          </a:p>
          <a:p>
            <a:pPr marL="457200" lvl="0" indent="-34157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79"/>
              <a:buChar char="●"/>
            </a:pPr>
            <a:r>
              <a:rPr lang="es" sz="1779"/>
              <a:t>Registro de qué usuario añade y quién compra cada producto.</a:t>
            </a:r>
            <a:br>
              <a:rPr lang="es" sz="1779"/>
            </a:br>
            <a:endParaRPr sz="1779"/>
          </a:p>
          <a:p>
            <a:pPr marL="457200" lvl="0" indent="-34157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79"/>
              <a:buChar char="●"/>
            </a:pPr>
            <a:r>
              <a:rPr lang="es" sz="1779"/>
              <a:t>Sincronización inmediata entre Android y Web.</a:t>
            </a:r>
            <a:br>
              <a:rPr lang="es" sz="1779"/>
            </a:br>
            <a:endParaRPr sz="1779"/>
          </a:p>
          <a:p>
            <a:pPr marL="457200" lvl="0" indent="-34157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79"/>
              <a:buChar char="●"/>
            </a:pPr>
            <a:r>
              <a:rPr lang="es" sz="1779"/>
              <a:t>Coste de desarrollo y mantenimiento mínimo, lo que permite crecer sin grandes inversiones iniciales.</a:t>
            </a:r>
            <a:endParaRPr sz="1779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729450" y="5934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s" sz="2500"/>
              <a:t>Plan de inversión</a:t>
            </a:r>
            <a:endParaRPr sz="2500"/>
          </a:p>
        </p:txBody>
      </p:sp>
      <p:sp>
        <p:nvSpPr>
          <p:cNvPr id="213" name="Google Shape;213;p26"/>
          <p:cNvSpPr txBox="1">
            <a:spLocks noGrp="1"/>
          </p:cNvSpPr>
          <p:nvPr>
            <p:ph type="body" idx="1"/>
          </p:nvPr>
        </p:nvSpPr>
        <p:spPr>
          <a:xfrm>
            <a:off x="729450" y="1383075"/>
            <a:ext cx="7688700" cy="33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/>
              <a:t>Costes fijos reales</a:t>
            </a:r>
            <a:endParaRPr sz="1500" b="1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s" b="1"/>
              <a:t>Firestore (Firebase)</a:t>
            </a:r>
            <a:r>
              <a:rPr lang="es"/>
              <a:t> → gratuito (plan free).</a:t>
            </a:r>
            <a:br>
              <a:rPr lang="es"/>
            </a:b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s" b="1"/>
              <a:t>Hosting (Vercel)</a:t>
            </a:r>
            <a:r>
              <a:rPr lang="es"/>
              <a:t> → gratuito.</a:t>
            </a:r>
            <a:br>
              <a:rPr lang="es"/>
            </a:b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s" b="1"/>
              <a:t>Dominio web</a:t>
            </a:r>
            <a:r>
              <a:rPr lang="es"/>
              <a:t> → 12 €/año.</a:t>
            </a:r>
            <a:br>
              <a:rPr lang="es"/>
            </a:b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s" b="1"/>
              <a:t>Marketing inicial</a:t>
            </a:r>
            <a:r>
              <a:rPr lang="es"/>
              <a:t> → redes sociales y ASO (estimación: 50–100 € iniciales)(opcional).</a:t>
            </a:r>
            <a:br>
              <a:rPr lang="es"/>
            </a:b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/>
              <a:t>Inversión inicial real</a:t>
            </a:r>
            <a:r>
              <a:rPr lang="es"/>
              <a:t>: aprox. 12-110€ el primer año, sumando el dominio y algo de publicidad básica.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727650" y="5934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s" sz="2500"/>
              <a:t>Umbral de rentabilidad</a:t>
            </a:r>
            <a:endParaRPr sz="2500"/>
          </a:p>
        </p:txBody>
      </p:sp>
      <p:sp>
        <p:nvSpPr>
          <p:cNvPr id="219" name="Google Shape;219;p27"/>
          <p:cNvSpPr txBox="1">
            <a:spLocks noGrp="1"/>
          </p:cNvSpPr>
          <p:nvPr>
            <p:ph type="body" idx="1"/>
          </p:nvPr>
        </p:nvSpPr>
        <p:spPr>
          <a:xfrm>
            <a:off x="311700" y="1278400"/>
            <a:ext cx="85206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801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8"/>
              <a:buChar char="●"/>
            </a:pPr>
            <a:r>
              <a:rPr lang="es" sz="1408" b="1"/>
              <a:t>Ingresos previstos</a:t>
            </a:r>
            <a:r>
              <a:rPr lang="es" sz="1408"/>
              <a:t>:</a:t>
            </a:r>
            <a:br>
              <a:rPr lang="es" sz="1408"/>
            </a:br>
            <a:endParaRPr sz="1408"/>
          </a:p>
          <a:p>
            <a:pPr marL="914400" lvl="1" indent="-318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8"/>
              <a:buChar char="○"/>
            </a:pPr>
            <a:r>
              <a:rPr lang="es" sz="1408" b="1"/>
              <a:t>Publicidad</a:t>
            </a:r>
            <a:r>
              <a:rPr lang="es" sz="1408"/>
              <a:t>: ingresos futuros mediante anuncios integrados.</a:t>
            </a:r>
            <a:br>
              <a:rPr lang="es" sz="1408"/>
            </a:br>
            <a:endParaRPr sz="1408"/>
          </a:p>
          <a:p>
            <a:pPr marL="914400" lvl="1" indent="-318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8"/>
              <a:buChar char="○"/>
            </a:pPr>
            <a:r>
              <a:rPr lang="es" sz="1408" b="1"/>
              <a:t>Suscripción premium</a:t>
            </a:r>
            <a:r>
              <a:rPr lang="es" sz="1408"/>
              <a:t>: 2,99 €/mes con funciones exclusivas (listas ilimitadas, eliminar anuncios, funciones premium).</a:t>
            </a:r>
            <a:br>
              <a:rPr lang="es" sz="1408"/>
            </a:br>
            <a:endParaRPr sz="1408"/>
          </a:p>
          <a:p>
            <a:pPr marL="457200" lvl="0" indent="-318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8"/>
              <a:buChar char="●"/>
            </a:pPr>
            <a:r>
              <a:rPr lang="es" sz="1408" b="1"/>
              <a:t>Ejemplo de rentabilidad mínima</a:t>
            </a:r>
            <a:r>
              <a:rPr lang="es" sz="1408"/>
              <a:t>:</a:t>
            </a:r>
            <a:br>
              <a:rPr lang="es" sz="1408"/>
            </a:br>
            <a:endParaRPr sz="1408"/>
          </a:p>
          <a:p>
            <a:pPr marL="914400" lvl="1" indent="-318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8"/>
              <a:buChar char="○"/>
            </a:pPr>
            <a:r>
              <a:rPr lang="es" sz="1408"/>
              <a:t>Con </a:t>
            </a:r>
            <a:r>
              <a:rPr lang="es" sz="1408" b="1"/>
              <a:t>5 usuarios premium</a:t>
            </a:r>
            <a:r>
              <a:rPr lang="es" sz="1408"/>
              <a:t> (2,99 €/mes), ya se generan </a:t>
            </a:r>
            <a:r>
              <a:rPr lang="es" sz="1408" b="1"/>
              <a:t>15 €/mes</a:t>
            </a:r>
            <a:r>
              <a:rPr lang="es" sz="1408"/>
              <a:t> → </a:t>
            </a:r>
            <a:r>
              <a:rPr lang="es" sz="1408" b="1"/>
              <a:t>180 €/año</a:t>
            </a:r>
            <a:r>
              <a:rPr lang="es" sz="1408"/>
              <a:t>, suficiente para cubrir el dominio y marketing básico.</a:t>
            </a:r>
            <a:br>
              <a:rPr lang="es" sz="1408"/>
            </a:br>
            <a:endParaRPr sz="1408"/>
          </a:p>
          <a:p>
            <a:pPr marL="914400" lvl="1" indent="-3180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8"/>
              <a:buChar char="○"/>
            </a:pPr>
            <a:r>
              <a:rPr lang="es" sz="1408"/>
              <a:t>El resto de ingresos, como publicidad, será beneficio adicional.</a:t>
            </a:r>
            <a:br>
              <a:rPr lang="es" sz="1408"/>
            </a:br>
            <a:endParaRPr sz="1408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8"/>
              <a:t>Esto significa que con menos de 10 usuarios premium al año se cubren todos los costes, lo que hace al proyecto viable incluso con una base pequeña de usuarios.</a:t>
            </a:r>
            <a:endParaRPr sz="1408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727650" y="6084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s" sz="2500"/>
              <a:t>Plan de marketing</a:t>
            </a:r>
            <a:endParaRPr sz="2500"/>
          </a:p>
        </p:txBody>
      </p:sp>
      <p:sp>
        <p:nvSpPr>
          <p:cNvPr id="225" name="Google Shape;225;p28"/>
          <p:cNvSpPr txBox="1">
            <a:spLocks noGrp="1"/>
          </p:cNvSpPr>
          <p:nvPr>
            <p:ph type="body" idx="1"/>
          </p:nvPr>
        </p:nvSpPr>
        <p:spPr>
          <a:xfrm>
            <a:off x="311700" y="1285875"/>
            <a:ext cx="8520600" cy="37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1200" b="1"/>
              <a:t>Estrategia</a:t>
            </a:r>
            <a:endParaRPr sz="1200" b="1"/>
          </a:p>
          <a:p>
            <a:pPr marL="457200" lvl="0" indent="-2921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 b="1"/>
              <a:t>Fase inicial</a:t>
            </a:r>
            <a:r>
              <a:rPr lang="es" sz="1000"/>
              <a:t>: difusión en redes sociales (Instagram, TikTok) con vídeos mostrando cómo dividir gastos fácilmente o cómo organizar compras en grupo.</a:t>
            </a:r>
            <a:endParaRPr sz="1000"/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 b="1"/>
              <a:t>Versión gratuita atractiva</a:t>
            </a:r>
            <a:r>
              <a:rPr lang="es" sz="1000"/>
              <a:t>: ofrecer todas las funciones básicas para atraer usuarios y después destacar ventajas premium.</a:t>
            </a:r>
            <a:endParaRPr sz="10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1200" b="1"/>
              <a:t>Público objetivo</a:t>
            </a:r>
            <a:endParaRPr sz="1200" b="1"/>
          </a:p>
          <a:p>
            <a:pPr marL="457200" lvl="0" indent="-2921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/>
              <a:t>Familias que organizan la compra semanal.</a:t>
            </a:r>
            <a:endParaRPr sz="1000"/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/>
              <a:t>Compañeros de piso que comparten gastos.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/>
              <a:t>Amigos que organizan fiestas, barbacoas o viajes.</a:t>
            </a:r>
            <a:endParaRPr sz="10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1200" b="1"/>
              <a:t>Plan a futuro</a:t>
            </a:r>
            <a:endParaRPr sz="1200" b="1"/>
          </a:p>
          <a:p>
            <a:pPr marL="457200" lvl="0" indent="-2921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/>
              <a:t>Incluir publicidad ligera en la versión gratuita (modelo Freemium).</a:t>
            </a:r>
            <a:endParaRPr sz="1000"/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/>
              <a:t>Promociones de prueba del plan premium para atraer usuarios.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/>
              <a:t>Generar informes anónimos de tendencias de compra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del sistema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>
            <a:spLocks noGrp="1"/>
          </p:cNvSpPr>
          <p:nvPr>
            <p:ph type="title"/>
          </p:nvPr>
        </p:nvSpPr>
        <p:spPr>
          <a:xfrm>
            <a:off x="727650" y="5860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de información</a:t>
            </a:r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729450" y="1412975"/>
            <a:ext cx="7688700" cy="29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 b="1"/>
              <a:t>Usuarios</a:t>
            </a:r>
            <a:r>
              <a:rPr lang="es" sz="2000"/>
              <a:t>: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/>
              <a:t>Correo electrónico (para registro, login y compartición de listas).</a:t>
            </a:r>
            <a:br>
              <a:rPr lang="e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/>
              <a:t>Contraseña (para autenticación).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>
            <a:spLocks noGrp="1"/>
          </p:cNvSpPr>
          <p:nvPr>
            <p:ph type="title"/>
          </p:nvPr>
        </p:nvSpPr>
        <p:spPr>
          <a:xfrm>
            <a:off x="729450" y="5785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de información</a:t>
            </a:r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body" idx="1"/>
          </p:nvPr>
        </p:nvSpPr>
        <p:spPr>
          <a:xfrm>
            <a:off x="729450" y="1323250"/>
            <a:ext cx="7688700" cy="3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 b="1"/>
              <a:t>Listas de la compra</a:t>
            </a:r>
            <a:r>
              <a:rPr lang="es" sz="1800"/>
              <a:t>:</a:t>
            </a:r>
            <a:endParaRPr sz="180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" sz="1800"/>
              <a:t>Identificador único de la lista.</a:t>
            </a:r>
            <a:br>
              <a:rPr lang="e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" sz="1800"/>
              <a:t>Nombre de la lista.</a:t>
            </a:r>
            <a:br>
              <a:rPr lang="e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" sz="1800"/>
              <a:t>Estado (individual o compartida).</a:t>
            </a:r>
            <a:br>
              <a:rPr lang="e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" sz="1800"/>
              <a:t>Usuarios vinculados (propietario e invitados).</a:t>
            </a:r>
            <a:endParaRPr sz="18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2651550" y="563575"/>
            <a:ext cx="38445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de información</a:t>
            </a:r>
            <a:endParaRPr/>
          </a:p>
        </p:txBody>
      </p:sp>
      <p:sp>
        <p:nvSpPr>
          <p:cNvPr id="248" name="Google Shape;248;p32"/>
          <p:cNvSpPr txBox="1">
            <a:spLocks noGrp="1"/>
          </p:cNvSpPr>
          <p:nvPr>
            <p:ph type="body" idx="1"/>
          </p:nvPr>
        </p:nvSpPr>
        <p:spPr>
          <a:xfrm>
            <a:off x="729450" y="1323250"/>
            <a:ext cx="7688700" cy="3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 b="1"/>
              <a:t>Productos</a:t>
            </a:r>
            <a:r>
              <a:rPr lang="es" sz="1500"/>
              <a:t>:</a:t>
            </a:r>
            <a:endParaRPr sz="1500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/>
              <a:t>Nombre del producto.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/>
              <a:t>Marca y modelo (si se añade por código de barras).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/>
              <a:t>Estado (pendiente o comprado).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/>
              <a:t>Usuario que lo añadió.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/>
              <a:t>Usuario que lo compró (si aplica).</a:t>
            </a:r>
            <a:endParaRPr sz="15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>
            <a:spLocks noGrp="1"/>
          </p:cNvSpPr>
          <p:nvPr>
            <p:ph type="title"/>
          </p:nvPr>
        </p:nvSpPr>
        <p:spPr>
          <a:xfrm>
            <a:off x="2540550" y="513375"/>
            <a:ext cx="40629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de información</a:t>
            </a:r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/>
              <a:t>Observaciones</a:t>
            </a:r>
            <a:r>
              <a:rPr lang="es" sz="1600"/>
              <a:t>: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s" sz="1600"/>
              <a:t>Texto de la nota.</a:t>
            </a:r>
            <a:br>
              <a:rPr lang="e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s" sz="1600"/>
              <a:t>Autor de la observación.</a:t>
            </a:r>
            <a:br>
              <a:rPr lang="e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s" sz="1600"/>
              <a:t>Fecha de creación/modificación.</a:t>
            </a:r>
            <a:endParaRPr sz="16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>
            <a:spLocks noGrp="1"/>
          </p:cNvSpPr>
          <p:nvPr>
            <p:ph type="title"/>
          </p:nvPr>
        </p:nvSpPr>
        <p:spPr>
          <a:xfrm>
            <a:off x="2540550" y="513375"/>
            <a:ext cx="40629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de información</a:t>
            </a:r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/>
              <a:t>Pagos</a:t>
            </a:r>
            <a:r>
              <a:rPr lang="es" sz="1600"/>
              <a:t>: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ID de la lista.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Nombre de la lista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Participantes.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Pagos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Total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Ultima actualización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Quien actualizó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de información</a:t>
            </a:r>
            <a:endParaRPr/>
          </a:p>
        </p:txBody>
      </p:sp>
      <p:sp>
        <p:nvSpPr>
          <p:cNvPr id="266" name="Google Shape;266;p3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/>
              <a:t>Precio total de la lista</a:t>
            </a:r>
            <a:r>
              <a:rPr lang="es" sz="1600"/>
              <a:t>: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s" sz="1600"/>
              <a:t>Base para el cálculo del reparto de gastos en listas compartidas.</a:t>
            </a:r>
            <a:endParaRPr sz="16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funcionales</a:t>
            </a:r>
            <a:endParaRPr/>
          </a:p>
        </p:txBody>
      </p:sp>
      <p:sp>
        <p:nvSpPr>
          <p:cNvPr id="272" name="Google Shape;272;p3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sz="2000" b="1"/>
              <a:t>Gestión de usuarios</a:t>
            </a:r>
            <a:endParaRPr sz="2000" b="1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/>
              <a:t>Registrar un nuevo usuario mediante correo y contraseña.</a:t>
            </a:r>
            <a:br>
              <a:rPr lang="e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/>
              <a:t>Iniciar sesión con credenciales válidas.</a:t>
            </a:r>
            <a:br>
              <a:rPr lang="e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/>
              <a:t>Cerrar sesión.</a:t>
            </a:r>
            <a:endParaRPr sz="20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funcionales</a:t>
            </a:r>
            <a:endParaRPr/>
          </a:p>
        </p:txBody>
      </p:sp>
      <p:sp>
        <p:nvSpPr>
          <p:cNvPr id="278" name="Google Shape;27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rPr lang="es" sz="1750" b="1"/>
              <a:t>Gestión de listas</a:t>
            </a:r>
            <a:endParaRPr sz="1750" b="1"/>
          </a:p>
          <a:p>
            <a:pPr marL="457200" lvl="0" indent="-33972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s" sz="1750"/>
              <a:t>Crear una lista de compras.</a:t>
            </a:r>
            <a:br>
              <a:rPr lang="es" sz="1750"/>
            </a:br>
            <a:endParaRPr sz="1750"/>
          </a:p>
          <a:p>
            <a:pPr marL="457200" lvl="0" indent="-3397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s" sz="1750"/>
              <a:t>Eliminar una lista (solo el propietario).</a:t>
            </a:r>
            <a:br>
              <a:rPr lang="es" sz="1750"/>
            </a:br>
            <a:endParaRPr sz="1750"/>
          </a:p>
          <a:p>
            <a:pPr marL="457200" lvl="0" indent="-3397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s" sz="1750"/>
              <a:t>Compartir una lista mediante correo electrónico.</a:t>
            </a:r>
            <a:br>
              <a:rPr lang="es" sz="1750"/>
            </a:br>
            <a:endParaRPr sz="1750"/>
          </a:p>
          <a:p>
            <a:pPr marL="457200" lvl="0" indent="-3397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s" sz="1750"/>
              <a:t>Dejar de compartir una lista (eliminar usuario invitado).</a:t>
            </a:r>
            <a:br>
              <a:rPr lang="es" sz="1750"/>
            </a:br>
            <a:endParaRPr sz="1750"/>
          </a:p>
          <a:p>
            <a:pPr marL="457200" lvl="0" indent="-3397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s" sz="1750"/>
              <a:t>Ver listas propias y compartidas.</a:t>
            </a:r>
            <a:br>
              <a:rPr lang="es" sz="1750"/>
            </a:br>
            <a:endParaRPr sz="1750"/>
          </a:p>
          <a:p>
            <a:pPr marL="457200" lvl="0" indent="-3397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s" sz="1750"/>
              <a:t>Diferenciar visualmente entre listas individuales y compartidas.</a:t>
            </a:r>
            <a:endParaRPr sz="1750" b="1"/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endParaRPr sz="1052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sz="1595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funcionales</a:t>
            </a:r>
            <a:endParaRPr/>
          </a:p>
        </p:txBody>
      </p:sp>
      <p:sp>
        <p:nvSpPr>
          <p:cNvPr id="284" name="Google Shape;284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lang="es" sz="2050" b="1"/>
              <a:t>Gestión de productos</a:t>
            </a:r>
            <a:endParaRPr sz="2050" b="1"/>
          </a:p>
          <a:p>
            <a:pPr marL="457200" lvl="0" indent="-35877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50"/>
              <a:buChar char="●"/>
            </a:pPr>
            <a:r>
              <a:rPr lang="es" sz="2050"/>
              <a:t>Añadir productos manualmente.</a:t>
            </a:r>
            <a:br>
              <a:rPr lang="es" sz="2050"/>
            </a:br>
            <a:endParaRPr sz="2050"/>
          </a:p>
          <a:p>
            <a:pPr marL="457200" lvl="0" indent="-3587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●"/>
            </a:pPr>
            <a:r>
              <a:rPr lang="es" sz="2050"/>
              <a:t>Añadir productos mediante escaneo de código de barras (Android).</a:t>
            </a:r>
            <a:br>
              <a:rPr lang="es" sz="2050"/>
            </a:br>
            <a:endParaRPr sz="2050"/>
          </a:p>
          <a:p>
            <a:pPr marL="457200" lvl="0" indent="-3587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●"/>
            </a:pPr>
            <a:r>
              <a:rPr lang="es" sz="2050"/>
              <a:t>Eliminar productos.</a:t>
            </a:r>
            <a:br>
              <a:rPr lang="es" sz="2050"/>
            </a:br>
            <a:endParaRPr sz="2050"/>
          </a:p>
          <a:p>
            <a:pPr marL="457200" lvl="0" indent="-3587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●"/>
            </a:pPr>
            <a:r>
              <a:rPr lang="es" sz="2050"/>
              <a:t>Marcar productos como comprados.</a:t>
            </a:r>
            <a:br>
              <a:rPr lang="es" sz="2050"/>
            </a:br>
            <a:endParaRPr sz="2050"/>
          </a:p>
          <a:p>
            <a:pPr marL="457200" lvl="0" indent="-3587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●"/>
            </a:pPr>
            <a:r>
              <a:rPr lang="es" sz="2050"/>
              <a:t>Mostrar en listas compartidas quién añadió y quién compró cada producto.</a:t>
            </a:r>
            <a:endParaRPr sz="2050" b="1"/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1217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86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funcionales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sz="2000" b="1"/>
              <a:t>Gestión de observaciones</a:t>
            </a:r>
            <a:endParaRPr sz="2000" b="1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/>
              <a:t>Añadir observaciones a una lista.</a:t>
            </a:r>
            <a:br>
              <a:rPr lang="e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/>
              <a:t>Modificar observaciones existentes.</a:t>
            </a:r>
            <a:br>
              <a:rPr lang="e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/>
              <a:t>Eliminar observaciones.</a:t>
            </a:r>
            <a:endParaRPr sz="20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funcionales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sz="2000" b="1"/>
              <a:t>Gestión económica</a:t>
            </a:r>
            <a:endParaRPr sz="2000" b="1"/>
          </a:p>
          <a:p>
            <a:pPr marL="457200" lvl="0" indent="-355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Calcular el precio total de la lista.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Calcular cuánto debe pagar cada usuario en listas compartidas.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Marcar quién pagó y quién no.</a:t>
            </a:r>
            <a:endParaRPr sz="20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funcionales</a:t>
            </a:r>
            <a:endParaRPr/>
          </a:p>
        </p:txBody>
      </p:sp>
      <p:sp>
        <p:nvSpPr>
          <p:cNvPr id="302" name="Google Shape;302;p4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sz="2000" b="1"/>
              <a:t>Sincronización y plataforma</a:t>
            </a:r>
            <a:endParaRPr sz="2000" b="1"/>
          </a:p>
          <a:p>
            <a:pPr marL="457200" lvl="0" indent="-346075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2000"/>
              <a:t>Sincronización entre Android y Web.</a:t>
            </a:r>
            <a:br>
              <a:rPr lang="es" sz="2000"/>
            </a:br>
            <a:endParaRPr sz="2000"/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2000"/>
              <a:t>Acceso desde Android con todas las funciones (incluido escaneo) excepto eliminación de listas.</a:t>
            </a:r>
            <a:br>
              <a:rPr lang="es" sz="2000"/>
            </a:br>
            <a:endParaRPr sz="2000"/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2000"/>
              <a:t>Acceso desde Web con las mismas funciones además de eliminación de listas (excepto escaneo de código de barras).</a:t>
            </a:r>
            <a:endParaRPr sz="20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de uso</a:t>
            </a:r>
            <a:endParaRPr/>
          </a:p>
        </p:txBody>
      </p:sp>
      <p:sp>
        <p:nvSpPr>
          <p:cNvPr id="308" name="Google Shape;308;p42"/>
          <p:cNvSpPr txBox="1">
            <a:spLocks noGrp="1"/>
          </p:cNvSpPr>
          <p:nvPr>
            <p:ph type="body" idx="1"/>
          </p:nvPr>
        </p:nvSpPr>
        <p:spPr>
          <a:xfrm>
            <a:off x="311700" y="1307850"/>
            <a:ext cx="8520600" cy="3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 sz="1381" b="1"/>
              <a:t>CU-01 Crear lista</a:t>
            </a:r>
            <a:endParaRPr sz="1381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 sz="1271" b="1"/>
              <a:t>Actor</a:t>
            </a:r>
            <a:r>
              <a:rPr lang="es" sz="1271"/>
              <a:t>: Usuario registrado (propietario).</a:t>
            </a:r>
            <a:br>
              <a:rPr lang="es" sz="1271"/>
            </a:br>
            <a:r>
              <a:rPr lang="es" sz="1271"/>
              <a:t> </a:t>
            </a:r>
            <a:r>
              <a:rPr lang="es" sz="1271" b="1"/>
              <a:t>Descripción</a:t>
            </a:r>
            <a:r>
              <a:rPr lang="es" sz="1271"/>
              <a:t>: El usuario crea una lista nueva, introduciendo un nombre identificativo.</a:t>
            </a:r>
            <a:endParaRPr sz="1271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 sz="1381" b="1"/>
              <a:t>CU-02 Compartir lista</a:t>
            </a:r>
            <a:endParaRPr sz="1381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 sz="1271" b="1"/>
              <a:t>Actor</a:t>
            </a:r>
            <a:r>
              <a:rPr lang="es" sz="1271"/>
              <a:t>: Usuario propietario.</a:t>
            </a:r>
            <a:br>
              <a:rPr lang="es" sz="1271"/>
            </a:br>
            <a:r>
              <a:rPr lang="es" sz="1271"/>
              <a:t> </a:t>
            </a:r>
            <a:r>
              <a:rPr lang="es" sz="1271" b="1"/>
              <a:t>Descripción</a:t>
            </a:r>
            <a:r>
              <a:rPr lang="es" sz="1271"/>
              <a:t>: El propietario introduce el correo de otro usuario y le otorga acceso a la lista.</a:t>
            </a:r>
            <a:endParaRPr sz="1271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 sz="1381" b="1"/>
              <a:t>CU-03 Añadir producto manualmente</a:t>
            </a:r>
            <a:endParaRPr sz="1381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 sz="1271" b="1"/>
              <a:t>Actor</a:t>
            </a:r>
            <a:r>
              <a:rPr lang="es" sz="1271"/>
              <a:t>: Propietario o invitado.</a:t>
            </a:r>
            <a:br>
              <a:rPr lang="es" sz="1271"/>
            </a:br>
            <a:r>
              <a:rPr lang="es" sz="1271"/>
              <a:t> </a:t>
            </a:r>
            <a:r>
              <a:rPr lang="es" sz="1271" b="1"/>
              <a:t>Descripción</a:t>
            </a:r>
            <a:r>
              <a:rPr lang="es" sz="1271"/>
              <a:t>: Se escribe el nombre de un producto y se añade a la lista seleccionada.</a:t>
            </a:r>
            <a:endParaRPr sz="1271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 sz="1381" b="1"/>
              <a:t>CU-04 Añadir producto por código de barras</a:t>
            </a:r>
            <a:endParaRPr sz="1381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 sz="1271" b="1"/>
              <a:t>Actor</a:t>
            </a:r>
            <a:r>
              <a:rPr lang="es" sz="1271"/>
              <a:t>: Propietario o invitado (solo en Android).</a:t>
            </a:r>
            <a:br>
              <a:rPr lang="es" sz="1271"/>
            </a:br>
            <a:r>
              <a:rPr lang="es" sz="1271"/>
              <a:t> </a:t>
            </a:r>
            <a:r>
              <a:rPr lang="es" sz="1271" b="1"/>
              <a:t>Descripción</a:t>
            </a:r>
            <a:r>
              <a:rPr lang="es" sz="1271"/>
              <a:t>: Se escanea un producto, y la app registra su información (nombre, marca y modelo).</a:t>
            </a:r>
            <a:endParaRPr sz="127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989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s"/>
              <a:t>Casos de uso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43"/>
          <p:cNvSpPr txBox="1">
            <a:spLocks noGrp="1"/>
          </p:cNvSpPr>
          <p:nvPr>
            <p:ph type="body" idx="1"/>
          </p:nvPr>
        </p:nvSpPr>
        <p:spPr>
          <a:xfrm>
            <a:off x="364050" y="1307850"/>
            <a:ext cx="8520600" cy="37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b="1"/>
              <a:t>CU-05 Eliminar producto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/>
              <a:t>Actor</a:t>
            </a:r>
            <a:r>
              <a:rPr lang="es" sz="1100"/>
              <a:t>: Propietario o invitado.</a:t>
            </a:r>
            <a:br>
              <a:rPr lang="es" sz="1100"/>
            </a:br>
            <a:r>
              <a:rPr lang="es" sz="1100"/>
              <a:t> </a:t>
            </a:r>
            <a:r>
              <a:rPr lang="es" sz="1100" b="1"/>
              <a:t>Descripción</a:t>
            </a:r>
            <a:r>
              <a:rPr lang="es" sz="1100"/>
              <a:t>: Se selecciona un producto de la lista y se elimina.</a:t>
            </a:r>
            <a:endParaRPr b="1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/>
              <a:t>CU-06 Marcar producto como comprado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/>
              <a:t>Actor</a:t>
            </a:r>
            <a:r>
              <a:rPr lang="es" sz="1100"/>
              <a:t>: Propietario o invitado.</a:t>
            </a:r>
            <a:br>
              <a:rPr lang="es" sz="1100"/>
            </a:br>
            <a:r>
              <a:rPr lang="es" sz="1100"/>
              <a:t> </a:t>
            </a:r>
            <a:r>
              <a:rPr lang="es" sz="1100" b="1"/>
              <a:t>Descripción</a:t>
            </a:r>
            <a:r>
              <a:rPr lang="es" sz="1100"/>
              <a:t>: Se marca un producto como adquirido; pasa a la sección </a:t>
            </a:r>
            <a:r>
              <a:rPr lang="es" sz="1100" i="1"/>
              <a:t>“Comprados”</a:t>
            </a:r>
            <a:r>
              <a:rPr lang="es" sz="1100"/>
              <a:t> y se registra qué usuario lo compró.</a:t>
            </a:r>
            <a:endParaRPr sz="11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/>
              <a:t>CU-07 Añadir observación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/>
              <a:t>Actor</a:t>
            </a:r>
            <a:r>
              <a:rPr lang="es" sz="1100"/>
              <a:t>: Propietario o invitado.</a:t>
            </a:r>
            <a:br>
              <a:rPr lang="es" sz="1100"/>
            </a:br>
            <a:r>
              <a:rPr lang="es" sz="1100"/>
              <a:t> </a:t>
            </a:r>
            <a:r>
              <a:rPr lang="es" sz="1100" b="1"/>
              <a:t>Descripción</a:t>
            </a:r>
            <a:r>
              <a:rPr lang="es" sz="1100"/>
              <a:t>: El usuario escribe una nota dentro de la lista seleccionada.</a:t>
            </a:r>
            <a:endParaRPr sz="11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/>
              <a:t>CU-08 Modificar observación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 b="1"/>
              <a:t>Actor</a:t>
            </a:r>
            <a:r>
              <a:rPr lang="es" sz="1100"/>
              <a:t>: Autor de la observación o propietario.</a:t>
            </a:r>
            <a:br>
              <a:rPr lang="es" sz="1100"/>
            </a:br>
            <a:r>
              <a:rPr lang="es" sz="1100"/>
              <a:t> </a:t>
            </a:r>
            <a:r>
              <a:rPr lang="es" sz="1100" b="1"/>
              <a:t>Descripción</a:t>
            </a:r>
            <a:r>
              <a:rPr lang="es" sz="1100"/>
              <a:t>: Se edita el texto de una observación existente.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s"/>
              <a:t>Casos de uso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44"/>
          <p:cNvSpPr txBox="1">
            <a:spLocks noGrp="1"/>
          </p:cNvSpPr>
          <p:nvPr>
            <p:ph type="body" idx="1"/>
          </p:nvPr>
        </p:nvSpPr>
        <p:spPr>
          <a:xfrm>
            <a:off x="1297500" y="1009250"/>
            <a:ext cx="7038900" cy="37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 b="1"/>
              <a:t>CU-09 Calcular precio total de la lista</a:t>
            </a:r>
            <a:endParaRPr sz="14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/>
              <a:t>Actor</a:t>
            </a:r>
            <a:r>
              <a:rPr lang="es" sz="1200"/>
              <a:t>: Propietario o invitado.</a:t>
            </a:r>
            <a:br>
              <a:rPr lang="es" sz="1200"/>
            </a:br>
            <a:r>
              <a:rPr lang="es" sz="1200"/>
              <a:t> </a:t>
            </a:r>
            <a:r>
              <a:rPr lang="es" sz="1200" b="1"/>
              <a:t>Descripción</a:t>
            </a:r>
            <a:r>
              <a:rPr lang="es" sz="1200"/>
              <a:t>: El sistema suma los precios de todos los productos y muestra el gasto total estimado.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 b="1"/>
              <a:t>CU-11 Mostrar opciones de división de gasto</a:t>
            </a: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/>
              <a:t>Actor</a:t>
            </a:r>
            <a:r>
              <a:rPr lang="es" sz="1200"/>
              <a:t>: Propietario o invitado en lista compartida.</a:t>
            </a:r>
            <a:br>
              <a:rPr lang="es" sz="1200"/>
            </a:br>
            <a:r>
              <a:rPr lang="es" sz="1200"/>
              <a:t> </a:t>
            </a:r>
            <a:r>
              <a:rPr lang="es" sz="1200" b="1"/>
              <a:t>Descripción</a:t>
            </a:r>
            <a:r>
              <a:rPr lang="es" sz="1200"/>
              <a:t>: A partir del precio total, el sistema reparte el gasto entre los usuarios asociados a la lista.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 b="1"/>
              <a:t>Actor</a:t>
            </a:r>
            <a:r>
              <a:rPr lang="es" sz="1200">
                <a:latin typeface="Roboto"/>
                <a:ea typeface="Roboto"/>
                <a:cs typeface="Roboto"/>
                <a:sym typeface="Roboto"/>
              </a:rPr>
              <a:t>: Propietario o invitado de lista compartida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 b="1"/>
              <a:t>Descripción</a:t>
            </a:r>
            <a:r>
              <a:rPr lang="es" sz="1200">
                <a:latin typeface="Roboto"/>
                <a:ea typeface="Roboto"/>
                <a:cs typeface="Roboto"/>
                <a:sym typeface="Roboto"/>
              </a:rPr>
              <a:t>: En función de si es invitado o propietario tendrá una serie de conceptos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5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Modelo de datos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/>
              <a:t>Modelo conceptual</a:t>
            </a:r>
            <a:endParaRPr sz="2500"/>
          </a:p>
        </p:txBody>
      </p:sp>
      <p:sp>
        <p:nvSpPr>
          <p:cNvPr id="331" name="Google Shape;331;p4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 b="1"/>
              <a:t>Usuarios (</a:t>
            </a:r>
            <a:r>
              <a:rPr lang="es" sz="11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es" sz="1100" b="1"/>
              <a:t>)</a:t>
            </a:r>
            <a:br>
              <a:rPr lang="es" sz="1100" b="1"/>
            </a:br>
            <a:r>
              <a:rPr lang="es" sz="1100"/>
              <a:t> Representan a las personas que usan la aplicación.</a:t>
            </a:r>
            <a:br>
              <a:rPr lang="es" sz="1100"/>
            </a:br>
            <a:endParaRPr sz="1100"/>
          </a:p>
          <a:p>
            <a:pPr marL="914400" lvl="1" indent="-29321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s" sz="1100"/>
              <a:t>Cada usuario tiene un correo único, fecha de creación, último acceso y un identificador (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uid</a:t>
            </a:r>
            <a:r>
              <a:rPr lang="es" sz="1100"/>
              <a:t>).</a:t>
            </a:r>
            <a:br>
              <a:rPr lang="es" sz="1100"/>
            </a:br>
            <a:endParaRPr sz="1100"/>
          </a:p>
          <a:p>
            <a:pPr marL="914400" lvl="1" indent="-29321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s" sz="1100"/>
              <a:t>Los usuarios pueden ser propietarios o invitados en las listas.</a:t>
            </a:r>
            <a:br>
              <a:rPr lang="es" sz="1100"/>
            </a:br>
            <a:endParaRPr sz="1100"/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 b="1"/>
              <a:t>Listas (</a:t>
            </a:r>
            <a:r>
              <a:rPr lang="es" sz="11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lists</a:t>
            </a:r>
            <a:r>
              <a:rPr lang="es" sz="1100" b="1"/>
              <a:t>)</a:t>
            </a:r>
            <a:br>
              <a:rPr lang="es" sz="1100" b="1"/>
            </a:br>
            <a:r>
              <a:rPr lang="es" sz="1100"/>
              <a:t> Representan un conjunto de compras.</a:t>
            </a:r>
            <a:br>
              <a:rPr lang="es" sz="1100"/>
            </a:br>
            <a:endParaRPr sz="1100"/>
          </a:p>
          <a:p>
            <a:pPr marL="914400" lvl="1" indent="-29321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s" sz="1100"/>
              <a:t>Cada lista tiene un nombre, un propietario, un conjunto de usuarios invitados y productos asociados.</a:t>
            </a:r>
            <a:br>
              <a:rPr lang="es" sz="1100"/>
            </a:br>
            <a:endParaRPr sz="1100"/>
          </a:p>
          <a:p>
            <a:pPr marL="914400" lvl="1" indent="-29321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s" sz="1100"/>
              <a:t>Se guardan fechas relevantes (creación, finalización) y estados de la lista.</a:t>
            </a:r>
            <a:br>
              <a:rPr lang="es" sz="1100"/>
            </a:br>
            <a:endParaRPr sz="1100"/>
          </a:p>
          <a:p>
            <a:pPr marL="914400" lvl="1" indent="-29321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s" sz="1100"/>
              <a:t>Se almacena el </a:t>
            </a:r>
            <a:r>
              <a:rPr lang="es" sz="1100" b="1"/>
              <a:t>precio total</a:t>
            </a:r>
            <a:r>
              <a:rPr lang="es" sz="1100"/>
              <a:t>.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00"/>
              <a:t>Modelo conceptual</a:t>
            </a:r>
            <a:endParaRPr sz="2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/>
              <a:t>Productos (</a:t>
            </a:r>
            <a:r>
              <a:rPr lang="es" sz="11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items</a:t>
            </a:r>
            <a:r>
              <a:rPr lang="es" sz="1100" b="1"/>
              <a:t>)</a:t>
            </a:r>
            <a:br>
              <a:rPr lang="es" sz="1100" b="1"/>
            </a:br>
            <a:r>
              <a:rPr lang="es" sz="1100"/>
              <a:t> Representan artículos dentro de una lista.</a:t>
            </a:r>
            <a:br>
              <a:rPr lang="es" sz="1100"/>
            </a:b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s" sz="1100"/>
              <a:t>Incluyen nombre, categoría, estado (pendiente/comprado), precio (si lo hay).</a:t>
            </a:r>
            <a:br>
              <a:rPr lang="es" sz="1100"/>
            </a:b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s" sz="1100"/>
              <a:t>Guardan quién lo añadió y quién lo compró.</a:t>
            </a:r>
            <a:br>
              <a:rPr lang="es" sz="1100"/>
            </a:b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s" sz="1100"/>
              <a:t>Están ligados a una lista mediante </a:t>
            </a: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listId</a:t>
            </a:r>
            <a:r>
              <a:rPr lang="es" sz="1100"/>
              <a:t>.</a:t>
            </a:r>
            <a:br>
              <a:rPr lang="es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/>
              <a:t>Observaciones (</a:t>
            </a:r>
            <a:r>
              <a:rPr lang="es" sz="11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listObservations</a:t>
            </a:r>
            <a:r>
              <a:rPr lang="es" sz="1100" b="1"/>
              <a:t>)</a:t>
            </a:r>
            <a:br>
              <a:rPr lang="es" sz="1100" b="1"/>
            </a:br>
            <a:r>
              <a:rPr lang="es" sz="1100"/>
              <a:t> Son notas o comentarios sobre una lista.</a:t>
            </a:r>
            <a:br>
              <a:rPr lang="es" sz="1100"/>
            </a:b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s" sz="1100"/>
              <a:t>Tienen autor, fecha de última modificación y el contenido de la observación.</a:t>
            </a:r>
            <a:br>
              <a:rPr lang="es" sz="1100"/>
            </a:b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s" sz="1100"/>
              <a:t>Se asocian a una lista.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/>
              <a:t>Modelo conceptual</a:t>
            </a:r>
            <a:endParaRPr/>
          </a:p>
        </p:txBody>
      </p:sp>
      <p:sp>
        <p:nvSpPr>
          <p:cNvPr id="343" name="Google Shape;343;p4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/>
              <a:t>Pagos(</a:t>
            </a:r>
            <a:r>
              <a:rPr lang="es" sz="11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listPayments</a:t>
            </a:r>
            <a:r>
              <a:rPr lang="es" sz="1100" b="1"/>
              <a:t>)</a:t>
            </a:r>
            <a:endParaRPr sz="1100"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 b="1"/>
              <a:t>Incluyen el nombre de la lista, ID, usuarios que han pagado, ultima actualización y quien lo actualizó</a:t>
            </a:r>
            <a:endParaRPr sz="11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Descripción de entidades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/>
              <a:t>Descripción de entidades</a:t>
            </a:r>
            <a:endParaRPr sz="2500"/>
          </a:p>
        </p:txBody>
      </p:sp>
      <p:sp>
        <p:nvSpPr>
          <p:cNvPr id="354" name="Google Shape;354;p5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 b="1"/>
              <a:t>Usuarios (</a:t>
            </a:r>
            <a:r>
              <a:rPr lang="es" sz="15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es" sz="1500" b="1"/>
              <a:t>)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uid</a:t>
            </a:r>
            <a:r>
              <a:rPr lang="es" sz="1500">
                <a:solidFill>
                  <a:srgbClr val="00FF00"/>
                </a:solidFill>
              </a:rPr>
              <a:t> </a:t>
            </a:r>
            <a:r>
              <a:rPr lang="es" sz="1500"/>
              <a:t>(string, clave primaria lógica)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s" sz="1500">
                <a:solidFill>
                  <a:srgbClr val="00FF00"/>
                </a:solidFill>
              </a:rPr>
              <a:t> </a:t>
            </a:r>
            <a:r>
              <a:rPr lang="es" sz="1500"/>
              <a:t>(string, único)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createdAt</a:t>
            </a:r>
            <a:r>
              <a:rPr lang="es" sz="1500">
                <a:solidFill>
                  <a:srgbClr val="00FF00"/>
                </a:solidFill>
              </a:rPr>
              <a:t> </a:t>
            </a:r>
            <a:r>
              <a:rPr lang="es" sz="1500"/>
              <a:t>(timestamp)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lastLogin</a:t>
            </a:r>
            <a:r>
              <a:rPr lang="es" sz="1500">
                <a:solidFill>
                  <a:srgbClr val="00FF00"/>
                </a:solidFill>
              </a:rPr>
              <a:t> </a:t>
            </a:r>
            <a:r>
              <a:rPr lang="es" sz="1500"/>
              <a:t>(timestamp)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searchEmail</a:t>
            </a:r>
            <a:r>
              <a:rPr lang="es" sz="1500">
                <a:solidFill>
                  <a:srgbClr val="00FF00"/>
                </a:solidFill>
              </a:rPr>
              <a:t> </a:t>
            </a:r>
            <a:r>
              <a:rPr lang="es" sz="1500"/>
              <a:t>(string, para búsquedas rápidas)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/>
              <a:t>Descripción de entidades</a:t>
            </a:r>
            <a:endParaRPr sz="2500"/>
          </a:p>
        </p:txBody>
      </p:sp>
      <p:sp>
        <p:nvSpPr>
          <p:cNvPr id="360" name="Google Shape;360;p5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/>
              <a:t>Listas (</a:t>
            </a:r>
            <a:r>
              <a:rPr lang="es" sz="11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lists</a:t>
            </a:r>
            <a:r>
              <a:rPr lang="es" sz="1100" b="1"/>
              <a:t>)</a:t>
            </a:r>
            <a:endParaRPr sz="1100" b="1"/>
          </a:p>
          <a:p>
            <a:pPr marL="457200" lvl="0" indent="-287972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referencia al propietario en </a:t>
            </a: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es" sz="1100"/>
              <a:t>)</a:t>
            </a:r>
            <a:br>
              <a:rPr lang="es" sz="1100"/>
            </a:br>
            <a:endParaRPr sz="1100"/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ownerEmail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redundancia para mostrar sin lookup)</a:t>
            </a:r>
            <a:br>
              <a:rPr lang="es" sz="1100"/>
            </a:br>
            <a:endParaRPr sz="1100"/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(string)</a:t>
            </a:r>
            <a:br>
              <a:rPr lang="es" sz="1100"/>
            </a:br>
            <a:endParaRPr sz="1100"/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createdAt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(timestamp)</a:t>
            </a:r>
            <a:br>
              <a:rPr lang="es" sz="1100"/>
            </a:br>
            <a:endParaRPr sz="1100"/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finalizedAt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(timestamp, opcional)</a:t>
            </a:r>
            <a:br>
              <a:rPr lang="es" sz="1100"/>
            </a:br>
            <a:endParaRPr sz="1100"/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finalizedBy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correo de quien finalizó)</a:t>
            </a:r>
            <a:br>
              <a:rPr lang="es" sz="1100"/>
            </a:br>
            <a:endParaRPr sz="1100"/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sharedWith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(array de correos)</a:t>
            </a:r>
            <a:br>
              <a:rPr lang="es" sz="1100"/>
            </a:br>
            <a:endParaRPr sz="1100"/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purchaseInfo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(mapa con metadatos de compra)</a:t>
            </a:r>
            <a:br>
              <a:rPr lang="es" sz="1100"/>
            </a:br>
            <a:endParaRPr sz="1100"/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totalPrice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(number, suma de todos los productos)</a:t>
            </a:r>
            <a:endParaRPr sz="15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/>
              <a:t>Descripción de entidades</a:t>
            </a:r>
            <a:endParaRPr sz="2500"/>
          </a:p>
        </p:txBody>
      </p:sp>
      <p:sp>
        <p:nvSpPr>
          <p:cNvPr id="366" name="Google Shape;366;p5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/>
              <a:t>Productos (</a:t>
            </a:r>
            <a:r>
              <a:rPr lang="es" sz="11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items</a:t>
            </a:r>
            <a:r>
              <a:rPr lang="es" sz="1100" b="1"/>
              <a:t>)</a:t>
            </a:r>
            <a:endParaRPr sz="1100" b="1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listId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referencia a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lists</a:t>
            </a:r>
            <a:r>
              <a:rPr lang="es" sz="1100"/>
              <a:t>)</a:t>
            </a:r>
            <a:br>
              <a:rPr lang="es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nombre del producto)</a:t>
            </a:r>
            <a:br>
              <a:rPr lang="es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category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categoría general, ej. DAIRY)</a:t>
            </a:r>
            <a:br>
              <a:rPr lang="es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completed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(boolean, comprado o no)</a:t>
            </a:r>
            <a:br>
              <a:rPr lang="es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addedBy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correo del usuario)</a:t>
            </a:r>
            <a:br>
              <a:rPr lang="es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purchasedBy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correo del comprador, opcional)</a:t>
            </a:r>
            <a:br>
              <a:rPr lang="es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createdAt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(timestamp)</a:t>
            </a:r>
            <a:br>
              <a:rPr lang="es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s" sz="1100">
                <a:solidFill>
                  <a:srgbClr val="00FF00"/>
                </a:solidFill>
              </a:rPr>
              <a:t> </a:t>
            </a:r>
            <a:r>
              <a:rPr lang="es" sz="1100"/>
              <a:t>(string, referencia a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es" sz="1100"/>
              <a:t>)</a:t>
            </a:r>
            <a:endParaRPr sz="15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3"/>
          <p:cNvSpPr txBox="1">
            <a:spLocks noGrp="1"/>
          </p:cNvSpPr>
          <p:nvPr>
            <p:ph type="title"/>
          </p:nvPr>
        </p:nvSpPr>
        <p:spPr>
          <a:xfrm>
            <a:off x="1297500" y="4012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/>
              <a:t>Descripción de entidades</a:t>
            </a:r>
            <a:endParaRPr sz="2500"/>
          </a:p>
        </p:txBody>
      </p:sp>
      <p:sp>
        <p:nvSpPr>
          <p:cNvPr id="372" name="Google Shape;372;p5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 b="1"/>
              <a:t>Observaciones (</a:t>
            </a:r>
            <a:r>
              <a:rPr lang="es" sz="15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listObservations</a:t>
            </a:r>
            <a:r>
              <a:rPr lang="es" sz="1500" b="1"/>
              <a:t>)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observations</a:t>
            </a:r>
            <a:r>
              <a:rPr lang="es" sz="1500">
                <a:solidFill>
                  <a:srgbClr val="00FF00"/>
                </a:solidFill>
              </a:rPr>
              <a:t> </a:t>
            </a:r>
            <a:r>
              <a:rPr lang="es" sz="1500"/>
              <a:t>(string)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updatedBy</a:t>
            </a:r>
            <a:r>
              <a:rPr lang="es" sz="1500">
                <a:solidFill>
                  <a:srgbClr val="00FF00"/>
                </a:solidFill>
              </a:rPr>
              <a:t> </a:t>
            </a:r>
            <a:r>
              <a:rPr lang="es" sz="1500"/>
              <a:t>(string, correo del autor/modificador)</a:t>
            </a:r>
            <a:br>
              <a:rPr lang="es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updatedAt</a:t>
            </a:r>
            <a:r>
              <a:rPr lang="es" sz="1500">
                <a:solidFill>
                  <a:srgbClr val="00FF00"/>
                </a:solidFill>
              </a:rPr>
              <a:t> </a:t>
            </a:r>
            <a:r>
              <a:rPr lang="es" sz="1500"/>
              <a:t>(timestamp)</a:t>
            </a:r>
            <a:endParaRPr sz="19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title"/>
          </p:nvPr>
        </p:nvSpPr>
        <p:spPr>
          <a:xfrm>
            <a:off x="1297500" y="4012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/>
              <a:t>Descripción de entidades</a:t>
            </a:r>
            <a:endParaRPr sz="2500"/>
          </a:p>
        </p:txBody>
      </p:sp>
      <p:sp>
        <p:nvSpPr>
          <p:cNvPr id="378" name="Google Shape;378;p5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 b="1"/>
              <a:t>Pagos(</a:t>
            </a:r>
            <a:r>
              <a:rPr lang="es" sz="1500" b="1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listPayments</a:t>
            </a:r>
            <a:r>
              <a:rPr lang="es" sz="1500" b="1"/>
              <a:t>)</a:t>
            </a:r>
            <a:endParaRPr sz="15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listId</a:t>
            </a:r>
            <a:r>
              <a:rPr lang="es" sz="1500"/>
              <a:t>(string)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listName</a:t>
            </a:r>
            <a:r>
              <a:rPr lang="es" sz="1500"/>
              <a:t>(string)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paymentParticipants</a:t>
            </a:r>
            <a:r>
              <a:rPr lang="es" sz="1500"/>
              <a:t>(Array)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payments</a:t>
            </a:r>
            <a:r>
              <a:rPr lang="es" sz="1500"/>
              <a:t>(Array)</a:t>
            </a:r>
            <a:endParaRPr sz="1500">
              <a:solidFill>
                <a:srgbClr val="00FF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totalAmount</a:t>
            </a:r>
            <a:r>
              <a:rPr lang="es" sz="1500"/>
              <a:t>(int)</a:t>
            </a:r>
            <a:endParaRPr sz="1500">
              <a:solidFill>
                <a:srgbClr val="00FF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updatedAt</a:t>
            </a:r>
            <a:r>
              <a:rPr lang="es" sz="1500"/>
              <a:t>(timestamp)</a:t>
            </a:r>
            <a:endParaRPr sz="1500">
              <a:solidFill>
                <a:srgbClr val="00FF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updatedBy</a:t>
            </a:r>
            <a:r>
              <a:rPr lang="es" sz="1500"/>
              <a:t>(timestamp)</a:t>
            </a:r>
            <a:endParaRPr sz="1500">
              <a:solidFill>
                <a:srgbClr val="00FF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interrelaciones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 de interrelaciones</a:t>
            </a:r>
            <a:endParaRPr/>
          </a:p>
        </p:txBody>
      </p:sp>
      <p:sp>
        <p:nvSpPr>
          <p:cNvPr id="389" name="Google Shape;389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/>
              <a:t>Un usuario</a:t>
            </a:r>
            <a:r>
              <a:rPr lang="es" sz="1500"/>
              <a:t> puede tener </a:t>
            </a:r>
            <a:r>
              <a:rPr lang="es" sz="1500" b="1"/>
              <a:t>varias listas</a:t>
            </a:r>
            <a:r>
              <a:rPr lang="es" sz="1500"/>
              <a:t> (relación 1:N).</a:t>
            </a:r>
            <a:br>
              <a:rPr lang="es" sz="1500"/>
            </a:b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/>
              <a:t>Una lista</a:t>
            </a:r>
            <a:r>
              <a:rPr lang="es" sz="1500"/>
              <a:t> puede estar compartida con </a:t>
            </a:r>
            <a:r>
              <a:rPr lang="es" sz="1500" b="1"/>
              <a:t>varios usuarios</a:t>
            </a:r>
            <a:r>
              <a:rPr lang="es" sz="1500"/>
              <a:t> (relación N:M, implementada con </a:t>
            </a: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sharedWith</a:t>
            </a:r>
            <a:r>
              <a:rPr lang="es" sz="1500"/>
              <a:t>).</a:t>
            </a:r>
            <a:br>
              <a:rPr lang="es" sz="1500"/>
            </a:b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/>
              <a:t>Una lista</a:t>
            </a:r>
            <a:r>
              <a:rPr lang="es" sz="1500"/>
              <a:t> contiene </a:t>
            </a:r>
            <a:r>
              <a:rPr lang="es" sz="1500" b="1"/>
              <a:t>varios productos</a:t>
            </a:r>
            <a:r>
              <a:rPr lang="es" sz="1500"/>
              <a:t> (relación 1:N vía </a:t>
            </a:r>
            <a:r>
              <a:rPr lang="es" sz="15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listId</a:t>
            </a:r>
            <a:r>
              <a:rPr lang="es" sz="1500"/>
              <a:t>).</a:t>
            </a:r>
            <a:br>
              <a:rPr lang="es" sz="1500"/>
            </a:b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/>
              <a:t>Una lista</a:t>
            </a:r>
            <a:r>
              <a:rPr lang="es" sz="1500"/>
              <a:t> puede tener </a:t>
            </a:r>
            <a:r>
              <a:rPr lang="es" sz="1500" b="1"/>
              <a:t>varias observaciones</a:t>
            </a:r>
            <a:r>
              <a:rPr lang="es" sz="1500"/>
              <a:t> (relación 1:N).</a:t>
            </a:r>
            <a:br>
              <a:rPr lang="es" sz="1500"/>
            </a:b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 b="1"/>
              <a:t>Un producto</a:t>
            </a:r>
            <a:r>
              <a:rPr lang="es" sz="1500"/>
              <a:t> pertenece a una sola lista, pero puede ser añadido y comprado por usuarios distintos.</a:t>
            </a:r>
            <a:endParaRPr sz="2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lógico de datos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lógico de datos</a:t>
            </a:r>
            <a:endParaRPr/>
          </a:p>
        </p:txBody>
      </p:sp>
      <p:sp>
        <p:nvSpPr>
          <p:cNvPr id="400" name="Google Shape;400;p5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users (colección)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└── {uid} (documento)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    - email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    - createdAt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    - lastLogin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    - searchEmail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lógico de datos</a:t>
            </a:r>
            <a:endParaRPr/>
          </a:p>
        </p:txBody>
      </p:sp>
      <p:sp>
        <p:nvSpPr>
          <p:cNvPr id="406" name="Google Shape;406;p59"/>
          <p:cNvSpPr txBox="1">
            <a:spLocks noGrp="1"/>
          </p:cNvSpPr>
          <p:nvPr>
            <p:ph type="body" idx="1"/>
          </p:nvPr>
        </p:nvSpPr>
        <p:spPr>
          <a:xfrm>
            <a:off x="1054125" y="892350"/>
            <a:ext cx="7778100" cy="4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lists (colección)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└── {listId} (documento)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name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ownerEmail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userId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createdAt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finalizedAt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finalizedBy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sharedWith [array]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purchaseInfo {map}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totalPrice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expenseSplit {map}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" sz="1047"/>
              <a:t>        - extraInfo</a:t>
            </a:r>
            <a:endParaRPr sz="1047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endParaRPr sz="785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lógico de datos</a:t>
            </a:r>
            <a:endParaRPr/>
          </a:p>
        </p:txBody>
      </p:sp>
      <p:sp>
        <p:nvSpPr>
          <p:cNvPr id="412" name="Google Shape;412;p60"/>
          <p:cNvSpPr txBox="1">
            <a:spLocks noGrp="1"/>
          </p:cNvSpPr>
          <p:nvPr>
            <p:ph type="body" idx="1"/>
          </p:nvPr>
        </p:nvSpPr>
        <p:spPr>
          <a:xfrm>
            <a:off x="311700" y="1307850"/>
            <a:ext cx="8520600" cy="37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items (colección)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└── {itemId} (documento)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listId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text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category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completed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addedBy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purchasedBy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createdAt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s" sz="1595"/>
              <a:t>        - userId</a:t>
            </a:r>
            <a:endParaRPr sz="1595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lógico de datos</a:t>
            </a:r>
            <a:endParaRPr/>
          </a:p>
        </p:txBody>
      </p:sp>
      <p:sp>
        <p:nvSpPr>
          <p:cNvPr id="418" name="Google Shape;418;p6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listObservations (colección)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  └── {observationId} (documento)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        - listId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        - observations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        - updatedBy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400"/>
              <a:t>        - updatedAt</a:t>
            </a:r>
            <a:endParaRPr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lógico de datos</a:t>
            </a:r>
            <a:endParaRPr/>
          </a:p>
        </p:txBody>
      </p:sp>
      <p:sp>
        <p:nvSpPr>
          <p:cNvPr id="424" name="Google Shape;424;p62"/>
          <p:cNvSpPr txBox="1">
            <a:spLocks noGrp="1"/>
          </p:cNvSpPr>
          <p:nvPr>
            <p:ph type="body" idx="1"/>
          </p:nvPr>
        </p:nvSpPr>
        <p:spPr>
          <a:xfrm>
            <a:off x="311700" y="1307850"/>
            <a:ext cx="8520600" cy="37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listPayment(colección)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└── {itemId} (documento)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listId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listName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paymentParticipants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payments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totalAmount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595"/>
              <a:t>        - updatedAt</a:t>
            </a:r>
            <a:endParaRPr sz="15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s" sz="1595"/>
              <a:t>        - updatedBy</a:t>
            </a:r>
            <a:endParaRPr sz="1595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Consultas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Consultas</a:t>
            </a:r>
            <a:endParaRPr/>
          </a:p>
        </p:txBody>
      </p:sp>
      <p:sp>
        <p:nvSpPr>
          <p:cNvPr id="435" name="Google Shape;435;p64"/>
          <p:cNvSpPr txBox="1">
            <a:spLocks noGrp="1"/>
          </p:cNvSpPr>
          <p:nvPr>
            <p:ph type="body" idx="1"/>
          </p:nvPr>
        </p:nvSpPr>
        <p:spPr>
          <a:xfrm>
            <a:off x="311700" y="1307850"/>
            <a:ext cx="8520600" cy="35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 b="1"/>
              <a:t>Obtener todas las listas de un usuario (propietario o compartidas):</a:t>
            </a:r>
            <a:endParaRPr sz="17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db.collection("lists")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 .where("ownerEmail", "==", userEmail)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 .get()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db.collection("lists")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 .where("sharedWith", "array-contains", userEmail)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 .get()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Consultas</a:t>
            </a:r>
            <a:endParaRPr/>
          </a:p>
        </p:txBody>
      </p:sp>
      <p:sp>
        <p:nvSpPr>
          <p:cNvPr id="441" name="Google Shape;441;p6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 b="1"/>
              <a:t>Obtener productos de una lista:</a:t>
            </a:r>
            <a:endParaRPr sz="17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db.collection("items")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 .where("listId", "==", listId)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 .get()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Consultas </a:t>
            </a:r>
            <a:endParaRPr/>
          </a:p>
        </p:txBody>
      </p:sp>
      <p:sp>
        <p:nvSpPr>
          <p:cNvPr id="447" name="Google Shape;447;p6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58" b="1"/>
              <a:t>Mostrar observaciones de una lista:</a:t>
            </a:r>
            <a:endParaRPr sz="1358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db.collection("listObservations")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.where("listId", "==", listId)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.orderBy("updatedAt", "desc")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.get()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 b="1"/>
              <a:t>Mostrar pagos de una lista</a:t>
            </a:r>
            <a:endParaRPr sz="135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db.collection("</a:t>
            </a:r>
            <a:r>
              <a:rPr lang="es" sz="1157">
                <a:latin typeface="Roboto"/>
                <a:ea typeface="Roboto"/>
                <a:cs typeface="Roboto"/>
                <a:sym typeface="Roboto"/>
              </a:rPr>
              <a:t>listPayments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.where("listId", "==", listId)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.orderBy("updatedAt", "desc")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.get()</a:t>
            </a:r>
            <a:endParaRPr sz="1157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7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Interfaz de usuario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68" title="Screenshot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538" y="82563"/>
            <a:ext cx="6704924" cy="49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69" title="Screenshot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225" y="100925"/>
            <a:ext cx="6187551" cy="494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70" title="Screenshot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213" y="93450"/>
            <a:ext cx="6675574" cy="495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725" y="63213"/>
            <a:ext cx="4258549" cy="501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2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Mapa de navegación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73" title="Mapa conceptual.png"/>
          <p:cNvPicPr preferRelativeResize="0"/>
          <p:nvPr/>
        </p:nvPicPr>
        <p:blipFill rotWithShape="1">
          <a:blip r:embed="rId3">
            <a:alphaModFix/>
          </a:blip>
          <a:srcRect t="3746" b="3737"/>
          <a:stretch/>
        </p:blipFill>
        <p:spPr>
          <a:xfrm>
            <a:off x="2212962" y="94163"/>
            <a:ext cx="4718073" cy="4955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2409</Words>
  <Application>Microsoft Office PowerPoint</Application>
  <PresentationFormat>Presentación en pantalla (16:9)</PresentationFormat>
  <Paragraphs>347</Paragraphs>
  <Slides>60</Slides>
  <Notes>60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6" baseType="lpstr">
      <vt:lpstr>Roboto</vt:lpstr>
      <vt:lpstr>Arial</vt:lpstr>
      <vt:lpstr>Lato</vt:lpstr>
      <vt:lpstr>Montserrat</vt:lpstr>
      <vt:lpstr>Roboto Mono</vt:lpstr>
      <vt:lpstr>Focus</vt:lpstr>
      <vt:lpstr>BuyNote</vt:lpstr>
      <vt:lpstr>Índice</vt:lpstr>
      <vt:lpstr>Índice</vt:lpstr>
      <vt:lpstr>Índice</vt:lpstr>
      <vt:lpstr>Introducción</vt:lpstr>
      <vt:lpstr>Plan de viabilidad</vt:lpstr>
      <vt:lpstr>Necesidades actuales del mercado</vt:lpstr>
      <vt:lpstr>Competencia</vt:lpstr>
      <vt:lpstr>Competencia</vt:lpstr>
      <vt:lpstr>Competencia</vt:lpstr>
      <vt:lpstr>Competencia</vt:lpstr>
      <vt:lpstr>Valor diferencial de la app</vt:lpstr>
      <vt:lpstr>Plan de inversión</vt:lpstr>
      <vt:lpstr>Umbral de rentabilidad</vt:lpstr>
      <vt:lpstr>Plan de marketing</vt:lpstr>
      <vt:lpstr>Requisitos del sistema</vt:lpstr>
      <vt:lpstr>Requisitos de información</vt:lpstr>
      <vt:lpstr>Requisitos de información</vt:lpstr>
      <vt:lpstr>Requisitos de información</vt:lpstr>
      <vt:lpstr>Requisitos de información</vt:lpstr>
      <vt:lpstr>Requisitos de información</vt:lpstr>
      <vt:lpstr>Requisitos de información</vt:lpstr>
      <vt:lpstr>Requisitos funcionales</vt:lpstr>
      <vt:lpstr>Requisitos funcionales</vt:lpstr>
      <vt:lpstr>Requisitos funcionales</vt:lpstr>
      <vt:lpstr>Requisitos funcionales</vt:lpstr>
      <vt:lpstr>Requisitos funcionales</vt:lpstr>
      <vt:lpstr>Requisitos funcionales</vt:lpstr>
      <vt:lpstr>Casos de uso</vt:lpstr>
      <vt:lpstr>Casos de uso </vt:lpstr>
      <vt:lpstr>Casos de uso </vt:lpstr>
      <vt:lpstr>Modelo de datos</vt:lpstr>
      <vt:lpstr>Modelo conceptual</vt:lpstr>
      <vt:lpstr>Modelo conceptual </vt:lpstr>
      <vt:lpstr>Modelo conceptual</vt:lpstr>
      <vt:lpstr>Descripción de entidades</vt:lpstr>
      <vt:lpstr>Descripción de entidades</vt:lpstr>
      <vt:lpstr>Descripción de entidades</vt:lpstr>
      <vt:lpstr>Descripción de entidades</vt:lpstr>
      <vt:lpstr>Descripción de entidades</vt:lpstr>
      <vt:lpstr>Descripción de entidades</vt:lpstr>
      <vt:lpstr>Descripción de interrelaciones</vt:lpstr>
      <vt:lpstr>Descripción de interrelaciones</vt:lpstr>
      <vt:lpstr>Modelo lógico de datos</vt:lpstr>
      <vt:lpstr>Modelo lógico de datos</vt:lpstr>
      <vt:lpstr>Modelo lógico de datos</vt:lpstr>
      <vt:lpstr>Modelo lógico de datos</vt:lpstr>
      <vt:lpstr>Modelo lógico de datos</vt:lpstr>
      <vt:lpstr>Modelo lógico de datos</vt:lpstr>
      <vt:lpstr>Consultas</vt:lpstr>
      <vt:lpstr>Consultas</vt:lpstr>
      <vt:lpstr>Consultas</vt:lpstr>
      <vt:lpstr>Consultas </vt:lpstr>
      <vt:lpstr>Interfaz de usuario</vt:lpstr>
      <vt:lpstr>Presentación de PowerPoint</vt:lpstr>
      <vt:lpstr>Presentación de PowerPoint</vt:lpstr>
      <vt:lpstr>Presentación de PowerPoint</vt:lpstr>
      <vt:lpstr>Presentación de PowerPoint</vt:lpstr>
      <vt:lpstr>Mapa de navegación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Antonio Cordero</cp:lastModifiedBy>
  <cp:revision>2</cp:revision>
  <dcterms:modified xsi:type="dcterms:W3CDTF">2025-10-10T16:09:17Z</dcterms:modified>
</cp:coreProperties>
</file>