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6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</p:sldIdLst>
  <p:sldSz cx="9144000" cy="5143500" type="screen16x9"/>
  <p:notesSz cx="6858000" cy="9144000"/>
  <p:embeddedFontLst>
    <p:embeddedFont>
      <p:font typeface="Lato" panose="020F0502020204030203" pitchFamily="34" charset="0"/>
      <p:regular r:id="rId64"/>
      <p:bold r:id="rId65"/>
      <p:italic r:id="rId66"/>
      <p:boldItalic r:id="rId67"/>
    </p:embeddedFont>
    <p:embeddedFont>
      <p:font typeface="Montserrat" panose="00000500000000000000" pitchFamily="2" charset="0"/>
      <p:regular r:id="rId68"/>
      <p:bold r:id="rId69"/>
      <p:italic r:id="rId70"/>
      <p:boldItalic r:id="rId71"/>
    </p:embeddedFont>
    <p:embeddedFont>
      <p:font typeface="Roboto" panose="02000000000000000000" pitchFamily="2" charset="0"/>
      <p:regular r:id="rId72"/>
      <p:bold r:id="rId73"/>
      <p:italic r:id="rId74"/>
      <p:boldItalic r:id="rId75"/>
    </p:embeddedFont>
    <p:embeddedFont>
      <p:font typeface="Roboto Mono" panose="00000009000000000000" pitchFamily="49" charset="0"/>
      <p:regular r:id="rId76"/>
      <p:bold r:id="rId77"/>
      <p:italic r:id="rId78"/>
      <p:boldItalic r:id="rId7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38" d="100"/>
          <a:sy n="138" d="100"/>
        </p:scale>
        <p:origin x="834" y="12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notesMaster" Target="notesMasters/notesMaster1.xml"/><Relationship Id="rId68" Type="http://schemas.openxmlformats.org/officeDocument/2006/relationships/font" Target="fonts/font5.fntdata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font" Target="fonts/font11.fntdata"/><Relationship Id="rId79" Type="http://schemas.openxmlformats.org/officeDocument/2006/relationships/font" Target="fonts/font16.fntdata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font" Target="fonts/font1.fntdata"/><Relationship Id="rId69" Type="http://schemas.openxmlformats.org/officeDocument/2006/relationships/font" Target="fonts/font6.fntdata"/><Relationship Id="rId77" Type="http://schemas.openxmlformats.org/officeDocument/2006/relationships/font" Target="fonts/font14.fntdata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font" Target="fonts/font9.fntdata"/><Relationship Id="rId80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font" Target="fonts/font4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font" Target="fonts/font7.fntdata"/><Relationship Id="rId75" Type="http://schemas.openxmlformats.org/officeDocument/2006/relationships/font" Target="fonts/font12.fntdata"/><Relationship Id="rId83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font" Target="fonts/font2.fntdata"/><Relationship Id="rId73" Type="http://schemas.openxmlformats.org/officeDocument/2006/relationships/font" Target="fonts/font10.fntdata"/><Relationship Id="rId78" Type="http://schemas.openxmlformats.org/officeDocument/2006/relationships/font" Target="fonts/font15.fntdata"/><Relationship Id="rId8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font" Target="fonts/font13.fntdata"/><Relationship Id="rId7" Type="http://schemas.openxmlformats.org/officeDocument/2006/relationships/slide" Target="slides/slide6.xml"/><Relationship Id="rId71" Type="http://schemas.openxmlformats.org/officeDocument/2006/relationships/font" Target="fonts/font8.fntdata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4ca80ebf23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34ca80ebf23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87fc3b36c7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" name="Google Shape;145;g387fc3b36c7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387fc3b36c7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1" name="Google Shape;151;g387fc3b36c7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387fc3b36c7_0_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7" name="Google Shape;157;g387fc3b36c7_0_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34ca80ebf23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" name="Google Shape;163;g34ca80ebf23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87ccd45540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87ccd45540_0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387ccd45540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4" name="Google Shape;174;g387ccd45540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34ca80ebf23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" name="Google Shape;180;g34ca80ebf23_0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4ca80ebf23_0_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34ca80ebf23_0_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87ccd45540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2" name="Google Shape;192;g387ccd45540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387ccd45540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8" name="Google Shape;198;g387ccd45540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87ccd45540_0_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g387ccd45540_0_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387ccd45540_0_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387ccd45540_0_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87ccd45540_0_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g387ccd45540_0_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387ccd45540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2" name="Google Shape;222;g387ccd45540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387ccd45540_0_1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387ccd45540_0_1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g387ccd45540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3" name="Google Shape;233;g387ccd45540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g387ccd45540_0_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9" name="Google Shape;239;g387ccd45540_0_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g387ccd45540_0_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5" name="Google Shape;245;g387ccd45540_0_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387ccd45540_0_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1" name="Google Shape;251;g387ccd45540_0_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3896c714028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7" name="Google Shape;257;g3896c714028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387ccd45540_0_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387ccd45540_0_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g387ccd45540_0_1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9" name="Google Shape;269;g387ccd45540_0_1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g387ccd45540_0_1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5" name="Google Shape;275;g387ccd45540_0_10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g387ccd45540_0_1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1" name="Google Shape;281;g387ccd45540_0_1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g387ccd45540_0_1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7" name="Google Shape;287;g387ccd45540_0_1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387ccd45540_0_1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3" name="Google Shape;293;g387ccd45540_0_1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387ccd45540_0_1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387ccd45540_0_1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g387ccd45540_0_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5" name="Google Shape;305;g387ccd45540_0_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g387ccd45540_0_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1" name="Google Shape;311;g387ccd45540_0_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g387ccd45540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7" name="Google Shape;317;g387ccd45540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g387ccd45540_0_1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3" name="Google Shape;323;g387ccd45540_0_1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87ccd45540_0_1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387ccd45540_0_1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g387ccd45540_0_1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4" name="Google Shape;334;g387ccd45540_0_1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3896c714028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0" name="Google Shape;340;g3896c714028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g387ccd45540_0_2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6" name="Google Shape;346;g387ccd45540_0_2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g387ccd45540_0_1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1" name="Google Shape;351;g387ccd45540_0_1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g387ccd45540_0_2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7" name="Google Shape;357;g387ccd45540_0_2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387ccd45540_0_2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3" name="Google Shape;363;g387ccd45540_0_2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g387ccd45540_0_1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9" name="Google Shape;369;g387ccd45540_0_19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g3896c714028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5" name="Google Shape;375;g3896c714028_0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g387ccd45540_0_2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1" name="Google Shape;381;g387ccd45540_0_2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g387ccd45540_0_1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6" name="Google Shape;386;g387ccd45540_0_1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g387ccd45540_0_2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2" name="Google Shape;392;g387ccd45540_0_2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Google Shape;396;g387ccd45540_0_2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7" name="Google Shape;397;g387ccd45540_0_2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387ccd45540_0_2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g387ccd45540_0_2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Google Shape;408;g387ccd45540_0_2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9" name="Google Shape;409;g387ccd45540_0_2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387ccd45540_0_2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5" name="Google Shape;415;g387ccd45540_0_2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g3896c714028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1" name="Google Shape;421;g3896c714028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g387ccd45540_0_2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7" name="Google Shape;427;g387ccd45540_0_2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431;g387ccd45540_0_2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2" name="Google Shape;432;g387ccd45540_0_2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g387ccd45540_0_2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8" name="Google Shape;438;g387ccd45540_0_2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Google Shape;443;g387ccd45540_0_2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4" name="Google Shape;444;g387ccd45540_0_2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g387ccd45540_0_2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0" name="Google Shape;450;g387ccd45540_0_2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Google Shape;454;g387ccd45540_0_2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5" name="Google Shape;455;g387ccd45540_0_2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Google Shape;459;g387ccd45540_0_3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0" name="Google Shape;460;g387ccd45540_0_3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Google Shape;464;g387edecf516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5" name="Google Shape;465;g387edecf516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Google Shape;469;g387edecf51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0" name="Google Shape;470;g387edecf516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Google Shape;474;g387dbed02e7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5" name="Google Shape;475;g387dbed02e7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Google Shape;479;g387dbed02e7_0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0" name="Google Shape;480;g387dbed02e7_0_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 rot="5400000">
            <a:off x="7500300" y="505"/>
            <a:ext cx="1643700" cy="1643700"/>
          </a:xfrm>
          <a:prstGeom prst="diagStripe">
            <a:avLst>
              <a:gd name="adj" fmla="val 0"/>
            </a:avLst>
          </a:prstGeom>
          <a:solidFill>
            <a:schemeClr val="lt1">
              <a:alpha val="303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0" y="490"/>
            <a:ext cx="5153705" cy="5134399"/>
            <a:chOff x="0" y="75"/>
            <a:chExt cx="5153705" cy="5152950"/>
          </a:xfrm>
        </p:grpSpPr>
        <p:sp>
          <p:nvSpPr>
            <p:cNvPr id="12" name="Google Shape;12;p2"/>
            <p:cNvSpPr/>
            <p:nvPr/>
          </p:nvSpPr>
          <p:spPr>
            <a:xfrm rot="-5400000">
              <a:off x="455" y="-225"/>
              <a:ext cx="5152800" cy="51537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303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rot="-5400000">
              <a:off x="150" y="1145825"/>
              <a:ext cx="3996600" cy="3996900"/>
            </a:xfrm>
            <a:prstGeom prst="diagStripe">
              <a:avLst>
                <a:gd name="adj" fmla="val 58774"/>
              </a:avLst>
            </a:prstGeom>
            <a:solidFill>
              <a:schemeClr val="lt1">
                <a:alpha val="303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 rot="-5400000">
              <a:off x="1646" y="-75"/>
              <a:ext cx="2299800" cy="23001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 flipH="1">
              <a:off x="652821" y="590035"/>
              <a:ext cx="2300100" cy="2299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3537150" y="1578400"/>
            <a:ext cx="5017500" cy="15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5083950" y="3924925"/>
            <a:ext cx="3470700" cy="50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oogle Shape;20;p3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21" name="Google Shape;21;p3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name="adj" fmla="val 49469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22;p3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name="adj" fmla="val 0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23;p3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24;p3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25;p3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26;p3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27;p3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28;p3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29;p3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30;p3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31;p3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32;p3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33;p3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34;p3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35;p3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36;p3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37;p3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38;p3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9" name="Google Shape;39;p3"/>
          <p:cNvSpPr txBox="1">
            <a:spLocks noGrp="1"/>
          </p:cNvSpPr>
          <p:nvPr>
            <p:ph type="title"/>
          </p:nvPr>
        </p:nvSpPr>
        <p:spPr>
          <a:xfrm>
            <a:off x="823850" y="2053000"/>
            <a:ext cx="4587000" cy="1148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oogle Shape;42;p4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43" name="Google Shape;43;p4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44;p4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5" name="Google Shape;45;p4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6" name="Google Shape;46;p4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Google Shape;49;p5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50" name="Google Shape;50;p5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51;p5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2" name="Google Shape;52;p5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53" name="Google Shape;53;p5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34032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4" name="Google Shape;54;p5"/>
          <p:cNvSpPr txBox="1">
            <a:spLocks noGrp="1"/>
          </p:cNvSpPr>
          <p:nvPr>
            <p:ph type="body" idx="2"/>
          </p:nvPr>
        </p:nvSpPr>
        <p:spPr>
          <a:xfrm>
            <a:off x="4933221" y="1567550"/>
            <a:ext cx="34032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5" name="Google Shape;55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Google Shape;57;p6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58" name="Google Shape;58;p6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6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0" name="Google Shape;60;p6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1" name="Google Shape;61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Google Shape;63;p7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64" name="Google Shape;64;p7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65;p7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6" name="Google Shape;66;p7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3798900" cy="149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7" name="Google Shape;67;p7"/>
          <p:cNvSpPr txBox="1">
            <a:spLocks noGrp="1"/>
          </p:cNvSpPr>
          <p:nvPr>
            <p:ph type="body" idx="1"/>
          </p:nvPr>
        </p:nvSpPr>
        <p:spPr>
          <a:xfrm>
            <a:off x="1297500" y="1972550"/>
            <a:ext cx="3798900" cy="241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68" name="Google Shape;68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Google Shape;70;p8"/>
          <p:cNvGrpSpPr/>
          <p:nvPr/>
        </p:nvGrpSpPr>
        <p:grpSpPr>
          <a:xfrm>
            <a:off x="4406400" y="0"/>
            <a:ext cx="4737600" cy="5143500"/>
            <a:chOff x="4406400" y="0"/>
            <a:chExt cx="4737600" cy="5143500"/>
          </a:xfrm>
        </p:grpSpPr>
        <p:sp>
          <p:nvSpPr>
            <p:cNvPr id="71" name="Google Shape;71;p8"/>
            <p:cNvSpPr/>
            <p:nvPr/>
          </p:nvSpPr>
          <p:spPr>
            <a:xfrm rot="5400000">
              <a:off x="4407900" y="-1500"/>
              <a:ext cx="4734600" cy="4737600"/>
            </a:xfrm>
            <a:prstGeom prst="diagStripe">
              <a:avLst>
                <a:gd name="adj" fmla="val 49469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Google Shape;72;p8"/>
            <p:cNvSpPr/>
            <p:nvPr/>
          </p:nvSpPr>
          <p:spPr>
            <a:xfrm rot="5400000">
              <a:off x="4840825" y="6000"/>
              <a:ext cx="4298700" cy="4286700"/>
            </a:xfrm>
            <a:prstGeom prst="diagStripe">
              <a:avLst>
                <a:gd name="adj" fmla="val 0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Google Shape;73;p8"/>
            <p:cNvSpPr/>
            <p:nvPr/>
          </p:nvSpPr>
          <p:spPr>
            <a:xfrm rot="-5400000">
              <a:off x="5618399" y="123664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Google Shape;74;p8"/>
            <p:cNvSpPr/>
            <p:nvPr/>
          </p:nvSpPr>
          <p:spPr>
            <a:xfrm flipH="1">
              <a:off x="5849857" y="144407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Google Shape;75;p8"/>
            <p:cNvSpPr/>
            <p:nvPr/>
          </p:nvSpPr>
          <p:spPr>
            <a:xfrm rot="-5400000">
              <a:off x="5987081" y="246974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76;p8"/>
            <p:cNvSpPr/>
            <p:nvPr/>
          </p:nvSpPr>
          <p:spPr>
            <a:xfrm flipH="1">
              <a:off x="6222115" y="267717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Google Shape;77;p8"/>
            <p:cNvSpPr/>
            <p:nvPr/>
          </p:nvSpPr>
          <p:spPr>
            <a:xfrm rot="-5400000">
              <a:off x="6675341" y="1862244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78;p8"/>
            <p:cNvSpPr/>
            <p:nvPr/>
          </p:nvSpPr>
          <p:spPr>
            <a:xfrm flipH="1">
              <a:off x="6908099" y="206968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Google Shape;79;p8"/>
            <p:cNvSpPr/>
            <p:nvPr/>
          </p:nvSpPr>
          <p:spPr>
            <a:xfrm rot="-5400000">
              <a:off x="6861141" y="247808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Google Shape;80;p8"/>
            <p:cNvSpPr/>
            <p:nvPr/>
          </p:nvSpPr>
          <p:spPr>
            <a:xfrm flipH="1">
              <a:off x="7965266" y="269319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Google Shape;81;p8"/>
            <p:cNvSpPr/>
            <p:nvPr/>
          </p:nvSpPr>
          <p:spPr>
            <a:xfrm flipH="1">
              <a:off x="8145082" y="3309036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Google Shape;82;p8"/>
            <p:cNvSpPr/>
            <p:nvPr/>
          </p:nvSpPr>
          <p:spPr>
            <a:xfrm rot="-5400000">
              <a:off x="7047599" y="309534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Google Shape;83;p8"/>
            <p:cNvSpPr/>
            <p:nvPr/>
          </p:nvSpPr>
          <p:spPr>
            <a:xfrm flipH="1">
              <a:off x="7276649" y="330278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Google Shape;84;p8"/>
            <p:cNvSpPr/>
            <p:nvPr/>
          </p:nvSpPr>
          <p:spPr>
            <a:xfrm rot="-5400000">
              <a:off x="7227414" y="37111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Google Shape;85;p8"/>
            <p:cNvSpPr/>
            <p:nvPr/>
          </p:nvSpPr>
          <p:spPr>
            <a:xfrm flipH="1">
              <a:off x="7462448" y="391862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Google Shape;86;p8"/>
            <p:cNvSpPr/>
            <p:nvPr/>
          </p:nvSpPr>
          <p:spPr>
            <a:xfrm rot="-5400000">
              <a:off x="8102491" y="3718856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Google Shape;87;p8"/>
            <p:cNvSpPr/>
            <p:nvPr/>
          </p:nvSpPr>
          <p:spPr>
            <a:xfrm flipH="1">
              <a:off x="8334533" y="3926292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Google Shape;88;p8"/>
            <p:cNvSpPr/>
            <p:nvPr/>
          </p:nvSpPr>
          <p:spPr>
            <a:xfrm rot="-5400000">
              <a:off x="8288290" y="433470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9" name="Google Shape;89;p8"/>
          <p:cNvSpPr txBox="1">
            <a:spLocks noGrp="1"/>
          </p:cNvSpPr>
          <p:nvPr>
            <p:ph type="title"/>
          </p:nvPr>
        </p:nvSpPr>
        <p:spPr>
          <a:xfrm>
            <a:off x="823850" y="866775"/>
            <a:ext cx="4587000" cy="3521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" name="Google Shape;92;p9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93" name="Google Shape;93;p9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" name="Google Shape;94;p9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5" name="Google Shape;95;p9"/>
          <p:cNvSpPr txBox="1">
            <a:spLocks noGrp="1"/>
          </p:cNvSpPr>
          <p:nvPr>
            <p:ph type="title"/>
          </p:nvPr>
        </p:nvSpPr>
        <p:spPr>
          <a:xfrm>
            <a:off x="1297500" y="1658325"/>
            <a:ext cx="3036300" cy="175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96" name="Google Shape;96;p9"/>
          <p:cNvSpPr txBox="1">
            <a:spLocks noGrp="1"/>
          </p:cNvSpPr>
          <p:nvPr>
            <p:ph type="subTitle" idx="1"/>
          </p:nvPr>
        </p:nvSpPr>
        <p:spPr>
          <a:xfrm>
            <a:off x="1297500" y="3538000"/>
            <a:ext cx="3036300" cy="50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97" name="Google Shape;97;p9"/>
          <p:cNvSpPr txBox="1">
            <a:spLocks noGrp="1"/>
          </p:cNvSpPr>
          <p:nvPr>
            <p:ph type="body" idx="2"/>
          </p:nvPr>
        </p:nvSpPr>
        <p:spPr>
          <a:xfrm>
            <a:off x="4648200" y="1696600"/>
            <a:ext cx="3676800" cy="2347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98" name="Google Shape;98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oogle Shape;100;p10"/>
          <p:cNvGrpSpPr/>
          <p:nvPr/>
        </p:nvGrpSpPr>
        <p:grpSpPr>
          <a:xfrm>
            <a:off x="0" y="4128572"/>
            <a:ext cx="698925" cy="684657"/>
            <a:chOff x="0" y="3785672"/>
            <a:chExt cx="698925" cy="684657"/>
          </a:xfrm>
        </p:grpSpPr>
        <p:sp>
          <p:nvSpPr>
            <p:cNvPr id="101" name="Google Shape;101;p10"/>
            <p:cNvSpPr/>
            <p:nvPr/>
          </p:nvSpPr>
          <p:spPr>
            <a:xfrm rot="-5400000">
              <a:off x="0" y="3785672"/>
              <a:ext cx="544800" cy="544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962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Google Shape;102;p10"/>
            <p:cNvSpPr/>
            <p:nvPr/>
          </p:nvSpPr>
          <p:spPr>
            <a:xfrm flipH="1">
              <a:off x="154125" y="3925529"/>
              <a:ext cx="544800" cy="544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962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3" name="Google Shape;103;p10"/>
          <p:cNvSpPr txBox="1">
            <a:spLocks noGrp="1"/>
          </p:cNvSpPr>
          <p:nvPr>
            <p:ph type="body" idx="1"/>
          </p:nvPr>
        </p:nvSpPr>
        <p:spPr>
          <a:xfrm>
            <a:off x="812725" y="4305375"/>
            <a:ext cx="6936000" cy="523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>
            <a:endParaRPr/>
          </a:p>
        </p:txBody>
      </p:sp>
      <p:sp>
        <p:nvSpPr>
          <p:cNvPr id="104" name="Google Shape;104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6" name="Google Shape;106;p11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107" name="Google Shape;107;p11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name="adj" fmla="val 49469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Google Shape;108;p11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name="adj" fmla="val 0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" name="Google Shape;109;p11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" name="Google Shape;110;p11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" name="Google Shape;111;p11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" name="Google Shape;112;p11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Google Shape;113;p11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" name="Google Shape;114;p11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" name="Google Shape;115;p11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" name="Google Shape;116;p11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" name="Google Shape;117;p11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" name="Google Shape;118;p11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" name="Google Shape;119;p11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" name="Google Shape;120;p11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" name="Google Shape;121;p11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" name="Google Shape;122;p11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Google Shape;123;p11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" name="Google Shape;124;p11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25" name="Google Shape;125;p11"/>
          <p:cNvSpPr txBox="1">
            <a:spLocks noGrp="1"/>
          </p:cNvSpPr>
          <p:nvPr>
            <p:ph type="title" hasCustomPrompt="1"/>
          </p:nvPr>
        </p:nvSpPr>
        <p:spPr>
          <a:xfrm>
            <a:off x="823850" y="1284675"/>
            <a:ext cx="47760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2pPr>
            <a:lvl3pPr lvl="2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3pPr>
            <a:lvl4pPr lvl="3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4pPr>
            <a:lvl5pPr lvl="4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5pPr>
            <a:lvl6pPr lvl="5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6pPr>
            <a:lvl7pPr lvl="6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7pPr>
            <a:lvl8pPr lvl="7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8pPr>
            <a:lvl9pPr lvl="8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9pPr>
          </a:lstStyle>
          <a:p>
            <a:r>
              <a:t>xx%</a:t>
            </a:r>
          </a:p>
        </p:txBody>
      </p:sp>
      <p:sp>
        <p:nvSpPr>
          <p:cNvPr id="126" name="Google Shape;126;p11"/>
          <p:cNvSpPr txBox="1">
            <a:spLocks noGrp="1"/>
          </p:cNvSpPr>
          <p:nvPr>
            <p:ph type="body" idx="1"/>
          </p:nvPr>
        </p:nvSpPr>
        <p:spPr>
          <a:xfrm>
            <a:off x="823850" y="2643124"/>
            <a:ext cx="4776000" cy="121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127" name="Google Shape;12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focus">
    <p:bg>
      <p:bgPr>
        <a:solidFill>
          <a:schemeClr val="dk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Lato"/>
              <a:buChar char="●"/>
              <a:defRPr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lvl="1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lvl="2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lvl="3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lvl="4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lvl="5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lvl="6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lvl="7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lvl="8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" Target="slide6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slide" Target="slide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" Target="slide17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slide" Target="slide3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" Target="slide55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3"/>
          <p:cNvSpPr txBox="1">
            <a:spLocks noGrp="1"/>
          </p:cNvSpPr>
          <p:nvPr>
            <p:ph type="ctrTitle"/>
          </p:nvPr>
        </p:nvSpPr>
        <p:spPr>
          <a:xfrm>
            <a:off x="311700" y="67275"/>
            <a:ext cx="8520600" cy="8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BuyNote</a:t>
            </a:r>
            <a:endParaRPr/>
          </a:p>
        </p:txBody>
      </p:sp>
      <p:sp>
        <p:nvSpPr>
          <p:cNvPr id="135" name="Google Shape;135;p13"/>
          <p:cNvSpPr txBox="1">
            <a:spLocks noGrp="1"/>
          </p:cNvSpPr>
          <p:nvPr>
            <p:ph type="subTitle" idx="1"/>
          </p:nvPr>
        </p:nvSpPr>
        <p:spPr>
          <a:xfrm>
            <a:off x="311700" y="4350900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dirty="0"/>
              <a:t>Antonio Cordero Serrano 2º CFGS DAM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dirty="0"/>
              <a:t>Creación de la presentación: 10/10/2025</a:t>
            </a:r>
            <a:endParaRPr dirty="0"/>
          </a:p>
        </p:txBody>
      </p:sp>
      <p:pic>
        <p:nvPicPr>
          <p:cNvPr id="136" name="Google Shape;136;p13" title="BuyNote__1_-removebg-preview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01838" y="1058175"/>
            <a:ext cx="3140325" cy="3140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4"/>
          <p:cNvSpPr txBox="1">
            <a:spLocks noGrp="1"/>
          </p:cNvSpPr>
          <p:nvPr>
            <p:ph type="title"/>
          </p:nvPr>
        </p:nvSpPr>
        <p:spPr>
          <a:xfrm>
            <a:off x="727650" y="563575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Índice</a:t>
            </a:r>
            <a:endParaRPr/>
          </a:p>
        </p:txBody>
      </p:sp>
      <p:sp>
        <p:nvSpPr>
          <p:cNvPr id="142" name="Google Shape;142;p14"/>
          <p:cNvSpPr txBox="1">
            <a:spLocks noGrp="1"/>
          </p:cNvSpPr>
          <p:nvPr>
            <p:ph type="body" idx="1"/>
          </p:nvPr>
        </p:nvSpPr>
        <p:spPr>
          <a:xfrm>
            <a:off x="311700" y="1248500"/>
            <a:ext cx="8520600" cy="356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20000"/>
          </a:bodyPr>
          <a:lstStyle/>
          <a:p>
            <a:pPr marL="457200" lvl="0" indent="-406400" algn="l" rtl="0">
              <a:spcBef>
                <a:spcPts val="0"/>
              </a:spcBef>
              <a:spcAft>
                <a:spcPts val="0"/>
              </a:spcAft>
              <a:buSzPts val="2800"/>
              <a:buChar char="●"/>
            </a:pPr>
            <a:r>
              <a:rPr lang="es" sz="2800" b="1" baseline="-25000">
                <a:uFill>
                  <a:noFill/>
                </a:uFill>
                <a:hlinkClick r:id="rId3" action="ppaction://hlinksldjump"/>
              </a:rPr>
              <a:t>Introducción </a:t>
            </a:r>
            <a:r>
              <a:rPr lang="es" sz="2800" b="1" baseline="-25000"/>
              <a:t>(6)</a:t>
            </a:r>
            <a:endParaRPr sz="2800" b="1" baseline="-25000"/>
          </a:p>
          <a:p>
            <a:pPr marL="457200" lvl="0" indent="-406400" algn="l" rtl="0">
              <a:spcBef>
                <a:spcPts val="0"/>
              </a:spcBef>
              <a:spcAft>
                <a:spcPts val="0"/>
              </a:spcAft>
              <a:buSzPts val="2800"/>
              <a:buChar char="●"/>
            </a:pPr>
            <a:r>
              <a:rPr lang="es" sz="2800" b="1" baseline="-25000">
                <a:uFill>
                  <a:noFill/>
                </a:uFill>
                <a:hlinkClick r:id="rId4" action="ppaction://hlinksldjump"/>
              </a:rPr>
              <a:t>Plan de viabilidad</a:t>
            </a:r>
            <a:r>
              <a:rPr lang="es" sz="2800" b="1" baseline="-25000"/>
              <a:t> (7 - 16)</a:t>
            </a:r>
            <a:endParaRPr sz="2800" b="1" baseline="-25000"/>
          </a:p>
          <a:p>
            <a:pPr marL="914400" lvl="1" indent="-406400" algn="l" rtl="0">
              <a:spcBef>
                <a:spcPts val="0"/>
              </a:spcBef>
              <a:spcAft>
                <a:spcPts val="0"/>
              </a:spcAft>
              <a:buSzPts val="2800"/>
              <a:buChar char="○"/>
            </a:pPr>
            <a:r>
              <a:rPr lang="es" sz="2800" baseline="-25000"/>
              <a:t>Necesidades actuales del mercado (8)</a:t>
            </a:r>
            <a:endParaRPr sz="2800" baseline="-25000"/>
          </a:p>
          <a:p>
            <a:pPr marL="914400" lvl="1" indent="-406400" algn="l" rtl="0">
              <a:spcBef>
                <a:spcPts val="0"/>
              </a:spcBef>
              <a:spcAft>
                <a:spcPts val="0"/>
              </a:spcAft>
              <a:buSzPts val="2800"/>
              <a:buChar char="○"/>
            </a:pPr>
            <a:r>
              <a:rPr lang="es" sz="2800" baseline="-25000"/>
              <a:t>Competencia (9 - 12)</a:t>
            </a:r>
            <a:endParaRPr sz="2800" baseline="-25000"/>
          </a:p>
          <a:p>
            <a:pPr marL="914400" lvl="1" indent="-406400" algn="l" rtl="0">
              <a:spcBef>
                <a:spcPts val="0"/>
              </a:spcBef>
              <a:spcAft>
                <a:spcPts val="0"/>
              </a:spcAft>
              <a:buSzPts val="2800"/>
              <a:buChar char="○"/>
            </a:pPr>
            <a:r>
              <a:rPr lang="es" sz="2800" baseline="-25000"/>
              <a:t>Valor diferencial de la app (13)</a:t>
            </a:r>
            <a:endParaRPr sz="2800" baseline="-25000"/>
          </a:p>
          <a:p>
            <a:pPr marL="914400" lvl="1" indent="-406400" algn="l" rtl="0">
              <a:spcBef>
                <a:spcPts val="0"/>
              </a:spcBef>
              <a:spcAft>
                <a:spcPts val="0"/>
              </a:spcAft>
              <a:buSzPts val="2800"/>
              <a:buChar char="○"/>
            </a:pPr>
            <a:r>
              <a:rPr lang="es" sz="2800" baseline="-25000"/>
              <a:t>Plan de inversión (14)</a:t>
            </a:r>
            <a:endParaRPr sz="2800" baseline="-25000"/>
          </a:p>
          <a:p>
            <a:pPr marL="914400" lvl="1" indent="-406400" algn="l" rtl="0">
              <a:spcBef>
                <a:spcPts val="0"/>
              </a:spcBef>
              <a:spcAft>
                <a:spcPts val="0"/>
              </a:spcAft>
              <a:buSzPts val="2800"/>
              <a:buChar char="○"/>
            </a:pPr>
            <a:r>
              <a:rPr lang="es" sz="2800" baseline="-25000"/>
              <a:t>Umbral de rentabilidad (15)</a:t>
            </a:r>
            <a:endParaRPr sz="2800" baseline="-25000"/>
          </a:p>
          <a:p>
            <a:pPr marL="914400" lvl="1" indent="-406400" algn="l" rtl="0">
              <a:spcBef>
                <a:spcPts val="0"/>
              </a:spcBef>
              <a:spcAft>
                <a:spcPts val="0"/>
              </a:spcAft>
              <a:buSzPts val="2800"/>
              <a:buChar char="○"/>
            </a:pPr>
            <a:r>
              <a:rPr lang="es" sz="2800" baseline="-25000"/>
              <a:t>Plan de marketing (16)</a:t>
            </a:r>
            <a:endParaRPr sz="2800" baseline="-2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5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Índice</a:t>
            </a:r>
            <a:endParaRPr/>
          </a:p>
        </p:txBody>
      </p:sp>
      <p:sp>
        <p:nvSpPr>
          <p:cNvPr id="148" name="Google Shape;148;p15"/>
          <p:cNvSpPr txBox="1">
            <a:spLocks noGrp="1"/>
          </p:cNvSpPr>
          <p:nvPr>
            <p:ph type="body" idx="1"/>
          </p:nvPr>
        </p:nvSpPr>
        <p:spPr>
          <a:xfrm>
            <a:off x="311700" y="1051725"/>
            <a:ext cx="8520600" cy="418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457200" lvl="0" indent="-393065" algn="l" rtl="0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s" sz="2800" b="1" baseline="-25000">
                <a:uFill>
                  <a:noFill/>
                </a:uFill>
                <a:hlinkClick r:id="rId3" action="ppaction://hlinksldjump"/>
              </a:rPr>
              <a:t>Requisitos del sistema</a:t>
            </a:r>
            <a:r>
              <a:rPr lang="es" sz="2800" b="1" baseline="-25000"/>
              <a:t> (17 - 31)</a:t>
            </a:r>
            <a:endParaRPr sz="2800" b="1" baseline="-25000"/>
          </a:p>
          <a:p>
            <a:pPr marL="914400" lvl="1" indent="-393065" algn="l" rtl="0"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es" sz="2800" baseline="-25000"/>
              <a:t>Requisitos de información (18 - 22)</a:t>
            </a:r>
            <a:endParaRPr sz="2800" baseline="-25000"/>
          </a:p>
          <a:p>
            <a:pPr marL="914400" lvl="1" indent="-393065" algn="l" rtl="0"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es" sz="2800" baseline="-25000"/>
              <a:t>Requisitos funcionales (23 - 28)</a:t>
            </a:r>
            <a:endParaRPr sz="2800" baseline="-25000"/>
          </a:p>
          <a:p>
            <a:pPr marL="914400" lvl="1" indent="-393065" algn="l" rtl="0"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es" sz="2800" baseline="-25000"/>
              <a:t>Casos de uso (29 - 31)</a:t>
            </a:r>
            <a:endParaRPr sz="2800" baseline="-25000"/>
          </a:p>
          <a:p>
            <a:pPr marL="457200" lvl="0" indent="-393065" algn="l" rtl="0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s" sz="2800" b="1" baseline="-25000">
                <a:uFill>
                  <a:noFill/>
                </a:uFill>
                <a:hlinkClick r:id="rId4" action="ppaction://hlinksldjump"/>
              </a:rPr>
              <a:t>Modelo de datos</a:t>
            </a:r>
            <a:r>
              <a:rPr lang="es" sz="2800" b="1" baseline="-25000"/>
              <a:t> (33 - 53)</a:t>
            </a:r>
            <a:endParaRPr sz="2800" b="1" baseline="-25000"/>
          </a:p>
          <a:p>
            <a:pPr marL="914400" lvl="1" indent="-393065" algn="l" rtl="0"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es" sz="2800" baseline="-25000"/>
              <a:t>Modelo conceptual (34 - 36)</a:t>
            </a:r>
            <a:endParaRPr sz="2800" baseline="-25000"/>
          </a:p>
          <a:p>
            <a:pPr marL="1371600" lvl="2" indent="-393064" algn="l" rtl="0">
              <a:spcBef>
                <a:spcPts val="0"/>
              </a:spcBef>
              <a:spcAft>
                <a:spcPts val="0"/>
              </a:spcAft>
              <a:buSzPct val="100000"/>
              <a:buChar char="■"/>
            </a:pPr>
            <a:r>
              <a:rPr lang="es" sz="2800" baseline="-25000"/>
              <a:t>Descripción de entidades (37 - 42)</a:t>
            </a:r>
            <a:endParaRPr sz="2800" baseline="-25000"/>
          </a:p>
          <a:p>
            <a:pPr marL="1371600" lvl="2" indent="-393064" algn="l" rtl="0">
              <a:spcBef>
                <a:spcPts val="0"/>
              </a:spcBef>
              <a:spcAft>
                <a:spcPts val="0"/>
              </a:spcAft>
              <a:buSzPct val="100000"/>
              <a:buChar char="■"/>
            </a:pPr>
            <a:r>
              <a:rPr lang="es" sz="2800" baseline="-25000"/>
              <a:t>Descripción de interrelacionales (43 - 44)</a:t>
            </a:r>
            <a:endParaRPr sz="2800" baseline="-25000"/>
          </a:p>
          <a:p>
            <a:pPr marL="914400" lvl="1" indent="-393065" algn="l" rtl="0"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es" sz="2800" baseline="-25000"/>
              <a:t>Modelo lógico de datos (45 - 50)</a:t>
            </a:r>
            <a:endParaRPr sz="2800" baseline="-25000"/>
          </a:p>
          <a:p>
            <a:pPr marL="914400" lvl="1" indent="-393065" algn="l" rtl="0"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es" sz="2800" baseline="-25000"/>
              <a:t>Consultas (51 - 54)</a:t>
            </a:r>
            <a:endParaRPr sz="2800" baseline="-250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16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Índice</a:t>
            </a:r>
            <a:endParaRPr/>
          </a:p>
        </p:txBody>
      </p:sp>
      <p:sp>
        <p:nvSpPr>
          <p:cNvPr id="154" name="Google Shape;154;p16"/>
          <p:cNvSpPr txBox="1">
            <a:spLocks noGrp="1"/>
          </p:cNvSpPr>
          <p:nvPr>
            <p:ph type="body" idx="1"/>
          </p:nvPr>
        </p:nvSpPr>
        <p:spPr>
          <a:xfrm>
            <a:off x="311700" y="939575"/>
            <a:ext cx="8520600" cy="3940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425450" algn="l" rtl="0">
              <a:spcBef>
                <a:spcPts val="0"/>
              </a:spcBef>
              <a:spcAft>
                <a:spcPts val="0"/>
              </a:spcAft>
              <a:buSzPts val="3100"/>
              <a:buChar char="●"/>
            </a:pPr>
            <a:r>
              <a:rPr lang="es" sz="3100" b="1" baseline="-25000">
                <a:uFill>
                  <a:noFill/>
                </a:uFill>
                <a:hlinkClick r:id="rId3" action="ppaction://hlinksldjump"/>
              </a:rPr>
              <a:t>Interfaz de usuario</a:t>
            </a:r>
            <a:r>
              <a:rPr lang="es" sz="3100" b="1" baseline="-25000"/>
              <a:t> (55 - 61)</a:t>
            </a:r>
            <a:endParaRPr sz="3100" b="1" baseline="-25000"/>
          </a:p>
          <a:p>
            <a:pPr marL="914400" lvl="1" indent="-425450" algn="l" rtl="0">
              <a:spcBef>
                <a:spcPts val="0"/>
              </a:spcBef>
              <a:spcAft>
                <a:spcPts val="0"/>
              </a:spcAft>
              <a:buSzPts val="3100"/>
              <a:buChar char="○"/>
            </a:pPr>
            <a:r>
              <a:rPr lang="es" sz="3100" baseline="-25000"/>
              <a:t>Definición de pantallas (Figma) (56 - 59)</a:t>
            </a:r>
            <a:endParaRPr sz="3100" baseline="-25000"/>
          </a:p>
          <a:p>
            <a:pPr marL="914400" lvl="1" indent="-425450" algn="l" rtl="0">
              <a:spcBef>
                <a:spcPts val="0"/>
              </a:spcBef>
              <a:spcAft>
                <a:spcPts val="0"/>
              </a:spcAft>
              <a:buSzPts val="3100"/>
              <a:buChar char="○"/>
            </a:pPr>
            <a:r>
              <a:rPr lang="es" sz="3100" baseline="-25000"/>
              <a:t>Mapa de navegación (60 - 61)</a:t>
            </a:r>
            <a:endParaRPr sz="3100" baseline="-25000"/>
          </a:p>
          <a:p>
            <a:pPr marL="457200" lvl="0" indent="-425450" algn="l" rtl="0">
              <a:spcBef>
                <a:spcPts val="0"/>
              </a:spcBef>
              <a:spcAft>
                <a:spcPts val="0"/>
              </a:spcAft>
              <a:buSzPts val="3100"/>
              <a:buChar char="●"/>
            </a:pPr>
            <a:r>
              <a:rPr lang="es" sz="3100" b="1" baseline="-25000">
                <a:uFill>
                  <a:noFill/>
                </a:uFill>
                <a:hlinkClick r:id="" action="ppaction://noaction"/>
              </a:rPr>
              <a:t>Desarrollo del proyecto del sistema</a:t>
            </a:r>
            <a:r>
              <a:rPr lang="es" sz="3100" b="1" baseline="-25000"/>
              <a:t> (62 - 66)</a:t>
            </a:r>
            <a:endParaRPr sz="3100" b="1" baseline="-25000"/>
          </a:p>
          <a:p>
            <a:pPr marL="914400" lvl="1" indent="-425450" algn="l" rtl="0">
              <a:spcBef>
                <a:spcPts val="0"/>
              </a:spcBef>
              <a:spcAft>
                <a:spcPts val="0"/>
              </a:spcAft>
              <a:buSzPts val="3100"/>
              <a:buChar char="○"/>
            </a:pPr>
            <a:r>
              <a:rPr lang="es" sz="3100" baseline="-25000"/>
              <a:t>Fase 1: Funcionalidades a desarrollar y plan de pruebas (63 - 64)</a:t>
            </a:r>
            <a:endParaRPr sz="3100" baseline="-25000"/>
          </a:p>
          <a:p>
            <a:pPr marL="914400" lvl="1" indent="-425450" algn="l" rtl="0">
              <a:spcBef>
                <a:spcPts val="0"/>
              </a:spcBef>
              <a:spcAft>
                <a:spcPts val="0"/>
              </a:spcAft>
              <a:buSzPts val="3100"/>
              <a:buChar char="○"/>
            </a:pPr>
            <a:r>
              <a:rPr lang="es" sz="3100" baseline="-25000"/>
              <a:t>Fase N: Funcionalidades a desarrollar y plan de pruebas (65 - 66)</a:t>
            </a:r>
            <a:endParaRPr sz="3100" baseline="-250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17"/>
          <p:cNvSpPr txBox="1">
            <a:spLocks noGrp="1"/>
          </p:cNvSpPr>
          <p:nvPr>
            <p:ph type="title"/>
          </p:nvPr>
        </p:nvSpPr>
        <p:spPr>
          <a:xfrm>
            <a:off x="727650" y="578525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Índice</a:t>
            </a:r>
            <a:endParaRPr/>
          </a:p>
        </p:txBody>
      </p:sp>
      <p:sp>
        <p:nvSpPr>
          <p:cNvPr id="160" name="Google Shape;160;p17"/>
          <p:cNvSpPr txBox="1">
            <a:spLocks noGrp="1"/>
          </p:cNvSpPr>
          <p:nvPr>
            <p:ph type="body" idx="1"/>
          </p:nvPr>
        </p:nvSpPr>
        <p:spPr>
          <a:xfrm>
            <a:off x="311700" y="1285875"/>
            <a:ext cx="8520600" cy="352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406400" algn="l" rtl="0">
              <a:spcBef>
                <a:spcPts val="0"/>
              </a:spcBef>
              <a:spcAft>
                <a:spcPts val="0"/>
              </a:spcAft>
              <a:buSzPts val="2800"/>
              <a:buChar char="●"/>
            </a:pPr>
            <a:r>
              <a:rPr lang="es" sz="2800" b="1" baseline="-25000">
                <a:uFill>
                  <a:noFill/>
                </a:uFill>
                <a:hlinkClick r:id="" action="ppaction://noaction"/>
              </a:rPr>
              <a:t>Información para el cliente</a:t>
            </a:r>
            <a:r>
              <a:rPr lang="es" sz="2800" b="1" baseline="-25000"/>
              <a:t> (67 - 75)</a:t>
            </a:r>
            <a:endParaRPr sz="2800" b="1" baseline="-25000"/>
          </a:p>
          <a:p>
            <a:pPr marL="914400" lvl="1" indent="-406400" algn="l" rtl="0">
              <a:spcBef>
                <a:spcPts val="0"/>
              </a:spcBef>
              <a:spcAft>
                <a:spcPts val="0"/>
              </a:spcAft>
              <a:buSzPts val="2800"/>
              <a:buChar char="○"/>
            </a:pPr>
            <a:r>
              <a:rPr lang="es" sz="2800" baseline="-25000"/>
              <a:t>Requisitos físicos y de hardware (68)</a:t>
            </a:r>
            <a:endParaRPr sz="2800" baseline="-25000"/>
          </a:p>
          <a:p>
            <a:pPr marL="914400" lvl="1" indent="-406400" algn="l" rtl="0">
              <a:spcBef>
                <a:spcPts val="0"/>
              </a:spcBef>
              <a:spcAft>
                <a:spcPts val="0"/>
              </a:spcAft>
              <a:buSzPts val="2800"/>
              <a:buChar char="○"/>
            </a:pPr>
            <a:r>
              <a:rPr lang="es" sz="2800" baseline="-25000"/>
              <a:t>Requisitos software (69)</a:t>
            </a:r>
            <a:endParaRPr sz="2800" baseline="-25000"/>
          </a:p>
          <a:p>
            <a:pPr marL="914400" lvl="1" indent="-406400" algn="l" rtl="0">
              <a:spcBef>
                <a:spcPts val="0"/>
              </a:spcBef>
              <a:spcAft>
                <a:spcPts val="0"/>
              </a:spcAft>
              <a:buSzPts val="2800"/>
              <a:buChar char="○"/>
            </a:pPr>
            <a:r>
              <a:rPr lang="es" sz="2800" baseline="-25000"/>
              <a:t>Manual de instalación, configuración y administración (70 - 72)</a:t>
            </a:r>
            <a:endParaRPr sz="2800" baseline="-25000"/>
          </a:p>
          <a:p>
            <a:pPr marL="914400" lvl="1" indent="-406400" algn="l" rtl="0">
              <a:spcBef>
                <a:spcPts val="0"/>
              </a:spcBef>
              <a:spcAft>
                <a:spcPts val="0"/>
              </a:spcAft>
              <a:buSzPts val="2800"/>
              <a:buChar char="○"/>
            </a:pPr>
            <a:r>
              <a:rPr lang="es" sz="2800" baseline="-25000"/>
              <a:t>Manual de usuario (73 - 75)</a:t>
            </a:r>
            <a:endParaRPr sz="2800" baseline="-25000"/>
          </a:p>
          <a:p>
            <a:pPr marL="457200" lvl="0" indent="-406400" algn="l" rtl="0">
              <a:spcBef>
                <a:spcPts val="0"/>
              </a:spcBef>
              <a:spcAft>
                <a:spcPts val="0"/>
              </a:spcAft>
              <a:buSzPts val="2800"/>
              <a:buChar char="●"/>
            </a:pPr>
            <a:r>
              <a:rPr lang="es" sz="2800" b="1" baseline="-25000">
                <a:uFill>
                  <a:noFill/>
                </a:uFill>
                <a:hlinkClick r:id="" action="ppaction://noaction"/>
              </a:rPr>
              <a:t>Bibliografía y fuentes de información</a:t>
            </a:r>
            <a:r>
              <a:rPr lang="es" sz="2800" b="1" baseline="-25000"/>
              <a:t> (76)</a:t>
            </a:r>
            <a:endParaRPr sz="3100" b="1" baseline="-250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8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Introducción</a:t>
            </a:r>
            <a:endParaRPr/>
          </a:p>
        </p:txBody>
      </p:sp>
      <p:sp>
        <p:nvSpPr>
          <p:cNvPr id="166" name="Google Shape;166;p18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s"/>
              <a:t>Un software para crear y gestionar listas de la compra, tanto individuales como compartidas. Permite añadir productos, incluir observaciones, marcar compras completadas, registrar el precio total y dividir automáticamente el gasto entre los usuarios. En Android, los productos también pueden añadirse mediante código de barras para agilizar la captura de información.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19"/>
          <p:cNvSpPr txBox="1">
            <a:spLocks noGrp="1"/>
          </p:cNvSpPr>
          <p:nvPr>
            <p:ph type="title"/>
          </p:nvPr>
        </p:nvSpPr>
        <p:spPr>
          <a:xfrm>
            <a:off x="823850" y="2053000"/>
            <a:ext cx="4587000" cy="1148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Plan de viabilidad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0"/>
          <p:cNvSpPr txBox="1">
            <a:spLocks noGrp="1"/>
          </p:cNvSpPr>
          <p:nvPr>
            <p:ph type="title"/>
          </p:nvPr>
        </p:nvSpPr>
        <p:spPr>
          <a:xfrm>
            <a:off x="766825" y="593475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lnSpc>
                <a:spcPct val="115000"/>
              </a:lnSpc>
              <a:spcBef>
                <a:spcPts val="1400"/>
              </a:spcBef>
              <a:spcAft>
                <a:spcPts val="400"/>
              </a:spcAft>
              <a:buNone/>
            </a:pPr>
            <a:r>
              <a:rPr lang="es" sz="2500"/>
              <a:t>Necesidades actuales del mercado</a:t>
            </a:r>
            <a:endParaRPr sz="2500"/>
          </a:p>
        </p:txBody>
      </p:sp>
      <p:sp>
        <p:nvSpPr>
          <p:cNvPr id="177" name="Google Shape;177;p20"/>
          <p:cNvSpPr txBox="1">
            <a:spLocks noGrp="1"/>
          </p:cNvSpPr>
          <p:nvPr>
            <p:ph type="body" idx="1"/>
          </p:nvPr>
        </p:nvSpPr>
        <p:spPr>
          <a:xfrm>
            <a:off x="729450" y="1420450"/>
            <a:ext cx="7688700" cy="3192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457200" lvl="0" indent="-336550" algn="l" rtl="0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700"/>
              <a:buChar char="●"/>
            </a:pPr>
            <a:r>
              <a:rPr lang="es" sz="1700"/>
              <a:t>Organización sencilla y rápida de las compras.</a:t>
            </a:r>
            <a:br>
              <a:rPr lang="es" sz="1700"/>
            </a:br>
            <a:endParaRPr sz="170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Char char="●"/>
            </a:pPr>
            <a:r>
              <a:rPr lang="es" sz="1700"/>
              <a:t>Colaboración entre varios usuarios en tiempo real.</a:t>
            </a:r>
            <a:br>
              <a:rPr lang="es" sz="1700"/>
            </a:br>
            <a:endParaRPr sz="170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Char char="●"/>
            </a:pPr>
            <a:r>
              <a:rPr lang="es" sz="1700"/>
              <a:t>Identificación clara de quién añade o compra cada producto.</a:t>
            </a:r>
            <a:br>
              <a:rPr lang="es" sz="1700"/>
            </a:br>
            <a:endParaRPr sz="170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Char char="●"/>
            </a:pPr>
            <a:r>
              <a:rPr lang="es" sz="1700"/>
              <a:t>Control de gastos compartidos, algo poco explotado por la competencia.</a:t>
            </a:r>
            <a:br>
              <a:rPr lang="es" sz="1700"/>
            </a:br>
            <a:endParaRPr sz="170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Char char="●"/>
            </a:pPr>
            <a:r>
              <a:rPr lang="es" sz="1700"/>
              <a:t>Sincronización multiplataforma (móvil y web).</a:t>
            </a:r>
            <a:endParaRPr sz="1700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21"/>
          <p:cNvSpPr txBox="1">
            <a:spLocks noGrp="1"/>
          </p:cNvSpPr>
          <p:nvPr>
            <p:ph type="title"/>
          </p:nvPr>
        </p:nvSpPr>
        <p:spPr>
          <a:xfrm>
            <a:off x="727650" y="578525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Competencia</a:t>
            </a:r>
            <a:endParaRPr/>
          </a:p>
        </p:txBody>
      </p:sp>
      <p:sp>
        <p:nvSpPr>
          <p:cNvPr id="183" name="Google Shape;183;p21"/>
          <p:cNvSpPr txBox="1">
            <a:spLocks noGrp="1"/>
          </p:cNvSpPr>
          <p:nvPr>
            <p:ph type="body" idx="1"/>
          </p:nvPr>
        </p:nvSpPr>
        <p:spPr>
          <a:xfrm>
            <a:off x="727650" y="1264000"/>
            <a:ext cx="7688700" cy="3273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47500" lnSpcReduction="2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4800"/>
              <a:t>Keep</a:t>
            </a:r>
            <a:endParaRPr sz="480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s" sz="3957" b="1"/>
              <a:t>Ventajas</a:t>
            </a:r>
            <a:endParaRPr sz="3957" b="1"/>
          </a:p>
          <a:p>
            <a:pPr marL="457200" lvl="0" indent="-347973" algn="l" rtl="0">
              <a:spcBef>
                <a:spcPts val="1200"/>
              </a:spcBef>
              <a:spcAft>
                <a:spcPts val="0"/>
              </a:spcAft>
              <a:buSzPct val="100000"/>
              <a:buChar char="●"/>
            </a:pPr>
            <a:r>
              <a:rPr lang="es" sz="3957"/>
              <a:t>Sincronización con cuenta Google</a:t>
            </a:r>
            <a:endParaRPr sz="3957"/>
          </a:p>
          <a:p>
            <a:pPr marL="457200" lvl="0" indent="-347973" algn="l" rtl="0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s" sz="3957"/>
              <a:t>Integración con Google Assistant</a:t>
            </a:r>
            <a:endParaRPr sz="3957"/>
          </a:p>
          <a:p>
            <a:pPr marL="457200" lvl="0" indent="-347973" algn="l" rtl="0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s" sz="3957"/>
              <a:t>Recordatorios geolocalizados</a:t>
            </a:r>
            <a:endParaRPr sz="3957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s" sz="3957" b="1"/>
              <a:t>Desventajas</a:t>
            </a:r>
            <a:endParaRPr sz="3957" b="1"/>
          </a:p>
          <a:p>
            <a:pPr marL="457200" lvl="0" indent="-347973" algn="l" rtl="0">
              <a:spcBef>
                <a:spcPts val="1200"/>
              </a:spcBef>
              <a:spcAft>
                <a:spcPts val="0"/>
              </a:spcAft>
              <a:buSzPct val="100000"/>
              <a:buChar char="●"/>
            </a:pPr>
            <a:r>
              <a:rPr lang="es" sz="3957"/>
              <a:t>No está pensada para listas de la compras</a:t>
            </a:r>
            <a:endParaRPr sz="3957"/>
          </a:p>
          <a:p>
            <a:pPr marL="457200" lvl="0" indent="-347973" algn="l" rtl="0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s" sz="3957"/>
              <a:t>Más orientada a notas rápidas</a:t>
            </a:r>
            <a:endParaRPr sz="3957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2"/>
          <p:cNvSpPr txBox="1">
            <a:spLocks noGrp="1"/>
          </p:cNvSpPr>
          <p:nvPr>
            <p:ph type="title"/>
          </p:nvPr>
        </p:nvSpPr>
        <p:spPr>
          <a:xfrm>
            <a:off x="727650" y="6308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Competencia</a:t>
            </a:r>
            <a:endParaRPr/>
          </a:p>
        </p:txBody>
      </p:sp>
      <p:sp>
        <p:nvSpPr>
          <p:cNvPr id="189" name="Google Shape;189;p22"/>
          <p:cNvSpPr txBox="1">
            <a:spLocks noGrp="1"/>
          </p:cNvSpPr>
          <p:nvPr>
            <p:ph type="body" idx="1"/>
          </p:nvPr>
        </p:nvSpPr>
        <p:spPr>
          <a:xfrm>
            <a:off x="727650" y="1249050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25000" lnSpcReduction="2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2000"/>
              <a:t>Listonic</a:t>
            </a:r>
            <a:endParaRPr sz="1200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s" sz="7200" b="1"/>
              <a:t>Ventajas</a:t>
            </a:r>
            <a:endParaRPr sz="7200" b="1"/>
          </a:p>
          <a:p>
            <a:pPr marL="457200" lvl="0" indent="-342900" algn="l" rtl="0">
              <a:spcBef>
                <a:spcPts val="1200"/>
              </a:spcBef>
              <a:spcAft>
                <a:spcPts val="0"/>
              </a:spcAft>
              <a:buSzPct val="100000"/>
              <a:buChar char="●"/>
            </a:pPr>
            <a:r>
              <a:rPr lang="es" sz="7200"/>
              <a:t>Sugerencias automáticas al escribir</a:t>
            </a:r>
            <a:endParaRPr sz="720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s" sz="7200"/>
              <a:t>Soporte en múltiples idiomas</a:t>
            </a:r>
            <a:endParaRPr sz="720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s" sz="7200"/>
              <a:t>Añadir precios a los productos</a:t>
            </a:r>
            <a:endParaRPr sz="720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s" sz="7200" b="1"/>
              <a:t>Desventajas</a:t>
            </a:r>
            <a:endParaRPr sz="7200" b="1"/>
          </a:p>
          <a:p>
            <a:pPr marL="457200" lvl="0" indent="-342900" algn="l" rtl="0">
              <a:spcBef>
                <a:spcPts val="1200"/>
              </a:spcBef>
              <a:spcAft>
                <a:spcPts val="0"/>
              </a:spcAft>
              <a:buSzPct val="100000"/>
              <a:buChar char="●"/>
            </a:pPr>
            <a:r>
              <a:rPr lang="es" sz="7200"/>
              <a:t>No realiza cálculo colaborativo</a:t>
            </a:r>
            <a:endParaRPr sz="720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s" sz="7200"/>
              <a:t>No se refleja quien añadió/compró productos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23"/>
          <p:cNvSpPr txBox="1">
            <a:spLocks noGrp="1"/>
          </p:cNvSpPr>
          <p:nvPr>
            <p:ph type="title"/>
          </p:nvPr>
        </p:nvSpPr>
        <p:spPr>
          <a:xfrm>
            <a:off x="729450" y="593475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Competencia</a:t>
            </a:r>
            <a:endParaRPr/>
          </a:p>
        </p:txBody>
      </p:sp>
      <p:sp>
        <p:nvSpPr>
          <p:cNvPr id="195" name="Google Shape;195;p23"/>
          <p:cNvSpPr txBox="1">
            <a:spLocks noGrp="1"/>
          </p:cNvSpPr>
          <p:nvPr>
            <p:ph type="body" idx="1"/>
          </p:nvPr>
        </p:nvSpPr>
        <p:spPr>
          <a:xfrm>
            <a:off x="727650" y="1256525"/>
            <a:ext cx="7688700" cy="358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3000"/>
              <a:t>Out of milk</a:t>
            </a:r>
            <a:endParaRPr sz="30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800"/>
              <a:t>Ventajas </a:t>
            </a:r>
            <a:endParaRPr sz="1800"/>
          </a:p>
          <a:p>
            <a:pPr marL="457200" lvl="0" indent="-342900" algn="l" rtl="0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s" sz="1800"/>
              <a:t>Funciones como inventario de despensa</a:t>
            </a:r>
            <a:endParaRPr sz="180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s" sz="1800"/>
              <a:t>Lista de tareas</a:t>
            </a:r>
            <a:endParaRPr sz="180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s" sz="1800"/>
              <a:t>Desventajas</a:t>
            </a:r>
            <a:endParaRPr sz="1800"/>
          </a:p>
          <a:p>
            <a:pPr marL="457200" lvl="0" indent="-342900" algn="l" rtl="0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s" sz="1800"/>
              <a:t>Interfaz “antigua”</a:t>
            </a:r>
            <a:endParaRPr sz="180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s" sz="1800"/>
              <a:t>No tiene sincronización en tiempo real</a:t>
            </a:r>
            <a:endParaRPr sz="180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s" sz="1800"/>
              <a:t>No tiene función de división de gastos</a:t>
            </a:r>
            <a:endParaRPr sz="18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24"/>
          <p:cNvSpPr txBox="1">
            <a:spLocks noGrp="1"/>
          </p:cNvSpPr>
          <p:nvPr>
            <p:ph type="title"/>
          </p:nvPr>
        </p:nvSpPr>
        <p:spPr>
          <a:xfrm>
            <a:off x="729450" y="61590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Competencia</a:t>
            </a:r>
            <a:endParaRPr/>
          </a:p>
        </p:txBody>
      </p:sp>
      <p:sp>
        <p:nvSpPr>
          <p:cNvPr id="201" name="Google Shape;201;p24"/>
          <p:cNvSpPr txBox="1">
            <a:spLocks noGrp="1"/>
          </p:cNvSpPr>
          <p:nvPr>
            <p:ph type="body" idx="1"/>
          </p:nvPr>
        </p:nvSpPr>
        <p:spPr>
          <a:xfrm>
            <a:off x="729450" y="1264000"/>
            <a:ext cx="7688700" cy="3386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3000"/>
              <a:t>Bring</a:t>
            </a:r>
            <a:endParaRPr sz="30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900" b="1"/>
              <a:t>Ventajas</a:t>
            </a:r>
            <a:endParaRPr sz="1900" b="1"/>
          </a:p>
          <a:p>
            <a:pPr marL="457200" lvl="0" indent="-349250" algn="l" rtl="0">
              <a:spcBef>
                <a:spcPts val="1200"/>
              </a:spcBef>
              <a:spcAft>
                <a:spcPts val="0"/>
              </a:spcAft>
              <a:buSzPts val="1900"/>
              <a:buChar char="●"/>
            </a:pPr>
            <a:r>
              <a:rPr lang="es" sz="1900"/>
              <a:t>Diseño organizado y atractivo</a:t>
            </a:r>
            <a:endParaRPr sz="1900"/>
          </a:p>
          <a:p>
            <a:pPr marL="457200" lvl="0" indent="-349250" algn="l" rtl="0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s" sz="1900"/>
              <a:t>Categorías que hacen atractiva la organización</a:t>
            </a:r>
            <a:endParaRPr sz="190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s" sz="1900" b="1"/>
              <a:t>Desventajas</a:t>
            </a:r>
            <a:endParaRPr sz="1900" b="1"/>
          </a:p>
          <a:p>
            <a:pPr marL="457200" lvl="0" indent="-349250" algn="l" rtl="0">
              <a:spcBef>
                <a:spcPts val="1200"/>
              </a:spcBef>
              <a:spcAft>
                <a:spcPts val="0"/>
              </a:spcAft>
              <a:buSzPts val="1900"/>
              <a:buChar char="●"/>
            </a:pPr>
            <a:r>
              <a:rPr lang="es" sz="1900"/>
              <a:t>Incluye publicidad constante</a:t>
            </a:r>
            <a:endParaRPr sz="1900"/>
          </a:p>
          <a:p>
            <a:pPr marL="457200" lvl="0" indent="-349250" algn="l" rtl="0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s" sz="1900"/>
              <a:t>No identifica quien añadió/compró los productos</a:t>
            </a:r>
            <a:endParaRPr sz="19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25"/>
          <p:cNvSpPr txBox="1">
            <a:spLocks noGrp="1"/>
          </p:cNvSpPr>
          <p:nvPr>
            <p:ph type="title"/>
          </p:nvPr>
        </p:nvSpPr>
        <p:spPr>
          <a:xfrm>
            <a:off x="727650" y="593475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lnSpc>
                <a:spcPct val="115000"/>
              </a:lnSpc>
              <a:spcBef>
                <a:spcPts val="1400"/>
              </a:spcBef>
              <a:spcAft>
                <a:spcPts val="400"/>
              </a:spcAft>
              <a:buNone/>
            </a:pPr>
            <a:r>
              <a:rPr lang="es" sz="2500"/>
              <a:t>Valor diferencial de la app</a:t>
            </a:r>
            <a:endParaRPr sz="2500"/>
          </a:p>
        </p:txBody>
      </p:sp>
      <p:sp>
        <p:nvSpPr>
          <p:cNvPr id="207" name="Google Shape;207;p25"/>
          <p:cNvSpPr txBox="1">
            <a:spLocks noGrp="1"/>
          </p:cNvSpPr>
          <p:nvPr>
            <p:ph type="body" idx="1"/>
          </p:nvPr>
        </p:nvSpPr>
        <p:spPr>
          <a:xfrm>
            <a:off x="729450" y="1338200"/>
            <a:ext cx="7688700" cy="3453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20000"/>
          </a:bodyPr>
          <a:lstStyle/>
          <a:p>
            <a:pPr marL="457200" lvl="0" indent="-341571" algn="l" rtl="0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779"/>
              <a:buChar char="●"/>
            </a:pPr>
            <a:r>
              <a:rPr lang="es" sz="1779"/>
              <a:t>Escaneo de productos por código de barras en Android.</a:t>
            </a:r>
            <a:br>
              <a:rPr lang="es" sz="1779"/>
            </a:br>
            <a:endParaRPr sz="1779"/>
          </a:p>
          <a:p>
            <a:pPr marL="457200" lvl="0" indent="-341571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79"/>
              <a:buChar char="●"/>
            </a:pPr>
            <a:r>
              <a:rPr lang="es" sz="1779"/>
              <a:t>Cálculo automático de cuánto paga cada usuario, basado en el precio total de la lista.</a:t>
            </a:r>
            <a:br>
              <a:rPr lang="es" sz="1779"/>
            </a:br>
            <a:endParaRPr sz="1779"/>
          </a:p>
          <a:p>
            <a:pPr marL="457200" lvl="0" indent="-341571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79"/>
              <a:buChar char="●"/>
            </a:pPr>
            <a:r>
              <a:rPr lang="es" sz="1779"/>
              <a:t>Registro de qué usuario añade y quién compra cada producto.</a:t>
            </a:r>
            <a:br>
              <a:rPr lang="es" sz="1779"/>
            </a:br>
            <a:endParaRPr sz="1779"/>
          </a:p>
          <a:p>
            <a:pPr marL="457200" lvl="0" indent="-341571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79"/>
              <a:buChar char="●"/>
            </a:pPr>
            <a:r>
              <a:rPr lang="es" sz="1779"/>
              <a:t>Sincronización inmediata entre Android y Web.</a:t>
            </a:r>
            <a:br>
              <a:rPr lang="es" sz="1779"/>
            </a:br>
            <a:endParaRPr sz="1779"/>
          </a:p>
          <a:p>
            <a:pPr marL="457200" lvl="0" indent="-341571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79"/>
              <a:buChar char="●"/>
            </a:pPr>
            <a:r>
              <a:rPr lang="es" sz="1779"/>
              <a:t>Coste de desarrollo y mantenimiento mínimo, lo que permite crecer sin grandes inversiones iniciales.</a:t>
            </a:r>
            <a:endParaRPr sz="1779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26"/>
          <p:cNvSpPr txBox="1">
            <a:spLocks noGrp="1"/>
          </p:cNvSpPr>
          <p:nvPr>
            <p:ph type="title"/>
          </p:nvPr>
        </p:nvSpPr>
        <p:spPr>
          <a:xfrm>
            <a:off x="729450" y="593475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lnSpc>
                <a:spcPct val="115000"/>
              </a:lnSpc>
              <a:spcBef>
                <a:spcPts val="1800"/>
              </a:spcBef>
              <a:spcAft>
                <a:spcPts val="400"/>
              </a:spcAft>
              <a:buNone/>
            </a:pPr>
            <a:r>
              <a:rPr lang="es" sz="2500"/>
              <a:t>Plan de inversión</a:t>
            </a:r>
            <a:endParaRPr sz="2500"/>
          </a:p>
        </p:txBody>
      </p:sp>
      <p:sp>
        <p:nvSpPr>
          <p:cNvPr id="213" name="Google Shape;213;p26"/>
          <p:cNvSpPr txBox="1">
            <a:spLocks noGrp="1"/>
          </p:cNvSpPr>
          <p:nvPr>
            <p:ph type="body" idx="1"/>
          </p:nvPr>
        </p:nvSpPr>
        <p:spPr>
          <a:xfrm>
            <a:off x="729450" y="1383075"/>
            <a:ext cx="7688700" cy="332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500" b="1"/>
              <a:t>Costes fijos reales</a:t>
            </a:r>
            <a:endParaRPr sz="1500" b="1"/>
          </a:p>
          <a:p>
            <a:pPr marL="457200" lvl="0" indent="-311150" algn="l" rtl="0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</a:pPr>
            <a:r>
              <a:rPr lang="es" b="1"/>
              <a:t>Firestore (Firebase)</a:t>
            </a:r>
            <a:r>
              <a:rPr lang="es"/>
              <a:t> → gratuito (plan free).</a:t>
            </a:r>
            <a:br>
              <a:rPr lang="es"/>
            </a:br>
            <a:endParaRPr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</a:pPr>
            <a:r>
              <a:rPr lang="es" b="1"/>
              <a:t>Hosting (Vercel)</a:t>
            </a:r>
            <a:r>
              <a:rPr lang="es"/>
              <a:t> → gratuito.</a:t>
            </a:r>
            <a:br>
              <a:rPr lang="es"/>
            </a:br>
            <a:endParaRPr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</a:pPr>
            <a:r>
              <a:rPr lang="es" b="1"/>
              <a:t>Dominio web</a:t>
            </a:r>
            <a:r>
              <a:rPr lang="es"/>
              <a:t> → 12 €/año.</a:t>
            </a:r>
            <a:br>
              <a:rPr lang="es"/>
            </a:br>
            <a:endParaRPr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</a:pPr>
            <a:r>
              <a:rPr lang="es" b="1"/>
              <a:t>Marketing inicial</a:t>
            </a:r>
            <a:r>
              <a:rPr lang="es"/>
              <a:t> → redes sociales y ASO (estimación: 50–100 € iniciales)(opcional).</a:t>
            </a:r>
            <a:br>
              <a:rPr lang="es"/>
            </a:b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b="1"/>
              <a:t>Inversión inicial real</a:t>
            </a:r>
            <a:r>
              <a:rPr lang="es"/>
              <a:t>: aprox. 12-110€ el primer año, sumando el dominio y algo de publicidad básica.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7"/>
          <p:cNvSpPr txBox="1">
            <a:spLocks noGrp="1"/>
          </p:cNvSpPr>
          <p:nvPr>
            <p:ph type="title"/>
          </p:nvPr>
        </p:nvSpPr>
        <p:spPr>
          <a:xfrm>
            <a:off x="727650" y="593475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ct val="44000"/>
              <a:buFont typeface="Arial"/>
              <a:buNone/>
            </a:pPr>
            <a:r>
              <a:rPr lang="es" sz="2500"/>
              <a:t>Umbral de rentabilidad</a:t>
            </a:r>
            <a:endParaRPr sz="2500"/>
          </a:p>
        </p:txBody>
      </p:sp>
      <p:sp>
        <p:nvSpPr>
          <p:cNvPr id="219" name="Google Shape;219;p27"/>
          <p:cNvSpPr txBox="1">
            <a:spLocks noGrp="1"/>
          </p:cNvSpPr>
          <p:nvPr>
            <p:ph type="body" idx="1"/>
          </p:nvPr>
        </p:nvSpPr>
        <p:spPr>
          <a:xfrm>
            <a:off x="311700" y="1278400"/>
            <a:ext cx="8520600" cy="361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8015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408"/>
              <a:buChar char="●"/>
            </a:pPr>
            <a:r>
              <a:rPr lang="es" sz="1408" b="1"/>
              <a:t>Ingresos previstos</a:t>
            </a:r>
            <a:r>
              <a:rPr lang="es" sz="1408"/>
              <a:t>:</a:t>
            </a:r>
            <a:br>
              <a:rPr lang="es" sz="1408"/>
            </a:br>
            <a:endParaRPr sz="1408"/>
          </a:p>
          <a:p>
            <a:pPr marL="914400" lvl="1" indent="-318015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8"/>
              <a:buChar char="○"/>
            </a:pPr>
            <a:r>
              <a:rPr lang="es" sz="1408" b="1"/>
              <a:t>Publicidad</a:t>
            </a:r>
            <a:r>
              <a:rPr lang="es" sz="1408"/>
              <a:t>: ingresos futuros mediante anuncios integrados.</a:t>
            </a:r>
            <a:br>
              <a:rPr lang="es" sz="1408"/>
            </a:br>
            <a:endParaRPr sz="1408"/>
          </a:p>
          <a:p>
            <a:pPr marL="914400" lvl="1" indent="-318015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8"/>
              <a:buChar char="○"/>
            </a:pPr>
            <a:r>
              <a:rPr lang="es" sz="1408" b="1"/>
              <a:t>Suscripción premium</a:t>
            </a:r>
            <a:r>
              <a:rPr lang="es" sz="1408"/>
              <a:t>: 2,99 €/mes con funciones exclusivas (listas ilimitadas, eliminar anuncios, funciones premium).</a:t>
            </a:r>
            <a:br>
              <a:rPr lang="es" sz="1408"/>
            </a:br>
            <a:endParaRPr sz="1408"/>
          </a:p>
          <a:p>
            <a:pPr marL="457200" lvl="0" indent="-318015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8"/>
              <a:buChar char="●"/>
            </a:pPr>
            <a:r>
              <a:rPr lang="es" sz="1408" b="1"/>
              <a:t>Ejemplo de rentabilidad mínima</a:t>
            </a:r>
            <a:r>
              <a:rPr lang="es" sz="1408"/>
              <a:t>:</a:t>
            </a:r>
            <a:br>
              <a:rPr lang="es" sz="1408"/>
            </a:br>
            <a:endParaRPr sz="1408"/>
          </a:p>
          <a:p>
            <a:pPr marL="914400" lvl="1" indent="-318015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8"/>
              <a:buChar char="○"/>
            </a:pPr>
            <a:r>
              <a:rPr lang="es" sz="1408"/>
              <a:t>Con </a:t>
            </a:r>
            <a:r>
              <a:rPr lang="es" sz="1408" b="1"/>
              <a:t>5 usuarios premium</a:t>
            </a:r>
            <a:r>
              <a:rPr lang="es" sz="1408"/>
              <a:t> (2,99 €/mes), ya se generan </a:t>
            </a:r>
            <a:r>
              <a:rPr lang="es" sz="1408" b="1"/>
              <a:t>15 €/mes</a:t>
            </a:r>
            <a:r>
              <a:rPr lang="es" sz="1408"/>
              <a:t> → </a:t>
            </a:r>
            <a:r>
              <a:rPr lang="es" sz="1408" b="1"/>
              <a:t>180 €/año</a:t>
            </a:r>
            <a:r>
              <a:rPr lang="es" sz="1408"/>
              <a:t>, suficiente para cubrir el dominio y marketing básico.</a:t>
            </a:r>
            <a:br>
              <a:rPr lang="es" sz="1408"/>
            </a:br>
            <a:endParaRPr sz="1408"/>
          </a:p>
          <a:p>
            <a:pPr marL="914400" lvl="1" indent="-318015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8"/>
              <a:buChar char="○"/>
            </a:pPr>
            <a:r>
              <a:rPr lang="es" sz="1408"/>
              <a:t>El resto de ingresos, como publicidad, será beneficio adicional.</a:t>
            </a:r>
            <a:br>
              <a:rPr lang="es" sz="1408"/>
            </a:br>
            <a:endParaRPr sz="1408"/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408"/>
              <a:t>Esto significa que con menos de 10 usuarios premium al año se cubren todos los costes, lo que hace al proyecto viable incluso con una base pequeña de usuarios.</a:t>
            </a:r>
            <a:endParaRPr sz="1408"/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28"/>
          <p:cNvSpPr txBox="1">
            <a:spLocks noGrp="1"/>
          </p:cNvSpPr>
          <p:nvPr>
            <p:ph type="title"/>
          </p:nvPr>
        </p:nvSpPr>
        <p:spPr>
          <a:xfrm>
            <a:off x="727650" y="608425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lnSpc>
                <a:spcPct val="115000"/>
              </a:lnSpc>
              <a:spcBef>
                <a:spcPts val="1800"/>
              </a:spcBef>
              <a:spcAft>
                <a:spcPts val="400"/>
              </a:spcAft>
              <a:buNone/>
            </a:pPr>
            <a:r>
              <a:rPr lang="es" sz="2500"/>
              <a:t>Plan de marketing</a:t>
            </a:r>
            <a:endParaRPr sz="2500"/>
          </a:p>
        </p:txBody>
      </p:sp>
      <p:sp>
        <p:nvSpPr>
          <p:cNvPr id="225" name="Google Shape;225;p28"/>
          <p:cNvSpPr txBox="1">
            <a:spLocks noGrp="1"/>
          </p:cNvSpPr>
          <p:nvPr>
            <p:ph type="body" idx="1"/>
          </p:nvPr>
        </p:nvSpPr>
        <p:spPr>
          <a:xfrm>
            <a:off x="311700" y="1285875"/>
            <a:ext cx="8520600" cy="377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275"/>
              <a:buFont typeface="Arial"/>
              <a:buNone/>
            </a:pPr>
            <a:r>
              <a:rPr lang="es" sz="1200" b="1"/>
              <a:t>Estrategia</a:t>
            </a:r>
            <a:endParaRPr sz="1200" b="1"/>
          </a:p>
          <a:p>
            <a:pPr marL="457200" lvl="0" indent="-292100" algn="l" rtl="0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</a:pPr>
            <a:r>
              <a:rPr lang="es" sz="1000" b="1"/>
              <a:t>Fase inicial</a:t>
            </a:r>
            <a:r>
              <a:rPr lang="es" sz="1000"/>
              <a:t>: difusión en redes sociales (Instagram, TikTok) con vídeos mostrando cómo dividir gastos fácilmente o cómo organizar compras en grupo.</a:t>
            </a:r>
            <a:endParaRPr sz="1000"/>
          </a:p>
          <a:p>
            <a:pPr marL="457200" lvl="0" indent="-2921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</a:pPr>
            <a:r>
              <a:rPr lang="es" sz="1000" b="1"/>
              <a:t>Versión gratuita atractiva</a:t>
            </a:r>
            <a:r>
              <a:rPr lang="es" sz="1000"/>
              <a:t>: ofrecer todas las funciones básicas para atraer usuarios y después destacar ventajas premium.</a:t>
            </a:r>
            <a:endParaRPr sz="1000"/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275"/>
              <a:buFont typeface="Arial"/>
              <a:buNone/>
            </a:pPr>
            <a:r>
              <a:rPr lang="es" sz="1200" b="1"/>
              <a:t>Público objetivo</a:t>
            </a:r>
            <a:endParaRPr sz="1200" b="1"/>
          </a:p>
          <a:p>
            <a:pPr marL="457200" lvl="0" indent="-292100" algn="l" rtl="0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</a:pPr>
            <a:r>
              <a:rPr lang="es" sz="1000"/>
              <a:t>Familias que organizan la compra semanal.</a:t>
            </a:r>
            <a:endParaRPr sz="1000"/>
          </a:p>
          <a:p>
            <a:pPr marL="457200" lvl="0" indent="-2921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</a:pPr>
            <a:r>
              <a:rPr lang="es" sz="1000"/>
              <a:t>Compañeros de piso que comparten gastos.</a:t>
            </a:r>
            <a:endParaRPr sz="1000"/>
          </a:p>
          <a:p>
            <a:pPr marL="457200" lvl="0" indent="-2921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</a:pPr>
            <a:r>
              <a:rPr lang="es" sz="1000"/>
              <a:t>Amigos que organizan fiestas, barbacoas o viajes.</a:t>
            </a:r>
            <a:endParaRPr sz="1000"/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275"/>
              <a:buFont typeface="Arial"/>
              <a:buNone/>
            </a:pPr>
            <a:r>
              <a:rPr lang="es" sz="1200" b="1"/>
              <a:t>Plan a futuro</a:t>
            </a:r>
            <a:endParaRPr sz="1200" b="1"/>
          </a:p>
          <a:p>
            <a:pPr marL="457200" lvl="0" indent="-292100" algn="l" rtl="0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</a:pPr>
            <a:r>
              <a:rPr lang="es" sz="1000"/>
              <a:t>Incluir publicidad ligera en la versión gratuita (modelo Freemium).</a:t>
            </a:r>
            <a:endParaRPr sz="1000"/>
          </a:p>
          <a:p>
            <a:pPr marL="457200" lvl="0" indent="-2921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</a:pPr>
            <a:r>
              <a:rPr lang="es" sz="1000"/>
              <a:t>Promociones de prueba del plan premium para atraer usuarios.</a:t>
            </a:r>
            <a:endParaRPr sz="1000"/>
          </a:p>
          <a:p>
            <a:pPr marL="457200" lvl="0" indent="-2921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</a:pPr>
            <a:r>
              <a:rPr lang="es" sz="1000"/>
              <a:t>Generar informes anónimos de tendencias de compra</a:t>
            </a:r>
            <a:endParaRPr sz="10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29"/>
          <p:cNvSpPr txBox="1">
            <a:spLocks noGrp="1"/>
          </p:cNvSpPr>
          <p:nvPr>
            <p:ph type="title"/>
          </p:nvPr>
        </p:nvSpPr>
        <p:spPr>
          <a:xfrm>
            <a:off x="823850" y="2053000"/>
            <a:ext cx="4587000" cy="1148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Requisitos del sistema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30"/>
          <p:cNvSpPr txBox="1">
            <a:spLocks noGrp="1"/>
          </p:cNvSpPr>
          <p:nvPr>
            <p:ph type="title"/>
          </p:nvPr>
        </p:nvSpPr>
        <p:spPr>
          <a:xfrm>
            <a:off x="727650" y="58600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Requisitos de información</a:t>
            </a:r>
            <a:endParaRPr/>
          </a:p>
        </p:txBody>
      </p:sp>
      <p:sp>
        <p:nvSpPr>
          <p:cNvPr id="236" name="Google Shape;236;p30"/>
          <p:cNvSpPr txBox="1">
            <a:spLocks noGrp="1"/>
          </p:cNvSpPr>
          <p:nvPr>
            <p:ph type="body" idx="1"/>
          </p:nvPr>
        </p:nvSpPr>
        <p:spPr>
          <a:xfrm>
            <a:off x="729450" y="1412975"/>
            <a:ext cx="7688700" cy="292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2000" b="1"/>
              <a:t>Usuarios</a:t>
            </a:r>
            <a:r>
              <a:rPr lang="es" sz="2000"/>
              <a:t>:</a:t>
            </a:r>
            <a:endParaRPr sz="2000"/>
          </a:p>
          <a:p>
            <a:pPr marL="457200" lvl="0" indent="-355600" algn="l" rtl="0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2000"/>
              <a:buChar char="●"/>
            </a:pPr>
            <a:r>
              <a:rPr lang="es" sz="2000"/>
              <a:t>Correo electrónico (para registro, login y compartición de listas).</a:t>
            </a:r>
            <a:br>
              <a:rPr lang="es" sz="2000"/>
            </a:br>
            <a:endParaRPr sz="2000"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Char char="●"/>
            </a:pPr>
            <a:r>
              <a:rPr lang="es" sz="2000"/>
              <a:t>Contraseña (para autenticación).</a:t>
            </a:r>
            <a:endParaRPr sz="2000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31"/>
          <p:cNvSpPr txBox="1">
            <a:spLocks noGrp="1"/>
          </p:cNvSpPr>
          <p:nvPr>
            <p:ph type="title"/>
          </p:nvPr>
        </p:nvSpPr>
        <p:spPr>
          <a:xfrm>
            <a:off x="729450" y="578525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Requisitos de información</a:t>
            </a:r>
            <a:endParaRPr/>
          </a:p>
        </p:txBody>
      </p:sp>
      <p:sp>
        <p:nvSpPr>
          <p:cNvPr id="242" name="Google Shape;242;p31"/>
          <p:cNvSpPr txBox="1">
            <a:spLocks noGrp="1"/>
          </p:cNvSpPr>
          <p:nvPr>
            <p:ph type="body" idx="1"/>
          </p:nvPr>
        </p:nvSpPr>
        <p:spPr>
          <a:xfrm>
            <a:off x="729450" y="1323250"/>
            <a:ext cx="7688700" cy="301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s" sz="1800" b="1"/>
              <a:t>Listas de la compra</a:t>
            </a:r>
            <a:r>
              <a:rPr lang="es" sz="1800"/>
              <a:t>:</a:t>
            </a:r>
            <a:endParaRPr sz="1800"/>
          </a:p>
          <a:p>
            <a:pPr marL="457200" lvl="0" indent="-342900" algn="l" rtl="0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</a:pPr>
            <a:r>
              <a:rPr lang="es" sz="1800"/>
              <a:t>Identificador único de la lista.</a:t>
            </a:r>
            <a:br>
              <a:rPr lang="es" sz="1800"/>
            </a:br>
            <a:endParaRPr sz="180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</a:pPr>
            <a:r>
              <a:rPr lang="es" sz="1800"/>
              <a:t>Nombre de la lista.</a:t>
            </a:r>
            <a:br>
              <a:rPr lang="es" sz="1800"/>
            </a:br>
            <a:endParaRPr sz="180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</a:pPr>
            <a:r>
              <a:rPr lang="es" sz="1800"/>
              <a:t>Estado (individual o compartida).</a:t>
            </a:r>
            <a:br>
              <a:rPr lang="es" sz="1800"/>
            </a:br>
            <a:endParaRPr sz="180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</a:pPr>
            <a:r>
              <a:rPr lang="es" sz="1800"/>
              <a:t>Usuarios vinculados (propietario e invitados).</a:t>
            </a:r>
            <a:endParaRPr sz="1800" b="1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 sz="17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2"/>
          <p:cNvSpPr txBox="1">
            <a:spLocks noGrp="1"/>
          </p:cNvSpPr>
          <p:nvPr>
            <p:ph type="title"/>
          </p:nvPr>
        </p:nvSpPr>
        <p:spPr>
          <a:xfrm>
            <a:off x="2651550" y="563575"/>
            <a:ext cx="38445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Requisitos de información</a:t>
            </a:r>
            <a:endParaRPr/>
          </a:p>
        </p:txBody>
      </p:sp>
      <p:sp>
        <p:nvSpPr>
          <p:cNvPr id="248" name="Google Shape;248;p32"/>
          <p:cNvSpPr txBox="1">
            <a:spLocks noGrp="1"/>
          </p:cNvSpPr>
          <p:nvPr>
            <p:ph type="body" idx="1"/>
          </p:nvPr>
        </p:nvSpPr>
        <p:spPr>
          <a:xfrm>
            <a:off x="729450" y="1323250"/>
            <a:ext cx="7688700" cy="301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20000"/>
          </a:bodyPr>
          <a:lstStyle/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s" sz="1500" b="1"/>
              <a:t>Productos</a:t>
            </a:r>
            <a:r>
              <a:rPr lang="es" sz="1500"/>
              <a:t>:</a:t>
            </a:r>
            <a:endParaRPr sz="1500"/>
          </a:p>
          <a:p>
            <a:pPr marL="457200" lvl="0" indent="-323850" algn="l" rtl="0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500"/>
              <a:buChar char="●"/>
            </a:pPr>
            <a:r>
              <a:rPr lang="es" sz="1500"/>
              <a:t>Nombre del producto.</a:t>
            </a:r>
            <a:br>
              <a:rPr lang="es" sz="1500"/>
            </a:br>
            <a:endParaRPr sz="1500"/>
          </a:p>
          <a:p>
            <a:pPr marL="457200" lvl="0" indent="-3238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Char char="●"/>
            </a:pPr>
            <a:r>
              <a:rPr lang="es" sz="1500"/>
              <a:t>Marca y modelo (si se añade por código de barras).</a:t>
            </a:r>
            <a:br>
              <a:rPr lang="es" sz="1500"/>
            </a:br>
            <a:endParaRPr sz="1500"/>
          </a:p>
          <a:p>
            <a:pPr marL="457200" lvl="0" indent="-3238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Char char="●"/>
            </a:pPr>
            <a:r>
              <a:rPr lang="es" sz="1500"/>
              <a:t>Estado (pendiente o comprado).</a:t>
            </a:r>
            <a:br>
              <a:rPr lang="es" sz="1500"/>
            </a:br>
            <a:endParaRPr sz="1500"/>
          </a:p>
          <a:p>
            <a:pPr marL="457200" lvl="0" indent="-3238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Char char="●"/>
            </a:pPr>
            <a:r>
              <a:rPr lang="es" sz="1500"/>
              <a:t>Usuario que lo añadió.</a:t>
            </a:r>
            <a:br>
              <a:rPr lang="es" sz="1500"/>
            </a:br>
            <a:endParaRPr sz="1500"/>
          </a:p>
          <a:p>
            <a:pPr marL="457200" lvl="0" indent="-3238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Char char="●"/>
            </a:pPr>
            <a:r>
              <a:rPr lang="es" sz="1500"/>
              <a:t>Usuario que lo compró (si aplica).</a:t>
            </a:r>
            <a:endParaRPr sz="1500" b="1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33"/>
          <p:cNvSpPr txBox="1">
            <a:spLocks noGrp="1"/>
          </p:cNvSpPr>
          <p:nvPr>
            <p:ph type="title"/>
          </p:nvPr>
        </p:nvSpPr>
        <p:spPr>
          <a:xfrm>
            <a:off x="2540550" y="513375"/>
            <a:ext cx="4062900" cy="51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Requisitos de información</a:t>
            </a:r>
            <a:endParaRPr/>
          </a:p>
        </p:txBody>
      </p:sp>
      <p:sp>
        <p:nvSpPr>
          <p:cNvPr id="254" name="Google Shape;254;p33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s" sz="1600" b="1"/>
              <a:t>Observaciones</a:t>
            </a:r>
            <a:r>
              <a:rPr lang="es" sz="1600"/>
              <a:t>:</a:t>
            </a:r>
            <a:endParaRPr sz="1600"/>
          </a:p>
          <a:p>
            <a:pPr marL="457200" lvl="0" indent="-330200" algn="l" rtl="0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600"/>
              <a:buChar char="●"/>
            </a:pPr>
            <a:r>
              <a:rPr lang="es" sz="1600"/>
              <a:t>Texto de la nota.</a:t>
            </a:r>
            <a:br>
              <a:rPr lang="es" sz="1600"/>
            </a:br>
            <a:endParaRPr sz="1600"/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Char char="●"/>
            </a:pPr>
            <a:r>
              <a:rPr lang="es" sz="1600"/>
              <a:t>Autor de la observación.</a:t>
            </a:r>
            <a:br>
              <a:rPr lang="es" sz="1600"/>
            </a:br>
            <a:endParaRPr sz="1600"/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Char char="●"/>
            </a:pPr>
            <a:r>
              <a:rPr lang="es" sz="1600"/>
              <a:t>Fecha de creación/modificación.</a:t>
            </a:r>
            <a:endParaRPr sz="1600" b="1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34"/>
          <p:cNvSpPr txBox="1">
            <a:spLocks noGrp="1"/>
          </p:cNvSpPr>
          <p:nvPr>
            <p:ph type="title"/>
          </p:nvPr>
        </p:nvSpPr>
        <p:spPr>
          <a:xfrm>
            <a:off x="2540550" y="513375"/>
            <a:ext cx="4062900" cy="51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Requisitos de información</a:t>
            </a:r>
            <a:endParaRPr/>
          </a:p>
        </p:txBody>
      </p:sp>
      <p:sp>
        <p:nvSpPr>
          <p:cNvPr id="260" name="Google Shape;260;p34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334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s" sz="1600" b="1"/>
              <a:t>Pagos</a:t>
            </a:r>
            <a:r>
              <a:rPr lang="es" sz="1600"/>
              <a:t>:</a:t>
            </a:r>
            <a:endParaRPr sz="1600"/>
          </a:p>
          <a:p>
            <a:pPr marL="457200" lvl="0" indent="-330200" algn="l" rtl="0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s" sz="1600"/>
              <a:t>ID de la lista.</a:t>
            </a:r>
            <a:endParaRPr sz="1600"/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s" sz="1600"/>
              <a:t>Nombre de la lista</a:t>
            </a:r>
            <a:endParaRPr sz="1600"/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s" sz="1600"/>
              <a:t>Participantes.</a:t>
            </a:r>
            <a:endParaRPr sz="1600"/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s" sz="1600"/>
              <a:t>Pagos</a:t>
            </a:r>
            <a:endParaRPr sz="1600"/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s" sz="1600"/>
              <a:t>Total</a:t>
            </a:r>
            <a:endParaRPr sz="1600"/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s" sz="1600"/>
              <a:t>Ultima actualización</a:t>
            </a:r>
            <a:endParaRPr sz="1600"/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s" sz="1600"/>
              <a:t>Quien actualizó</a:t>
            </a:r>
            <a:endParaRPr sz="16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35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Requisitos de información</a:t>
            </a:r>
            <a:endParaRPr/>
          </a:p>
        </p:txBody>
      </p:sp>
      <p:sp>
        <p:nvSpPr>
          <p:cNvPr id="266" name="Google Shape;266;p35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s" sz="1600" b="1"/>
              <a:t>Precio total de la lista</a:t>
            </a:r>
            <a:r>
              <a:rPr lang="es" sz="1600"/>
              <a:t>:</a:t>
            </a:r>
            <a:endParaRPr sz="1600"/>
          </a:p>
          <a:p>
            <a:pPr marL="457200" lvl="0" indent="-330200" algn="l" rtl="0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600"/>
              <a:buChar char="●"/>
            </a:pPr>
            <a:r>
              <a:rPr lang="es" sz="1600"/>
              <a:t>Base para el cálculo del reparto de gastos en listas compartidas.</a:t>
            </a:r>
            <a:endParaRPr sz="1600"/>
          </a:p>
          <a:p>
            <a:pPr marL="45720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1100" b="1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6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Requisitos funcionales</a:t>
            </a:r>
            <a:endParaRPr/>
          </a:p>
        </p:txBody>
      </p:sp>
      <p:sp>
        <p:nvSpPr>
          <p:cNvPr id="272" name="Google Shape;272;p36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20000"/>
          </a:bodyPr>
          <a:lstStyle/>
          <a:p>
            <a:pPr marL="0" lvl="0" indent="0" algn="l" rtl="0">
              <a:spcBef>
                <a:spcPts val="1400"/>
              </a:spcBef>
              <a:spcAft>
                <a:spcPts val="0"/>
              </a:spcAft>
              <a:buNone/>
            </a:pPr>
            <a:r>
              <a:rPr lang="es" sz="2000" b="1"/>
              <a:t>Gestión de usuarios</a:t>
            </a:r>
            <a:endParaRPr sz="2000" b="1"/>
          </a:p>
          <a:p>
            <a:pPr marL="457200" lvl="0" indent="-355600" algn="l" rtl="0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2000"/>
              <a:buChar char="●"/>
            </a:pPr>
            <a:r>
              <a:rPr lang="es" sz="2000"/>
              <a:t>Registrar un nuevo usuario mediante correo y contraseña.</a:t>
            </a:r>
            <a:br>
              <a:rPr lang="es" sz="2000"/>
            </a:br>
            <a:endParaRPr sz="2000"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Char char="●"/>
            </a:pPr>
            <a:r>
              <a:rPr lang="es" sz="2000"/>
              <a:t>Iniciar sesión con credenciales válidas.</a:t>
            </a:r>
            <a:br>
              <a:rPr lang="es" sz="2000"/>
            </a:br>
            <a:endParaRPr sz="2000"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Char char="●"/>
            </a:pPr>
            <a:r>
              <a:rPr lang="es" sz="2000"/>
              <a:t>Cerrar sesión.</a:t>
            </a:r>
            <a:endParaRPr sz="2000" b="1"/>
          </a:p>
          <a:p>
            <a:pPr marL="45720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1100" b="1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37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Requisitos funcionales</a:t>
            </a:r>
            <a:endParaRPr/>
          </a:p>
        </p:txBody>
      </p:sp>
      <p:sp>
        <p:nvSpPr>
          <p:cNvPr id="278" name="Google Shape;278;p3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760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1400"/>
              </a:spcBef>
              <a:spcAft>
                <a:spcPts val="0"/>
              </a:spcAft>
              <a:buSzPts val="852"/>
              <a:buNone/>
            </a:pPr>
            <a:r>
              <a:rPr lang="es" sz="1750" b="1"/>
              <a:t>Gestión de listas</a:t>
            </a:r>
            <a:endParaRPr sz="1750" b="1"/>
          </a:p>
          <a:p>
            <a:pPr marL="457200" lvl="0" indent="-339725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750"/>
              <a:buChar char="●"/>
            </a:pPr>
            <a:r>
              <a:rPr lang="es" sz="1750"/>
              <a:t>Crear una lista de compras.</a:t>
            </a:r>
            <a:br>
              <a:rPr lang="es" sz="1750"/>
            </a:br>
            <a:endParaRPr sz="1750"/>
          </a:p>
          <a:p>
            <a:pPr marL="457200" lvl="0" indent="-339725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50"/>
              <a:buChar char="●"/>
            </a:pPr>
            <a:r>
              <a:rPr lang="es" sz="1750"/>
              <a:t>Eliminar una lista (solo el propietario).</a:t>
            </a:r>
            <a:br>
              <a:rPr lang="es" sz="1750"/>
            </a:br>
            <a:endParaRPr sz="1750"/>
          </a:p>
          <a:p>
            <a:pPr marL="457200" lvl="0" indent="-339725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50"/>
              <a:buChar char="●"/>
            </a:pPr>
            <a:r>
              <a:rPr lang="es" sz="1750"/>
              <a:t>Compartir una lista mediante correo electrónico.</a:t>
            </a:r>
            <a:br>
              <a:rPr lang="es" sz="1750"/>
            </a:br>
            <a:endParaRPr sz="1750"/>
          </a:p>
          <a:p>
            <a:pPr marL="457200" lvl="0" indent="-339725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50"/>
              <a:buChar char="●"/>
            </a:pPr>
            <a:r>
              <a:rPr lang="es" sz="1750"/>
              <a:t>Dejar de compartir una lista (eliminar usuario invitado).</a:t>
            </a:r>
            <a:br>
              <a:rPr lang="es" sz="1750"/>
            </a:br>
            <a:endParaRPr sz="1750"/>
          </a:p>
          <a:p>
            <a:pPr marL="457200" lvl="0" indent="-339725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50"/>
              <a:buChar char="●"/>
            </a:pPr>
            <a:r>
              <a:rPr lang="es" sz="1750"/>
              <a:t>Ver listas propias y compartidas.</a:t>
            </a:r>
            <a:br>
              <a:rPr lang="es" sz="1750"/>
            </a:br>
            <a:endParaRPr sz="1750"/>
          </a:p>
          <a:p>
            <a:pPr marL="457200" lvl="0" indent="-339725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50"/>
              <a:buChar char="●"/>
            </a:pPr>
            <a:r>
              <a:rPr lang="es" sz="1750"/>
              <a:t>Diferenciar visualmente entre listas individuales y compartidas.</a:t>
            </a:r>
            <a:endParaRPr sz="1750" b="1"/>
          </a:p>
          <a:p>
            <a:pPr marL="457200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852"/>
              <a:buNone/>
            </a:pPr>
            <a:endParaRPr sz="1052" b="1"/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1200"/>
              </a:spcAft>
              <a:buSzPts val="852"/>
              <a:buNone/>
            </a:pPr>
            <a:endParaRPr sz="1595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38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Requisitos funcionales</a:t>
            </a:r>
            <a:endParaRPr/>
          </a:p>
        </p:txBody>
      </p:sp>
      <p:sp>
        <p:nvSpPr>
          <p:cNvPr id="284" name="Google Shape;284;p3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860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1400"/>
              </a:spcBef>
              <a:spcAft>
                <a:spcPts val="0"/>
              </a:spcAft>
              <a:buSzPts val="1018"/>
              <a:buNone/>
            </a:pPr>
            <a:r>
              <a:rPr lang="es" sz="2050" b="1"/>
              <a:t>Gestión de productos</a:t>
            </a:r>
            <a:endParaRPr sz="2050" b="1"/>
          </a:p>
          <a:p>
            <a:pPr marL="457200" lvl="0" indent="-358775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2050"/>
              <a:buChar char="●"/>
            </a:pPr>
            <a:r>
              <a:rPr lang="es" sz="2050"/>
              <a:t>Añadir productos manualmente.</a:t>
            </a:r>
            <a:br>
              <a:rPr lang="es" sz="2050"/>
            </a:br>
            <a:endParaRPr sz="2050"/>
          </a:p>
          <a:p>
            <a:pPr marL="457200" lvl="0" indent="-358775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50"/>
              <a:buChar char="●"/>
            </a:pPr>
            <a:r>
              <a:rPr lang="es" sz="2050"/>
              <a:t>Añadir productos mediante escaneo de código de barras (Android).</a:t>
            </a:r>
            <a:br>
              <a:rPr lang="es" sz="2050"/>
            </a:br>
            <a:endParaRPr sz="2050"/>
          </a:p>
          <a:p>
            <a:pPr marL="457200" lvl="0" indent="-358775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50"/>
              <a:buChar char="●"/>
            </a:pPr>
            <a:r>
              <a:rPr lang="es" sz="2050"/>
              <a:t>Eliminar productos.</a:t>
            </a:r>
            <a:br>
              <a:rPr lang="es" sz="2050"/>
            </a:br>
            <a:endParaRPr sz="2050"/>
          </a:p>
          <a:p>
            <a:pPr marL="457200" lvl="0" indent="-358775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50"/>
              <a:buChar char="●"/>
            </a:pPr>
            <a:r>
              <a:rPr lang="es" sz="2050"/>
              <a:t>Marcar productos como comprados.</a:t>
            </a:r>
            <a:br>
              <a:rPr lang="es" sz="2050"/>
            </a:br>
            <a:endParaRPr sz="2050"/>
          </a:p>
          <a:p>
            <a:pPr marL="457200" lvl="0" indent="-358775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50"/>
              <a:buChar char="●"/>
            </a:pPr>
            <a:r>
              <a:rPr lang="es" sz="2050"/>
              <a:t>Mostrar en listas compartidas quién añadió y quién compró cada producto.</a:t>
            </a:r>
            <a:endParaRPr sz="2050" b="1"/>
          </a:p>
          <a:p>
            <a:pPr marL="457200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018"/>
              <a:buNone/>
            </a:pPr>
            <a:endParaRPr sz="1217" b="1"/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1200"/>
              </a:spcAft>
              <a:buSzPts val="1018"/>
              <a:buNone/>
            </a:pPr>
            <a:endParaRPr sz="1865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39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Requisitos funcionales</a:t>
            </a:r>
            <a:endParaRPr/>
          </a:p>
        </p:txBody>
      </p:sp>
      <p:sp>
        <p:nvSpPr>
          <p:cNvPr id="290" name="Google Shape;290;p39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20000"/>
          </a:bodyPr>
          <a:lstStyle/>
          <a:p>
            <a:pPr marL="0" lvl="0" indent="0" algn="l" rtl="0">
              <a:spcBef>
                <a:spcPts val="1400"/>
              </a:spcBef>
              <a:spcAft>
                <a:spcPts val="0"/>
              </a:spcAft>
              <a:buNone/>
            </a:pPr>
            <a:r>
              <a:rPr lang="es" sz="2000" b="1"/>
              <a:t>Gestión de observaciones</a:t>
            </a:r>
            <a:endParaRPr sz="2000" b="1"/>
          </a:p>
          <a:p>
            <a:pPr marL="457200" lvl="0" indent="-355600" algn="l" rtl="0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2000"/>
              <a:buChar char="●"/>
            </a:pPr>
            <a:r>
              <a:rPr lang="es" sz="2000"/>
              <a:t>Añadir observaciones a una lista.</a:t>
            </a:r>
            <a:br>
              <a:rPr lang="es" sz="2000"/>
            </a:br>
            <a:endParaRPr sz="2000"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Char char="●"/>
            </a:pPr>
            <a:r>
              <a:rPr lang="es" sz="2000"/>
              <a:t>Modificar observaciones existentes.</a:t>
            </a:r>
            <a:br>
              <a:rPr lang="es" sz="2000"/>
            </a:br>
            <a:endParaRPr sz="2000"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Char char="●"/>
            </a:pPr>
            <a:r>
              <a:rPr lang="es" sz="2000"/>
              <a:t>Eliminar observaciones.</a:t>
            </a:r>
            <a:endParaRPr sz="2000" b="1"/>
          </a:p>
          <a:p>
            <a:pPr marL="45720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1100" b="1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40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Requisitos funcionales</a:t>
            </a:r>
            <a:endParaRPr/>
          </a:p>
        </p:txBody>
      </p:sp>
      <p:sp>
        <p:nvSpPr>
          <p:cNvPr id="296" name="Google Shape;296;p40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20000"/>
          </a:bodyPr>
          <a:lstStyle/>
          <a:p>
            <a:pPr marL="0" lvl="0" indent="0" algn="l" rtl="0">
              <a:spcBef>
                <a:spcPts val="1400"/>
              </a:spcBef>
              <a:spcAft>
                <a:spcPts val="0"/>
              </a:spcAft>
              <a:buNone/>
            </a:pPr>
            <a:r>
              <a:rPr lang="es" sz="2000" b="1"/>
              <a:t>Gestión económica</a:t>
            </a:r>
            <a:endParaRPr sz="2000" b="1"/>
          </a:p>
          <a:p>
            <a:pPr marL="457200" lvl="0" indent="-355600" algn="l" rtl="0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SzPts val="2000"/>
              <a:buChar char="●"/>
            </a:pPr>
            <a:r>
              <a:rPr lang="es" sz="2000"/>
              <a:t>Calcular el precio total de la lista.</a:t>
            </a:r>
            <a:endParaRPr sz="2000"/>
          </a:p>
          <a:p>
            <a:pPr marL="457200" lvl="0" indent="-3556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s" sz="2000"/>
              <a:t>Calcular cuánto debe pagar cada usuario en listas compartidas.</a:t>
            </a:r>
            <a:endParaRPr sz="2000"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s" sz="2000"/>
              <a:t>Marcar quién pagó y quién no.</a:t>
            </a:r>
            <a:endParaRPr sz="2000"/>
          </a:p>
          <a:p>
            <a:pPr marL="45720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1100" b="1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41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Requisitos funcionales</a:t>
            </a:r>
            <a:endParaRPr/>
          </a:p>
        </p:txBody>
      </p:sp>
      <p:sp>
        <p:nvSpPr>
          <p:cNvPr id="302" name="Google Shape;302;p41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lvl="0" indent="0" algn="l" rtl="0">
              <a:spcBef>
                <a:spcPts val="1400"/>
              </a:spcBef>
              <a:spcAft>
                <a:spcPts val="0"/>
              </a:spcAft>
              <a:buNone/>
            </a:pPr>
            <a:r>
              <a:rPr lang="es" sz="2000" b="1"/>
              <a:t>Sincronización y plataforma</a:t>
            </a:r>
            <a:endParaRPr sz="2000" b="1"/>
          </a:p>
          <a:p>
            <a:pPr marL="457200" lvl="0" indent="-346075" algn="l" rtl="0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ct val="100000"/>
              <a:buChar char="●"/>
            </a:pPr>
            <a:r>
              <a:rPr lang="es" sz="2000"/>
              <a:t>Sincronización entre Android y Web.</a:t>
            </a:r>
            <a:br>
              <a:rPr lang="es" sz="2000"/>
            </a:br>
            <a:endParaRPr sz="2000"/>
          </a:p>
          <a:p>
            <a:pPr marL="457200" lvl="0" indent="-346075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Char char="●"/>
            </a:pPr>
            <a:r>
              <a:rPr lang="es" sz="2000"/>
              <a:t>Acceso desde Android con todas las funciones (incluido escaneo) excepto eliminación de listas.</a:t>
            </a:r>
            <a:br>
              <a:rPr lang="es" sz="2000"/>
            </a:br>
            <a:endParaRPr sz="2000"/>
          </a:p>
          <a:p>
            <a:pPr marL="457200" lvl="0" indent="-346075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Char char="●"/>
            </a:pPr>
            <a:r>
              <a:rPr lang="es" sz="2000"/>
              <a:t>Acceso desde Web con las mismas funciones además de eliminación de listas (excepto escaneo de código de barras).</a:t>
            </a:r>
            <a:endParaRPr sz="2000" b="1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42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Casos de uso</a:t>
            </a:r>
            <a:endParaRPr/>
          </a:p>
        </p:txBody>
      </p:sp>
      <p:sp>
        <p:nvSpPr>
          <p:cNvPr id="308" name="Google Shape;308;p42"/>
          <p:cNvSpPr txBox="1">
            <a:spLocks noGrp="1"/>
          </p:cNvSpPr>
          <p:nvPr>
            <p:ph type="body" idx="1"/>
          </p:nvPr>
        </p:nvSpPr>
        <p:spPr>
          <a:xfrm>
            <a:off x="311700" y="1307850"/>
            <a:ext cx="8520600" cy="383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605"/>
              <a:buFont typeface="Arial"/>
              <a:buNone/>
            </a:pPr>
            <a:r>
              <a:rPr lang="es" sz="1381" b="1"/>
              <a:t>CU-01 Crear lista</a:t>
            </a:r>
            <a:endParaRPr sz="1381" b="1"/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605"/>
              <a:buFont typeface="Arial"/>
              <a:buNone/>
            </a:pPr>
            <a:r>
              <a:rPr lang="es" sz="1271" b="1"/>
              <a:t>Actor</a:t>
            </a:r>
            <a:r>
              <a:rPr lang="es" sz="1271"/>
              <a:t>: Usuario registrado (propietario).</a:t>
            </a:r>
            <a:br>
              <a:rPr lang="es" sz="1271"/>
            </a:br>
            <a:r>
              <a:rPr lang="es" sz="1271"/>
              <a:t> </a:t>
            </a:r>
            <a:r>
              <a:rPr lang="es" sz="1271" b="1"/>
              <a:t>Descripción</a:t>
            </a:r>
            <a:r>
              <a:rPr lang="es" sz="1271"/>
              <a:t>: El usuario crea una lista nueva, introduciendo un nombre identificativo.</a:t>
            </a:r>
            <a:endParaRPr sz="1271"/>
          </a:p>
          <a:p>
            <a:pPr marL="0" lvl="0" indent="0" algn="l" rtl="0">
              <a:lnSpc>
                <a:spcPct val="9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605"/>
              <a:buFont typeface="Arial"/>
              <a:buNone/>
            </a:pPr>
            <a:r>
              <a:rPr lang="es" sz="1381" b="1"/>
              <a:t>CU-02 Compartir lista</a:t>
            </a:r>
            <a:endParaRPr sz="1381" b="1"/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605"/>
              <a:buFont typeface="Arial"/>
              <a:buNone/>
            </a:pPr>
            <a:r>
              <a:rPr lang="es" sz="1271" b="1"/>
              <a:t>Actor</a:t>
            </a:r>
            <a:r>
              <a:rPr lang="es" sz="1271"/>
              <a:t>: Usuario propietario.</a:t>
            </a:r>
            <a:br>
              <a:rPr lang="es" sz="1271"/>
            </a:br>
            <a:r>
              <a:rPr lang="es" sz="1271"/>
              <a:t> </a:t>
            </a:r>
            <a:r>
              <a:rPr lang="es" sz="1271" b="1"/>
              <a:t>Descripción</a:t>
            </a:r>
            <a:r>
              <a:rPr lang="es" sz="1271"/>
              <a:t>: El propietario introduce el correo de otro usuario y le otorga acceso a la lista.</a:t>
            </a:r>
            <a:endParaRPr sz="1271"/>
          </a:p>
          <a:p>
            <a:pPr marL="0" lvl="0" indent="0" algn="l" rtl="0">
              <a:lnSpc>
                <a:spcPct val="9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605"/>
              <a:buFont typeface="Arial"/>
              <a:buNone/>
            </a:pPr>
            <a:r>
              <a:rPr lang="es" sz="1381" b="1"/>
              <a:t>CU-03 Añadir producto manualmente</a:t>
            </a:r>
            <a:endParaRPr sz="1381" b="1"/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605"/>
              <a:buFont typeface="Arial"/>
              <a:buNone/>
            </a:pPr>
            <a:r>
              <a:rPr lang="es" sz="1271" b="1"/>
              <a:t>Actor</a:t>
            </a:r>
            <a:r>
              <a:rPr lang="es" sz="1271"/>
              <a:t>: Propietario o invitado.</a:t>
            </a:r>
            <a:br>
              <a:rPr lang="es" sz="1271"/>
            </a:br>
            <a:r>
              <a:rPr lang="es" sz="1271"/>
              <a:t> </a:t>
            </a:r>
            <a:r>
              <a:rPr lang="es" sz="1271" b="1"/>
              <a:t>Descripción</a:t>
            </a:r>
            <a:r>
              <a:rPr lang="es" sz="1271"/>
              <a:t>: Se escribe el nombre de un producto y se añade a la lista seleccionada.</a:t>
            </a:r>
            <a:endParaRPr sz="1271"/>
          </a:p>
          <a:p>
            <a:pPr marL="0" lvl="0" indent="0" algn="l" rtl="0">
              <a:lnSpc>
                <a:spcPct val="9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605"/>
              <a:buFont typeface="Arial"/>
              <a:buNone/>
            </a:pPr>
            <a:r>
              <a:rPr lang="es" sz="1381" b="1"/>
              <a:t>CU-04 Añadir producto por código de barras</a:t>
            </a:r>
            <a:endParaRPr sz="1381" b="1"/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605"/>
              <a:buFont typeface="Arial"/>
              <a:buNone/>
            </a:pPr>
            <a:r>
              <a:rPr lang="es" sz="1271" b="1"/>
              <a:t>Actor</a:t>
            </a:r>
            <a:r>
              <a:rPr lang="es" sz="1271"/>
              <a:t>: Propietario o invitado (solo en Android).</a:t>
            </a:r>
            <a:br>
              <a:rPr lang="es" sz="1271"/>
            </a:br>
            <a:r>
              <a:rPr lang="es" sz="1271"/>
              <a:t> </a:t>
            </a:r>
            <a:r>
              <a:rPr lang="es" sz="1271" b="1"/>
              <a:t>Descripción</a:t>
            </a:r>
            <a:r>
              <a:rPr lang="es" sz="1271"/>
              <a:t>: Se escanea un producto, y la app registra su información (nombre, marca y modelo).</a:t>
            </a:r>
            <a:endParaRPr sz="1271"/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1200"/>
              </a:spcAft>
              <a:buSzPts val="605"/>
              <a:buNone/>
            </a:pPr>
            <a:endParaRPr sz="989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43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es"/>
              <a:t>Casos de uso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4" name="Google Shape;314;p43"/>
          <p:cNvSpPr txBox="1">
            <a:spLocks noGrp="1"/>
          </p:cNvSpPr>
          <p:nvPr>
            <p:ph type="body" idx="1"/>
          </p:nvPr>
        </p:nvSpPr>
        <p:spPr>
          <a:xfrm>
            <a:off x="364050" y="1307850"/>
            <a:ext cx="8520600" cy="377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400"/>
              </a:spcBef>
              <a:spcAft>
                <a:spcPts val="0"/>
              </a:spcAft>
              <a:buNone/>
            </a:pPr>
            <a:r>
              <a:rPr lang="es" b="1"/>
              <a:t>CU-05 Eliminar producto</a:t>
            </a:r>
            <a:endParaRPr b="1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s" sz="1100" b="1"/>
              <a:t>Actor</a:t>
            </a:r>
            <a:r>
              <a:rPr lang="es" sz="1100"/>
              <a:t>: Propietario o invitado.</a:t>
            </a:r>
            <a:br>
              <a:rPr lang="es" sz="1100"/>
            </a:br>
            <a:r>
              <a:rPr lang="es" sz="1100"/>
              <a:t> </a:t>
            </a:r>
            <a:r>
              <a:rPr lang="es" sz="1100" b="1"/>
              <a:t>Descripción</a:t>
            </a:r>
            <a:r>
              <a:rPr lang="es" sz="1100"/>
              <a:t>: Se selecciona un producto de la lista y se elimina.</a:t>
            </a:r>
            <a:endParaRPr b="1"/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b="1"/>
              <a:t>CU-06 Marcar producto como comprado</a:t>
            </a:r>
            <a:endParaRPr b="1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100" b="1"/>
              <a:t>Actor</a:t>
            </a:r>
            <a:r>
              <a:rPr lang="es" sz="1100"/>
              <a:t>: Propietario o invitado.</a:t>
            </a:r>
            <a:br>
              <a:rPr lang="es" sz="1100"/>
            </a:br>
            <a:r>
              <a:rPr lang="es" sz="1100"/>
              <a:t> </a:t>
            </a:r>
            <a:r>
              <a:rPr lang="es" sz="1100" b="1"/>
              <a:t>Descripción</a:t>
            </a:r>
            <a:r>
              <a:rPr lang="es" sz="1100"/>
              <a:t>: Se marca un producto como adquirido; pasa a la sección </a:t>
            </a:r>
            <a:r>
              <a:rPr lang="es" sz="1100" i="1"/>
              <a:t>“Comprados”</a:t>
            </a:r>
            <a:r>
              <a:rPr lang="es" sz="1100"/>
              <a:t> y se registra qué usuario lo compró.</a:t>
            </a:r>
            <a:endParaRPr sz="1100"/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b="1"/>
              <a:t>CU-07 Añadir observación</a:t>
            </a:r>
            <a:endParaRPr b="1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100" b="1"/>
              <a:t>Actor</a:t>
            </a:r>
            <a:r>
              <a:rPr lang="es" sz="1100"/>
              <a:t>: Propietario o invitado.</a:t>
            </a:r>
            <a:br>
              <a:rPr lang="es" sz="1100"/>
            </a:br>
            <a:r>
              <a:rPr lang="es" sz="1100"/>
              <a:t> </a:t>
            </a:r>
            <a:r>
              <a:rPr lang="es" sz="1100" b="1"/>
              <a:t>Descripción</a:t>
            </a:r>
            <a:r>
              <a:rPr lang="es" sz="1100"/>
              <a:t>: El usuario escribe una nota dentro de la lista seleccionada.</a:t>
            </a:r>
            <a:endParaRPr sz="1100"/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b="1"/>
              <a:t>CU-08 Modificar observación</a:t>
            </a:r>
            <a:endParaRPr b="1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s" sz="1100" b="1"/>
              <a:t>Actor</a:t>
            </a:r>
            <a:r>
              <a:rPr lang="es" sz="1100"/>
              <a:t>: Autor de la observación o propietario.</a:t>
            </a:r>
            <a:br>
              <a:rPr lang="es" sz="1100"/>
            </a:br>
            <a:r>
              <a:rPr lang="es" sz="1100"/>
              <a:t> </a:t>
            </a:r>
            <a:r>
              <a:rPr lang="es" sz="1100" b="1"/>
              <a:t>Descripción</a:t>
            </a:r>
            <a:r>
              <a:rPr lang="es" sz="1100"/>
              <a:t>: Se edita el texto de una observación existente.</a:t>
            </a:r>
            <a:endParaRPr sz="180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44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es"/>
              <a:t>Casos de uso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0" name="Google Shape;320;p44"/>
          <p:cNvSpPr txBox="1">
            <a:spLocks noGrp="1"/>
          </p:cNvSpPr>
          <p:nvPr>
            <p:ph type="body" idx="1"/>
          </p:nvPr>
        </p:nvSpPr>
        <p:spPr>
          <a:xfrm>
            <a:off x="1297500" y="1009250"/>
            <a:ext cx="7038900" cy="3797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400" b="1"/>
              <a:t>CU-09 Calcular precio total de la lista</a:t>
            </a:r>
            <a:endParaRPr sz="1400" b="1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200" b="1"/>
              <a:t>Actor</a:t>
            </a:r>
            <a:r>
              <a:rPr lang="es" sz="1200"/>
              <a:t>: Propietario o invitado.</a:t>
            </a:r>
            <a:br>
              <a:rPr lang="es" sz="1200"/>
            </a:br>
            <a:r>
              <a:rPr lang="es" sz="1200"/>
              <a:t> </a:t>
            </a:r>
            <a:r>
              <a:rPr lang="es" sz="1200" b="1"/>
              <a:t>Descripción</a:t>
            </a:r>
            <a:r>
              <a:rPr lang="es" sz="1200"/>
              <a:t>: El sistema suma los precios de todos los productos y muestra el gasto total estimado.</a:t>
            </a:r>
            <a:endParaRPr sz="1200"/>
          </a:p>
          <a:p>
            <a:pPr marL="0" lvl="0" indent="0" algn="l" rtl="0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400" b="1"/>
              <a:t>CU-11 Mostrar opciones de división de gasto</a:t>
            </a:r>
            <a:endParaRPr sz="1400" b="1"/>
          </a:p>
          <a:p>
            <a:pPr marL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200" b="1"/>
              <a:t>Actor</a:t>
            </a:r>
            <a:r>
              <a:rPr lang="es" sz="1200"/>
              <a:t>: Propietario o invitado en lista compartida.</a:t>
            </a:r>
            <a:br>
              <a:rPr lang="es" sz="1200"/>
            </a:br>
            <a:r>
              <a:rPr lang="es" sz="1200"/>
              <a:t> </a:t>
            </a:r>
            <a:r>
              <a:rPr lang="es" sz="1200" b="1"/>
              <a:t>Descripción</a:t>
            </a:r>
            <a:r>
              <a:rPr lang="es" sz="1200"/>
              <a:t>: A partir del precio total, el sistema reparte el gasto entre los usuarios asociados a la lista.</a:t>
            </a:r>
            <a:endParaRPr sz="1200"/>
          </a:p>
          <a:p>
            <a:pPr marL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s" sz="1200" b="1"/>
              <a:t>Actor</a:t>
            </a:r>
            <a:r>
              <a:rPr lang="es" sz="1200">
                <a:latin typeface="Roboto"/>
                <a:ea typeface="Roboto"/>
                <a:cs typeface="Roboto"/>
                <a:sym typeface="Roboto"/>
              </a:rPr>
              <a:t>: Propietario o invitado de lista compartida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s" sz="1200" b="1"/>
              <a:t>Descripción</a:t>
            </a:r>
            <a:r>
              <a:rPr lang="es" sz="1200">
                <a:latin typeface="Roboto"/>
                <a:ea typeface="Roboto"/>
                <a:cs typeface="Roboto"/>
                <a:sym typeface="Roboto"/>
              </a:rPr>
              <a:t>: En función de si es invitado o propietario tendrá una serie de conceptos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45"/>
          <p:cNvSpPr txBox="1">
            <a:spLocks noGrp="1"/>
          </p:cNvSpPr>
          <p:nvPr>
            <p:ph type="title"/>
          </p:nvPr>
        </p:nvSpPr>
        <p:spPr>
          <a:xfrm>
            <a:off x="823850" y="2053000"/>
            <a:ext cx="4587000" cy="1148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45720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s"/>
              <a:t>Modelo de datos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6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s" sz="2500"/>
              <a:t>Modelo conceptual</a:t>
            </a:r>
            <a:endParaRPr sz="2500"/>
          </a:p>
        </p:txBody>
      </p:sp>
      <p:sp>
        <p:nvSpPr>
          <p:cNvPr id="331" name="Google Shape;331;p46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457200" lvl="0" indent="-293211" algn="l" rtl="0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ct val="100000"/>
              <a:buChar char="●"/>
            </a:pPr>
            <a:r>
              <a:rPr lang="es" sz="1100" b="1"/>
              <a:t>Usuarios (</a:t>
            </a:r>
            <a:r>
              <a:rPr lang="es" sz="1100" b="1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users</a:t>
            </a:r>
            <a:r>
              <a:rPr lang="es" sz="1100" b="1"/>
              <a:t>)</a:t>
            </a:r>
            <a:br>
              <a:rPr lang="es" sz="1100" b="1"/>
            </a:br>
            <a:r>
              <a:rPr lang="es" sz="1100"/>
              <a:t> Representan a las personas que usan la aplicación.</a:t>
            </a:r>
            <a:br>
              <a:rPr lang="es" sz="1100"/>
            </a:br>
            <a:endParaRPr sz="1100"/>
          </a:p>
          <a:p>
            <a:pPr marL="914400" lvl="1" indent="-293211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Char char="○"/>
            </a:pPr>
            <a:r>
              <a:rPr lang="es" sz="1100"/>
              <a:t>Cada usuario tiene un correo único, fecha de creación, último acceso y un identificador (</a:t>
            </a:r>
            <a:r>
              <a:rPr lang="es" sz="1100">
                <a:latin typeface="Roboto Mono"/>
                <a:ea typeface="Roboto Mono"/>
                <a:cs typeface="Roboto Mono"/>
                <a:sym typeface="Roboto Mono"/>
              </a:rPr>
              <a:t>uid</a:t>
            </a:r>
            <a:r>
              <a:rPr lang="es" sz="1100"/>
              <a:t>).</a:t>
            </a:r>
            <a:br>
              <a:rPr lang="es" sz="1100"/>
            </a:br>
            <a:endParaRPr sz="1100"/>
          </a:p>
          <a:p>
            <a:pPr marL="914400" lvl="1" indent="-293211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Char char="○"/>
            </a:pPr>
            <a:r>
              <a:rPr lang="es" sz="1100"/>
              <a:t>Los usuarios pueden ser propietarios o invitados en las listas.</a:t>
            </a:r>
            <a:br>
              <a:rPr lang="es" sz="1100"/>
            </a:br>
            <a:endParaRPr sz="1100"/>
          </a:p>
          <a:p>
            <a:pPr marL="457200" lvl="0" indent="-293211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Char char="●"/>
            </a:pPr>
            <a:r>
              <a:rPr lang="es" sz="1100" b="1"/>
              <a:t>Listas (</a:t>
            </a:r>
            <a:r>
              <a:rPr lang="es" sz="1100" b="1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lists</a:t>
            </a:r>
            <a:r>
              <a:rPr lang="es" sz="1100" b="1"/>
              <a:t>)</a:t>
            </a:r>
            <a:br>
              <a:rPr lang="es" sz="1100" b="1"/>
            </a:br>
            <a:r>
              <a:rPr lang="es" sz="1100"/>
              <a:t> Representan un conjunto de compras.</a:t>
            </a:r>
            <a:br>
              <a:rPr lang="es" sz="1100"/>
            </a:br>
            <a:endParaRPr sz="1100"/>
          </a:p>
          <a:p>
            <a:pPr marL="914400" lvl="1" indent="-293211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Char char="○"/>
            </a:pPr>
            <a:r>
              <a:rPr lang="es" sz="1100"/>
              <a:t>Cada lista tiene un nombre, un propietario, un conjunto de usuarios invitados y productos asociados.</a:t>
            </a:r>
            <a:br>
              <a:rPr lang="es" sz="1100"/>
            </a:br>
            <a:endParaRPr sz="1100"/>
          </a:p>
          <a:p>
            <a:pPr marL="914400" lvl="1" indent="-293211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Char char="○"/>
            </a:pPr>
            <a:r>
              <a:rPr lang="es" sz="1100"/>
              <a:t>Se guardan fechas relevantes (creación, finalización) y estados de la lista.</a:t>
            </a:r>
            <a:br>
              <a:rPr lang="es" sz="1100"/>
            </a:br>
            <a:endParaRPr sz="1100"/>
          </a:p>
          <a:p>
            <a:pPr marL="914400" lvl="1" indent="-293211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Char char="○"/>
            </a:pPr>
            <a:r>
              <a:rPr lang="es" sz="1100"/>
              <a:t>Se almacena el </a:t>
            </a:r>
            <a:r>
              <a:rPr lang="es" sz="1100" b="1"/>
              <a:t>precio total</a:t>
            </a:r>
            <a:r>
              <a:rPr lang="es" sz="1100"/>
              <a:t>.</a:t>
            </a:r>
            <a:endParaRPr sz="1100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47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s" sz="2500"/>
              <a:t>Modelo conceptual</a:t>
            </a:r>
            <a:endParaRPr sz="250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7" name="Google Shape;337;p47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s" sz="1100" b="1"/>
              <a:t>Productos (</a:t>
            </a:r>
            <a:r>
              <a:rPr lang="es" sz="1100" b="1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items</a:t>
            </a:r>
            <a:r>
              <a:rPr lang="es" sz="1100" b="1"/>
              <a:t>)</a:t>
            </a:r>
            <a:br>
              <a:rPr lang="es" sz="1100" b="1"/>
            </a:br>
            <a:r>
              <a:rPr lang="es" sz="1100"/>
              <a:t> Representan artículos dentro de una lista.</a:t>
            </a:r>
            <a:br>
              <a:rPr lang="es" sz="1100"/>
            </a:br>
            <a:endParaRPr sz="1100"/>
          </a:p>
          <a:p>
            <a:pPr marL="914400" lvl="1" indent="-2984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</a:pPr>
            <a:r>
              <a:rPr lang="es" sz="1100"/>
              <a:t>Incluyen nombre, categoría, estado (pendiente/comprado), precio (si lo hay).</a:t>
            </a:r>
            <a:br>
              <a:rPr lang="es" sz="1100"/>
            </a:br>
            <a:endParaRPr sz="1100"/>
          </a:p>
          <a:p>
            <a:pPr marL="914400" lvl="1" indent="-2984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</a:pPr>
            <a:r>
              <a:rPr lang="es" sz="1100"/>
              <a:t>Guardan quién lo añadió y quién lo compró.</a:t>
            </a:r>
            <a:br>
              <a:rPr lang="es" sz="1100"/>
            </a:br>
            <a:endParaRPr sz="1100"/>
          </a:p>
          <a:p>
            <a:pPr marL="914400" lvl="1" indent="-2984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</a:pPr>
            <a:r>
              <a:rPr lang="es" sz="1100"/>
              <a:t>Están ligados a una lista mediante </a:t>
            </a:r>
            <a:r>
              <a:rPr lang="es" sz="11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listId</a:t>
            </a:r>
            <a:r>
              <a:rPr lang="es" sz="1100"/>
              <a:t>.</a:t>
            </a:r>
            <a:br>
              <a:rPr lang="es" sz="1100"/>
            </a:br>
            <a:endParaRPr sz="1100"/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s" sz="1100" b="1"/>
              <a:t>Observaciones (</a:t>
            </a:r>
            <a:r>
              <a:rPr lang="es" sz="1100" b="1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listObservations</a:t>
            </a:r>
            <a:r>
              <a:rPr lang="es" sz="1100" b="1"/>
              <a:t>)</a:t>
            </a:r>
            <a:br>
              <a:rPr lang="es" sz="1100" b="1"/>
            </a:br>
            <a:r>
              <a:rPr lang="es" sz="1100"/>
              <a:t> Son notas o comentarios sobre una lista.</a:t>
            </a:r>
            <a:br>
              <a:rPr lang="es" sz="1100"/>
            </a:br>
            <a:endParaRPr sz="1100"/>
          </a:p>
          <a:p>
            <a:pPr marL="914400" lvl="1" indent="-2984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</a:pPr>
            <a:r>
              <a:rPr lang="es" sz="1100"/>
              <a:t>Tienen autor, fecha de última modificación y el contenido de la observación.</a:t>
            </a:r>
            <a:br>
              <a:rPr lang="es" sz="1100"/>
            </a:br>
            <a:endParaRPr sz="1100"/>
          </a:p>
          <a:p>
            <a:pPr marL="914400" lvl="1" indent="-2984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</a:pPr>
            <a:r>
              <a:rPr lang="es" sz="1100"/>
              <a:t>Se asocian a una lista.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8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s" sz="2500"/>
              <a:t>Modelo conceptual</a:t>
            </a:r>
            <a:endParaRPr/>
          </a:p>
        </p:txBody>
      </p:sp>
      <p:sp>
        <p:nvSpPr>
          <p:cNvPr id="343" name="Google Shape;343;p48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s" sz="1100" b="1"/>
              <a:t>Pagos(</a:t>
            </a:r>
            <a:r>
              <a:rPr lang="es" sz="1100" b="1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listPayments</a:t>
            </a:r>
            <a:r>
              <a:rPr lang="es" sz="1100" b="1"/>
              <a:t>)</a:t>
            </a:r>
            <a:endParaRPr sz="1100" b="1"/>
          </a:p>
          <a:p>
            <a:pPr marL="45720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s" sz="1100" b="1"/>
              <a:t>Incluyen el nombre de la lista, ID, usuarios que han pagado, ultima actualización y quien lo actualizó</a:t>
            </a:r>
            <a:endParaRPr sz="1100" b="1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49"/>
          <p:cNvSpPr txBox="1">
            <a:spLocks noGrp="1"/>
          </p:cNvSpPr>
          <p:nvPr>
            <p:ph type="title"/>
          </p:nvPr>
        </p:nvSpPr>
        <p:spPr>
          <a:xfrm>
            <a:off x="823850" y="2053000"/>
            <a:ext cx="4587000" cy="1148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45720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s"/>
              <a:t>Descripción de entidades</a:t>
            </a:r>
            <a:endParaRPr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p50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s" sz="2500"/>
              <a:t>Descripción de entidades</a:t>
            </a:r>
            <a:endParaRPr sz="2500"/>
          </a:p>
        </p:txBody>
      </p:sp>
      <p:sp>
        <p:nvSpPr>
          <p:cNvPr id="354" name="Google Shape;354;p50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s" sz="1500" b="1"/>
              <a:t>Usuarios (</a:t>
            </a:r>
            <a:r>
              <a:rPr lang="es" sz="1500" b="1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users</a:t>
            </a:r>
            <a:r>
              <a:rPr lang="es" sz="1500" b="1"/>
              <a:t>)</a:t>
            </a:r>
            <a:endParaRPr sz="1500" b="1"/>
          </a:p>
          <a:p>
            <a:pPr marL="457200" lvl="0" indent="-323850" algn="l" rtl="0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500"/>
              <a:buChar char="●"/>
            </a:pPr>
            <a:r>
              <a:rPr lang="es" sz="15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uid</a:t>
            </a:r>
            <a:r>
              <a:rPr lang="es" sz="1500">
                <a:solidFill>
                  <a:srgbClr val="00FF00"/>
                </a:solidFill>
              </a:rPr>
              <a:t> </a:t>
            </a:r>
            <a:r>
              <a:rPr lang="es" sz="1500"/>
              <a:t>(string, clave primaria lógica)</a:t>
            </a:r>
            <a:br>
              <a:rPr lang="es" sz="1500"/>
            </a:br>
            <a:endParaRPr sz="1500"/>
          </a:p>
          <a:p>
            <a:pPr marL="457200" lvl="0" indent="-3238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Char char="●"/>
            </a:pPr>
            <a:r>
              <a:rPr lang="es" sz="15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email</a:t>
            </a:r>
            <a:r>
              <a:rPr lang="es" sz="1500">
                <a:solidFill>
                  <a:srgbClr val="00FF00"/>
                </a:solidFill>
              </a:rPr>
              <a:t> </a:t>
            </a:r>
            <a:r>
              <a:rPr lang="es" sz="1500"/>
              <a:t>(string, único)</a:t>
            </a:r>
            <a:br>
              <a:rPr lang="es" sz="1500"/>
            </a:br>
            <a:endParaRPr sz="1500"/>
          </a:p>
          <a:p>
            <a:pPr marL="457200" lvl="0" indent="-3238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Char char="●"/>
            </a:pPr>
            <a:r>
              <a:rPr lang="es" sz="15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createdAt</a:t>
            </a:r>
            <a:r>
              <a:rPr lang="es" sz="1500">
                <a:solidFill>
                  <a:srgbClr val="00FF00"/>
                </a:solidFill>
              </a:rPr>
              <a:t> </a:t>
            </a:r>
            <a:r>
              <a:rPr lang="es" sz="1500"/>
              <a:t>(timestamp)</a:t>
            </a:r>
            <a:br>
              <a:rPr lang="es" sz="1500"/>
            </a:br>
            <a:endParaRPr sz="1500"/>
          </a:p>
          <a:p>
            <a:pPr marL="457200" lvl="0" indent="-3238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Char char="●"/>
            </a:pPr>
            <a:r>
              <a:rPr lang="es" sz="15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lastLogin</a:t>
            </a:r>
            <a:r>
              <a:rPr lang="es" sz="1500">
                <a:solidFill>
                  <a:srgbClr val="00FF00"/>
                </a:solidFill>
              </a:rPr>
              <a:t> </a:t>
            </a:r>
            <a:r>
              <a:rPr lang="es" sz="1500"/>
              <a:t>(timestamp)</a:t>
            </a:r>
            <a:br>
              <a:rPr lang="es" sz="1500"/>
            </a:br>
            <a:endParaRPr sz="1500"/>
          </a:p>
          <a:p>
            <a:pPr marL="457200" lvl="0" indent="-3238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Char char="●"/>
            </a:pPr>
            <a:r>
              <a:rPr lang="es" sz="15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searchEmail</a:t>
            </a:r>
            <a:r>
              <a:rPr lang="es" sz="1500">
                <a:solidFill>
                  <a:srgbClr val="00FF00"/>
                </a:solidFill>
              </a:rPr>
              <a:t> </a:t>
            </a:r>
            <a:r>
              <a:rPr lang="es" sz="1500"/>
              <a:t>(string, para búsquedas rápidas)</a:t>
            </a:r>
            <a:endParaRPr sz="160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p51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s" sz="2500"/>
              <a:t>Descripción de entidades</a:t>
            </a:r>
            <a:endParaRPr sz="2500"/>
          </a:p>
        </p:txBody>
      </p:sp>
      <p:sp>
        <p:nvSpPr>
          <p:cNvPr id="360" name="Google Shape;360;p51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/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s" sz="1100" b="1"/>
              <a:t>Listas (</a:t>
            </a:r>
            <a:r>
              <a:rPr lang="es" sz="1100" b="1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lists</a:t>
            </a:r>
            <a:r>
              <a:rPr lang="es" sz="1100" b="1"/>
              <a:t>)</a:t>
            </a:r>
            <a:endParaRPr sz="1100" b="1"/>
          </a:p>
          <a:p>
            <a:pPr marL="457200" lvl="0" indent="-287972" algn="l" rtl="0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ct val="100000"/>
              <a:buChar char="●"/>
            </a:pPr>
            <a:r>
              <a:rPr lang="es" sz="11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userId</a:t>
            </a:r>
            <a:r>
              <a:rPr lang="es" sz="1100">
                <a:solidFill>
                  <a:srgbClr val="00FF00"/>
                </a:solidFill>
              </a:rPr>
              <a:t> </a:t>
            </a:r>
            <a:r>
              <a:rPr lang="es" sz="1100"/>
              <a:t>(string, referencia al propietario en </a:t>
            </a:r>
            <a:r>
              <a:rPr lang="es" sz="11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users</a:t>
            </a:r>
            <a:r>
              <a:rPr lang="es" sz="1100"/>
              <a:t>)</a:t>
            </a:r>
            <a:br>
              <a:rPr lang="es" sz="1100"/>
            </a:br>
            <a:endParaRPr sz="1100"/>
          </a:p>
          <a:p>
            <a:pPr marL="457200" lvl="0" indent="-287972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Char char="●"/>
            </a:pPr>
            <a:r>
              <a:rPr lang="es" sz="11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ownerEmail</a:t>
            </a:r>
            <a:r>
              <a:rPr lang="es" sz="1100">
                <a:solidFill>
                  <a:srgbClr val="00FF00"/>
                </a:solidFill>
              </a:rPr>
              <a:t> </a:t>
            </a:r>
            <a:r>
              <a:rPr lang="es" sz="1100"/>
              <a:t>(string, redundancia para mostrar sin lookup)</a:t>
            </a:r>
            <a:br>
              <a:rPr lang="es" sz="1100"/>
            </a:br>
            <a:endParaRPr sz="1100"/>
          </a:p>
          <a:p>
            <a:pPr marL="457200" lvl="0" indent="-287972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Char char="●"/>
            </a:pPr>
            <a:r>
              <a:rPr lang="es" sz="11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name</a:t>
            </a:r>
            <a:r>
              <a:rPr lang="es" sz="1100">
                <a:solidFill>
                  <a:srgbClr val="00FF00"/>
                </a:solidFill>
              </a:rPr>
              <a:t> </a:t>
            </a:r>
            <a:r>
              <a:rPr lang="es" sz="1100"/>
              <a:t>(string)</a:t>
            </a:r>
            <a:br>
              <a:rPr lang="es" sz="1100"/>
            </a:br>
            <a:endParaRPr sz="1100"/>
          </a:p>
          <a:p>
            <a:pPr marL="457200" lvl="0" indent="-287972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Char char="●"/>
            </a:pPr>
            <a:r>
              <a:rPr lang="es" sz="11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createdAt</a:t>
            </a:r>
            <a:r>
              <a:rPr lang="es" sz="1100">
                <a:solidFill>
                  <a:srgbClr val="00FF00"/>
                </a:solidFill>
              </a:rPr>
              <a:t> </a:t>
            </a:r>
            <a:r>
              <a:rPr lang="es" sz="1100"/>
              <a:t>(timestamp)</a:t>
            </a:r>
            <a:br>
              <a:rPr lang="es" sz="1100"/>
            </a:br>
            <a:endParaRPr sz="1100"/>
          </a:p>
          <a:p>
            <a:pPr marL="457200" lvl="0" indent="-287972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Char char="●"/>
            </a:pPr>
            <a:r>
              <a:rPr lang="es" sz="11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finalizedAt</a:t>
            </a:r>
            <a:r>
              <a:rPr lang="es" sz="1100">
                <a:solidFill>
                  <a:srgbClr val="00FF00"/>
                </a:solidFill>
              </a:rPr>
              <a:t> </a:t>
            </a:r>
            <a:r>
              <a:rPr lang="es" sz="1100"/>
              <a:t>(timestamp, opcional)</a:t>
            </a:r>
            <a:br>
              <a:rPr lang="es" sz="1100"/>
            </a:br>
            <a:endParaRPr sz="1100"/>
          </a:p>
          <a:p>
            <a:pPr marL="457200" lvl="0" indent="-287972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Char char="●"/>
            </a:pPr>
            <a:r>
              <a:rPr lang="es" sz="11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finalizedBy</a:t>
            </a:r>
            <a:r>
              <a:rPr lang="es" sz="1100">
                <a:solidFill>
                  <a:srgbClr val="00FF00"/>
                </a:solidFill>
              </a:rPr>
              <a:t> </a:t>
            </a:r>
            <a:r>
              <a:rPr lang="es" sz="1100"/>
              <a:t>(string, correo de quien finalizó)</a:t>
            </a:r>
            <a:br>
              <a:rPr lang="es" sz="1100"/>
            </a:br>
            <a:endParaRPr sz="1100"/>
          </a:p>
          <a:p>
            <a:pPr marL="457200" lvl="0" indent="-287972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Char char="●"/>
            </a:pPr>
            <a:r>
              <a:rPr lang="es" sz="11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sharedWith</a:t>
            </a:r>
            <a:r>
              <a:rPr lang="es" sz="1100">
                <a:solidFill>
                  <a:srgbClr val="00FF00"/>
                </a:solidFill>
              </a:rPr>
              <a:t> </a:t>
            </a:r>
            <a:r>
              <a:rPr lang="es" sz="1100"/>
              <a:t>(array de correos)</a:t>
            </a:r>
            <a:br>
              <a:rPr lang="es" sz="1100"/>
            </a:br>
            <a:endParaRPr sz="1100"/>
          </a:p>
          <a:p>
            <a:pPr marL="457200" lvl="0" indent="-287972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Char char="●"/>
            </a:pPr>
            <a:r>
              <a:rPr lang="es" sz="11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purchaseInfo</a:t>
            </a:r>
            <a:r>
              <a:rPr lang="es" sz="1100">
                <a:solidFill>
                  <a:srgbClr val="00FF00"/>
                </a:solidFill>
              </a:rPr>
              <a:t> </a:t>
            </a:r>
            <a:r>
              <a:rPr lang="es" sz="1100"/>
              <a:t>(mapa con metadatos de compra)</a:t>
            </a:r>
            <a:br>
              <a:rPr lang="es" sz="1100"/>
            </a:br>
            <a:endParaRPr sz="1100"/>
          </a:p>
          <a:p>
            <a:pPr marL="457200" lvl="0" indent="-287972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Char char="●"/>
            </a:pPr>
            <a:r>
              <a:rPr lang="es" sz="11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totalPrice</a:t>
            </a:r>
            <a:r>
              <a:rPr lang="es" sz="1100">
                <a:solidFill>
                  <a:srgbClr val="00FF00"/>
                </a:solidFill>
              </a:rPr>
              <a:t> </a:t>
            </a:r>
            <a:r>
              <a:rPr lang="es" sz="1100"/>
              <a:t>(number, suma de todos los productos)</a:t>
            </a:r>
            <a:endParaRPr sz="1500" b="1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2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s" sz="2500"/>
              <a:t>Descripción de entidades</a:t>
            </a:r>
            <a:endParaRPr sz="2500"/>
          </a:p>
        </p:txBody>
      </p:sp>
      <p:sp>
        <p:nvSpPr>
          <p:cNvPr id="366" name="Google Shape;366;p52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20000"/>
          </a:bodyPr>
          <a:lstStyle/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s" sz="1100" b="1"/>
              <a:t>Productos (</a:t>
            </a:r>
            <a:r>
              <a:rPr lang="es" sz="1100" b="1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items</a:t>
            </a:r>
            <a:r>
              <a:rPr lang="es" sz="1100" b="1"/>
              <a:t>)</a:t>
            </a:r>
            <a:endParaRPr sz="1100" b="1"/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s" sz="11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listId</a:t>
            </a:r>
            <a:r>
              <a:rPr lang="es" sz="1100">
                <a:solidFill>
                  <a:srgbClr val="00FF00"/>
                </a:solidFill>
              </a:rPr>
              <a:t> </a:t>
            </a:r>
            <a:r>
              <a:rPr lang="es" sz="1100"/>
              <a:t>(string, referencia a </a:t>
            </a:r>
            <a:r>
              <a:rPr lang="es" sz="1100">
                <a:latin typeface="Roboto Mono"/>
                <a:ea typeface="Roboto Mono"/>
                <a:cs typeface="Roboto Mono"/>
                <a:sym typeface="Roboto Mono"/>
              </a:rPr>
              <a:t>lists</a:t>
            </a:r>
            <a:r>
              <a:rPr lang="es" sz="1100"/>
              <a:t>)</a:t>
            </a:r>
            <a:br>
              <a:rPr lang="es" sz="1100"/>
            </a:br>
            <a:endParaRPr sz="1100"/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s" sz="11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text</a:t>
            </a:r>
            <a:r>
              <a:rPr lang="es" sz="1100">
                <a:solidFill>
                  <a:srgbClr val="00FF00"/>
                </a:solidFill>
              </a:rPr>
              <a:t> </a:t>
            </a:r>
            <a:r>
              <a:rPr lang="es" sz="1100"/>
              <a:t>(string, nombre del producto)</a:t>
            </a:r>
            <a:br>
              <a:rPr lang="es" sz="1100"/>
            </a:br>
            <a:endParaRPr sz="1100"/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s" sz="11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category</a:t>
            </a:r>
            <a:r>
              <a:rPr lang="es" sz="1100">
                <a:solidFill>
                  <a:srgbClr val="00FF00"/>
                </a:solidFill>
              </a:rPr>
              <a:t> </a:t>
            </a:r>
            <a:r>
              <a:rPr lang="es" sz="1100"/>
              <a:t>(string, categoría general, ej. DAIRY)</a:t>
            </a:r>
            <a:br>
              <a:rPr lang="es" sz="1100"/>
            </a:br>
            <a:endParaRPr sz="1100"/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s" sz="11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completed</a:t>
            </a:r>
            <a:r>
              <a:rPr lang="es" sz="1100">
                <a:solidFill>
                  <a:srgbClr val="00FF00"/>
                </a:solidFill>
              </a:rPr>
              <a:t> </a:t>
            </a:r>
            <a:r>
              <a:rPr lang="es" sz="1100"/>
              <a:t>(boolean, comprado o no)</a:t>
            </a:r>
            <a:br>
              <a:rPr lang="es" sz="1100"/>
            </a:br>
            <a:endParaRPr sz="1100"/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s" sz="11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addedBy</a:t>
            </a:r>
            <a:r>
              <a:rPr lang="es" sz="1100">
                <a:solidFill>
                  <a:srgbClr val="00FF00"/>
                </a:solidFill>
              </a:rPr>
              <a:t> </a:t>
            </a:r>
            <a:r>
              <a:rPr lang="es" sz="1100"/>
              <a:t>(string, correo del usuario)</a:t>
            </a:r>
            <a:br>
              <a:rPr lang="es" sz="1100"/>
            </a:br>
            <a:endParaRPr sz="1100"/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s" sz="11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purchasedBy</a:t>
            </a:r>
            <a:r>
              <a:rPr lang="es" sz="1100">
                <a:solidFill>
                  <a:srgbClr val="00FF00"/>
                </a:solidFill>
              </a:rPr>
              <a:t> </a:t>
            </a:r>
            <a:r>
              <a:rPr lang="es" sz="1100"/>
              <a:t>(string, correo del comprador, opcional)</a:t>
            </a:r>
            <a:br>
              <a:rPr lang="es" sz="1100"/>
            </a:br>
            <a:endParaRPr sz="1100"/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s" sz="11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createdAt</a:t>
            </a:r>
            <a:r>
              <a:rPr lang="es" sz="1100">
                <a:solidFill>
                  <a:srgbClr val="00FF00"/>
                </a:solidFill>
              </a:rPr>
              <a:t> </a:t>
            </a:r>
            <a:r>
              <a:rPr lang="es" sz="1100"/>
              <a:t>(timestamp)</a:t>
            </a:r>
            <a:br>
              <a:rPr lang="es" sz="1100"/>
            </a:br>
            <a:endParaRPr sz="1100"/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s" sz="11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userId</a:t>
            </a:r>
            <a:r>
              <a:rPr lang="es" sz="1100">
                <a:solidFill>
                  <a:srgbClr val="00FF00"/>
                </a:solidFill>
              </a:rPr>
              <a:t> </a:t>
            </a:r>
            <a:r>
              <a:rPr lang="es" sz="1100"/>
              <a:t>(string, referencia a </a:t>
            </a:r>
            <a:r>
              <a:rPr lang="es" sz="1100">
                <a:latin typeface="Roboto Mono"/>
                <a:ea typeface="Roboto Mono"/>
                <a:cs typeface="Roboto Mono"/>
                <a:sym typeface="Roboto Mono"/>
              </a:rPr>
              <a:t>users</a:t>
            </a:r>
            <a:r>
              <a:rPr lang="es" sz="1100"/>
              <a:t>)</a:t>
            </a:r>
            <a:endParaRPr sz="1500" b="1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p53"/>
          <p:cNvSpPr txBox="1">
            <a:spLocks noGrp="1"/>
          </p:cNvSpPr>
          <p:nvPr>
            <p:ph type="title"/>
          </p:nvPr>
        </p:nvSpPr>
        <p:spPr>
          <a:xfrm>
            <a:off x="1297500" y="401225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s" sz="2500"/>
              <a:t>Descripción de entidades</a:t>
            </a:r>
            <a:endParaRPr sz="2500"/>
          </a:p>
        </p:txBody>
      </p:sp>
      <p:sp>
        <p:nvSpPr>
          <p:cNvPr id="372" name="Google Shape;372;p53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s" sz="1500" b="1"/>
              <a:t>Observaciones (</a:t>
            </a:r>
            <a:r>
              <a:rPr lang="es" sz="1500" b="1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listObservations</a:t>
            </a:r>
            <a:r>
              <a:rPr lang="es" sz="1500" b="1"/>
              <a:t>)</a:t>
            </a:r>
            <a:endParaRPr sz="1500" b="1"/>
          </a:p>
          <a:p>
            <a:pPr marL="457200" lvl="0" indent="-323850" algn="l" rtl="0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500"/>
              <a:buChar char="●"/>
            </a:pPr>
            <a:r>
              <a:rPr lang="es" sz="15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observations</a:t>
            </a:r>
            <a:r>
              <a:rPr lang="es" sz="1500">
                <a:solidFill>
                  <a:srgbClr val="00FF00"/>
                </a:solidFill>
              </a:rPr>
              <a:t> </a:t>
            </a:r>
            <a:r>
              <a:rPr lang="es" sz="1500"/>
              <a:t>(string)</a:t>
            </a:r>
            <a:br>
              <a:rPr lang="es" sz="1500"/>
            </a:br>
            <a:endParaRPr sz="1500"/>
          </a:p>
          <a:p>
            <a:pPr marL="457200" lvl="0" indent="-3238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Char char="●"/>
            </a:pPr>
            <a:r>
              <a:rPr lang="es" sz="15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updatedBy</a:t>
            </a:r>
            <a:r>
              <a:rPr lang="es" sz="1500">
                <a:solidFill>
                  <a:srgbClr val="00FF00"/>
                </a:solidFill>
              </a:rPr>
              <a:t> </a:t>
            </a:r>
            <a:r>
              <a:rPr lang="es" sz="1500"/>
              <a:t>(string, correo del autor/modificador)</a:t>
            </a:r>
            <a:br>
              <a:rPr lang="es" sz="1500"/>
            </a:br>
            <a:endParaRPr sz="1500"/>
          </a:p>
          <a:p>
            <a:pPr marL="457200" lvl="0" indent="-3238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Char char="●"/>
            </a:pPr>
            <a:r>
              <a:rPr lang="es" sz="15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updatedAt</a:t>
            </a:r>
            <a:r>
              <a:rPr lang="es" sz="1500">
                <a:solidFill>
                  <a:srgbClr val="00FF00"/>
                </a:solidFill>
              </a:rPr>
              <a:t> </a:t>
            </a:r>
            <a:r>
              <a:rPr lang="es" sz="1500"/>
              <a:t>(timestamp)</a:t>
            </a:r>
            <a:endParaRPr sz="1900" b="1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54"/>
          <p:cNvSpPr txBox="1">
            <a:spLocks noGrp="1"/>
          </p:cNvSpPr>
          <p:nvPr>
            <p:ph type="title"/>
          </p:nvPr>
        </p:nvSpPr>
        <p:spPr>
          <a:xfrm>
            <a:off x="1297500" y="401225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s" sz="2500"/>
              <a:t>Descripción de entidades</a:t>
            </a:r>
            <a:endParaRPr sz="2500"/>
          </a:p>
        </p:txBody>
      </p:sp>
      <p:sp>
        <p:nvSpPr>
          <p:cNvPr id="378" name="Google Shape;378;p54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s" sz="1500" b="1"/>
              <a:t>Pagos(</a:t>
            </a:r>
            <a:r>
              <a:rPr lang="es" sz="1500" b="1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listPayments</a:t>
            </a:r>
            <a:r>
              <a:rPr lang="es" sz="1500" b="1"/>
              <a:t>)</a:t>
            </a:r>
            <a:endParaRPr sz="1500" b="1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s" sz="15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listId</a:t>
            </a:r>
            <a:r>
              <a:rPr lang="es" sz="1500"/>
              <a:t>(string)</a:t>
            </a:r>
            <a:endParaRPr sz="150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s" sz="15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listName</a:t>
            </a:r>
            <a:r>
              <a:rPr lang="es" sz="1500"/>
              <a:t>(string)</a:t>
            </a:r>
            <a:endParaRPr sz="150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s" sz="15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paymentParticipants</a:t>
            </a:r>
            <a:r>
              <a:rPr lang="es" sz="1500"/>
              <a:t>(Array)</a:t>
            </a:r>
            <a:endParaRPr sz="150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s" sz="15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payments</a:t>
            </a:r>
            <a:r>
              <a:rPr lang="es" sz="1500"/>
              <a:t>(Array)</a:t>
            </a:r>
            <a:endParaRPr sz="1500">
              <a:solidFill>
                <a:srgbClr val="00FF00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s" sz="15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totalAmount</a:t>
            </a:r>
            <a:r>
              <a:rPr lang="es" sz="1500"/>
              <a:t>(int)</a:t>
            </a:r>
            <a:endParaRPr sz="1500">
              <a:solidFill>
                <a:srgbClr val="00FF00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s" sz="15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updatedAt</a:t>
            </a:r>
            <a:r>
              <a:rPr lang="es" sz="1500"/>
              <a:t>(timestamp)</a:t>
            </a:r>
            <a:endParaRPr sz="1500">
              <a:solidFill>
                <a:srgbClr val="00FF00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s" sz="15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updatedBy</a:t>
            </a:r>
            <a:r>
              <a:rPr lang="es" sz="1500"/>
              <a:t>(timestamp)</a:t>
            </a:r>
            <a:endParaRPr sz="1500">
              <a:solidFill>
                <a:srgbClr val="00FF00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p55"/>
          <p:cNvSpPr txBox="1">
            <a:spLocks noGrp="1"/>
          </p:cNvSpPr>
          <p:nvPr>
            <p:ph type="title"/>
          </p:nvPr>
        </p:nvSpPr>
        <p:spPr>
          <a:xfrm>
            <a:off x="823850" y="2053000"/>
            <a:ext cx="4587000" cy="1148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/>
              <a:t>Descripción de interrelaciones</a:t>
            </a:r>
            <a:endParaRPr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p56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Descripción de interrelaciones</a:t>
            </a:r>
            <a:endParaRPr/>
          </a:p>
        </p:txBody>
      </p:sp>
      <p:sp>
        <p:nvSpPr>
          <p:cNvPr id="389" name="Google Shape;389;p5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77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500" b="1"/>
              <a:t>Un usuario</a:t>
            </a:r>
            <a:r>
              <a:rPr lang="es" sz="1500"/>
              <a:t> puede tener </a:t>
            </a:r>
            <a:r>
              <a:rPr lang="es" sz="1500" b="1"/>
              <a:t>varias listas</a:t>
            </a:r>
            <a:r>
              <a:rPr lang="es" sz="1500"/>
              <a:t> (relación 1:N).</a:t>
            </a:r>
            <a:br>
              <a:rPr lang="es" sz="1500"/>
            </a:br>
            <a:endParaRPr sz="150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500" b="1"/>
              <a:t>Una lista</a:t>
            </a:r>
            <a:r>
              <a:rPr lang="es" sz="1500"/>
              <a:t> puede estar compartida con </a:t>
            </a:r>
            <a:r>
              <a:rPr lang="es" sz="1500" b="1"/>
              <a:t>varios usuarios</a:t>
            </a:r>
            <a:r>
              <a:rPr lang="es" sz="1500"/>
              <a:t> (relación N:M, implementada con </a:t>
            </a:r>
            <a:r>
              <a:rPr lang="es" sz="15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sharedWith</a:t>
            </a:r>
            <a:r>
              <a:rPr lang="es" sz="1500"/>
              <a:t>).</a:t>
            </a:r>
            <a:br>
              <a:rPr lang="es" sz="1500"/>
            </a:br>
            <a:endParaRPr sz="150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500" b="1"/>
              <a:t>Una lista</a:t>
            </a:r>
            <a:r>
              <a:rPr lang="es" sz="1500"/>
              <a:t> contiene </a:t>
            </a:r>
            <a:r>
              <a:rPr lang="es" sz="1500" b="1"/>
              <a:t>varios productos</a:t>
            </a:r>
            <a:r>
              <a:rPr lang="es" sz="1500"/>
              <a:t> (relación 1:N vía </a:t>
            </a:r>
            <a:r>
              <a:rPr lang="es" sz="15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listId</a:t>
            </a:r>
            <a:r>
              <a:rPr lang="es" sz="1500"/>
              <a:t>).</a:t>
            </a:r>
            <a:br>
              <a:rPr lang="es" sz="1500"/>
            </a:br>
            <a:endParaRPr sz="150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500" b="1"/>
              <a:t>Una lista</a:t>
            </a:r>
            <a:r>
              <a:rPr lang="es" sz="1500"/>
              <a:t> puede tener </a:t>
            </a:r>
            <a:r>
              <a:rPr lang="es" sz="1500" b="1"/>
              <a:t>varias observaciones</a:t>
            </a:r>
            <a:r>
              <a:rPr lang="es" sz="1500"/>
              <a:t> (relación 1:N).</a:t>
            </a:r>
            <a:br>
              <a:rPr lang="es" sz="1500"/>
            </a:br>
            <a:endParaRPr sz="1500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s" sz="1500" b="1"/>
              <a:t>Un producto</a:t>
            </a:r>
            <a:r>
              <a:rPr lang="es" sz="1500"/>
              <a:t> pertenece a una sola lista, pero puede ser añadido y comprado por usuarios distintos.</a:t>
            </a:r>
            <a:endParaRPr sz="220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p57"/>
          <p:cNvSpPr txBox="1">
            <a:spLocks noGrp="1"/>
          </p:cNvSpPr>
          <p:nvPr>
            <p:ph type="title"/>
          </p:nvPr>
        </p:nvSpPr>
        <p:spPr>
          <a:xfrm>
            <a:off x="823850" y="2053000"/>
            <a:ext cx="4587000" cy="1148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Modelo lógico de datos</a:t>
            </a:r>
            <a:endParaRPr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58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Modelo lógico de datos</a:t>
            </a:r>
            <a:endParaRPr/>
          </a:p>
        </p:txBody>
      </p:sp>
      <p:sp>
        <p:nvSpPr>
          <p:cNvPr id="400" name="Google Shape;400;p58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/>
              <a:t>users (colección)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/>
              <a:t>  └── {uid} (documento)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/>
              <a:t>        - email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/>
              <a:t>        - createdAt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/>
              <a:t>        - lastLogin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/>
              <a:t>        - searchEmail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59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Modelo lógico de datos</a:t>
            </a:r>
            <a:endParaRPr/>
          </a:p>
        </p:txBody>
      </p:sp>
      <p:sp>
        <p:nvSpPr>
          <p:cNvPr id="406" name="Google Shape;406;p59"/>
          <p:cNvSpPr txBox="1">
            <a:spLocks noGrp="1"/>
          </p:cNvSpPr>
          <p:nvPr>
            <p:ph type="body" idx="1"/>
          </p:nvPr>
        </p:nvSpPr>
        <p:spPr>
          <a:xfrm>
            <a:off x="1054125" y="892350"/>
            <a:ext cx="7778100" cy="4130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58"/>
              <a:buNone/>
            </a:pPr>
            <a:r>
              <a:rPr lang="es" sz="1047"/>
              <a:t>lists (colección)</a:t>
            </a:r>
            <a:endParaRPr sz="1047"/>
          </a:p>
          <a:p>
            <a:pPr marL="0" lvl="0" indent="0" algn="l" rtl="0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SzPts val="358"/>
              <a:buNone/>
            </a:pPr>
            <a:r>
              <a:rPr lang="es" sz="1047"/>
              <a:t>  └── {listId} (documento)</a:t>
            </a:r>
            <a:endParaRPr sz="1047"/>
          </a:p>
          <a:p>
            <a:pPr marL="0" lvl="0" indent="0" algn="l" rtl="0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SzPts val="358"/>
              <a:buNone/>
            </a:pPr>
            <a:r>
              <a:rPr lang="es" sz="1047"/>
              <a:t>        - name</a:t>
            </a:r>
            <a:endParaRPr sz="1047"/>
          </a:p>
          <a:p>
            <a:pPr marL="0" lvl="0" indent="0" algn="l" rtl="0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SzPts val="358"/>
              <a:buNone/>
            </a:pPr>
            <a:r>
              <a:rPr lang="es" sz="1047"/>
              <a:t>        - ownerEmail</a:t>
            </a:r>
            <a:endParaRPr sz="1047"/>
          </a:p>
          <a:p>
            <a:pPr marL="0" lvl="0" indent="0" algn="l" rtl="0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SzPts val="358"/>
              <a:buNone/>
            </a:pPr>
            <a:r>
              <a:rPr lang="es" sz="1047"/>
              <a:t>        - userId</a:t>
            </a:r>
            <a:endParaRPr sz="1047"/>
          </a:p>
          <a:p>
            <a:pPr marL="0" lvl="0" indent="0" algn="l" rtl="0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SzPts val="358"/>
              <a:buNone/>
            </a:pPr>
            <a:r>
              <a:rPr lang="es" sz="1047"/>
              <a:t>        - createdAt</a:t>
            </a:r>
            <a:endParaRPr sz="1047"/>
          </a:p>
          <a:p>
            <a:pPr marL="0" lvl="0" indent="0" algn="l" rtl="0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SzPts val="358"/>
              <a:buNone/>
            </a:pPr>
            <a:r>
              <a:rPr lang="es" sz="1047"/>
              <a:t>        - finalizedAt</a:t>
            </a:r>
            <a:endParaRPr sz="1047"/>
          </a:p>
          <a:p>
            <a:pPr marL="0" lvl="0" indent="0" algn="l" rtl="0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SzPts val="358"/>
              <a:buNone/>
            </a:pPr>
            <a:r>
              <a:rPr lang="es" sz="1047"/>
              <a:t>        - finalizedBy</a:t>
            </a:r>
            <a:endParaRPr sz="1047"/>
          </a:p>
          <a:p>
            <a:pPr marL="0" lvl="0" indent="0" algn="l" rtl="0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SzPts val="358"/>
              <a:buNone/>
            </a:pPr>
            <a:r>
              <a:rPr lang="es" sz="1047"/>
              <a:t>        - sharedWith [array]</a:t>
            </a:r>
            <a:endParaRPr sz="1047"/>
          </a:p>
          <a:p>
            <a:pPr marL="0" lvl="0" indent="0" algn="l" rtl="0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SzPts val="358"/>
              <a:buNone/>
            </a:pPr>
            <a:r>
              <a:rPr lang="es" sz="1047"/>
              <a:t>        - purchaseInfo {map}</a:t>
            </a:r>
            <a:endParaRPr sz="1047"/>
          </a:p>
          <a:p>
            <a:pPr marL="0" lvl="0" indent="0" algn="l" rtl="0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SzPts val="358"/>
              <a:buNone/>
            </a:pPr>
            <a:r>
              <a:rPr lang="es" sz="1047"/>
              <a:t>        - totalPrice</a:t>
            </a:r>
            <a:endParaRPr sz="1047"/>
          </a:p>
          <a:p>
            <a:pPr marL="0" lvl="0" indent="0" algn="l" rtl="0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SzPts val="358"/>
              <a:buNone/>
            </a:pPr>
            <a:r>
              <a:rPr lang="es" sz="1047"/>
              <a:t>        - expenseSplit {map}</a:t>
            </a:r>
            <a:endParaRPr sz="1047"/>
          </a:p>
          <a:p>
            <a:pPr marL="0" lvl="0" indent="0" algn="l" rtl="0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SzPts val="358"/>
              <a:buNone/>
            </a:pPr>
            <a:r>
              <a:rPr lang="es" sz="1047"/>
              <a:t>        - extraInfo</a:t>
            </a:r>
            <a:endParaRPr sz="1047"/>
          </a:p>
          <a:p>
            <a:pPr marL="0" lvl="0" indent="0" algn="l" rtl="0">
              <a:lnSpc>
                <a:spcPct val="105000"/>
              </a:lnSpc>
              <a:spcBef>
                <a:spcPts val="1200"/>
              </a:spcBef>
              <a:spcAft>
                <a:spcPts val="1200"/>
              </a:spcAft>
              <a:buSzPts val="358"/>
              <a:buNone/>
            </a:pPr>
            <a:endParaRPr sz="785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p60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Modelo lógico de datos</a:t>
            </a:r>
            <a:endParaRPr/>
          </a:p>
        </p:txBody>
      </p:sp>
      <p:sp>
        <p:nvSpPr>
          <p:cNvPr id="412" name="Google Shape;412;p60"/>
          <p:cNvSpPr txBox="1">
            <a:spLocks noGrp="1"/>
          </p:cNvSpPr>
          <p:nvPr>
            <p:ph type="body" idx="1"/>
          </p:nvPr>
        </p:nvSpPr>
        <p:spPr>
          <a:xfrm>
            <a:off x="311700" y="1307850"/>
            <a:ext cx="8520600" cy="3760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2"/>
              <a:buNone/>
            </a:pPr>
            <a:r>
              <a:rPr lang="es" sz="1595"/>
              <a:t>items (colección)</a:t>
            </a:r>
            <a:endParaRPr sz="1595"/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852"/>
              <a:buNone/>
            </a:pPr>
            <a:r>
              <a:rPr lang="es" sz="1595"/>
              <a:t>  └── {itemId} (documento)</a:t>
            </a:r>
            <a:endParaRPr sz="1595"/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852"/>
              <a:buNone/>
            </a:pPr>
            <a:r>
              <a:rPr lang="es" sz="1595"/>
              <a:t>        - listId</a:t>
            </a:r>
            <a:endParaRPr sz="1595"/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852"/>
              <a:buNone/>
            </a:pPr>
            <a:r>
              <a:rPr lang="es" sz="1595"/>
              <a:t>        - text</a:t>
            </a:r>
            <a:endParaRPr sz="1595"/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852"/>
              <a:buNone/>
            </a:pPr>
            <a:r>
              <a:rPr lang="es" sz="1595"/>
              <a:t>        - category</a:t>
            </a:r>
            <a:endParaRPr sz="1595"/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852"/>
              <a:buNone/>
            </a:pPr>
            <a:r>
              <a:rPr lang="es" sz="1595"/>
              <a:t>        - completed</a:t>
            </a:r>
            <a:endParaRPr sz="1595"/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852"/>
              <a:buNone/>
            </a:pPr>
            <a:r>
              <a:rPr lang="es" sz="1595"/>
              <a:t>        - addedBy</a:t>
            </a:r>
            <a:endParaRPr sz="1595"/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852"/>
              <a:buNone/>
            </a:pPr>
            <a:r>
              <a:rPr lang="es" sz="1595"/>
              <a:t>        - purchasedBy</a:t>
            </a:r>
            <a:endParaRPr sz="1595"/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852"/>
              <a:buNone/>
            </a:pPr>
            <a:r>
              <a:rPr lang="es" sz="1595"/>
              <a:t>        - createdAt</a:t>
            </a:r>
            <a:endParaRPr sz="1595"/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1200"/>
              </a:spcAft>
              <a:buSzPts val="852"/>
              <a:buNone/>
            </a:pPr>
            <a:r>
              <a:rPr lang="es" sz="1595"/>
              <a:t>        - userId</a:t>
            </a:r>
            <a:endParaRPr sz="1595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61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Modelo lógico de datos</a:t>
            </a:r>
            <a:endParaRPr/>
          </a:p>
        </p:txBody>
      </p:sp>
      <p:sp>
        <p:nvSpPr>
          <p:cNvPr id="418" name="Google Shape;418;p61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2400"/>
              <a:t>listObservations (colección)</a:t>
            </a:r>
            <a:endParaRPr sz="240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s" sz="2400"/>
              <a:t>  └── {observationId} (documento)</a:t>
            </a:r>
            <a:endParaRPr sz="240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s" sz="2400"/>
              <a:t>        - listId</a:t>
            </a:r>
            <a:endParaRPr sz="240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s" sz="2400"/>
              <a:t>        - observations</a:t>
            </a:r>
            <a:endParaRPr sz="240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s" sz="2400"/>
              <a:t>        - updatedBy</a:t>
            </a:r>
            <a:endParaRPr sz="2400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s" sz="2400"/>
              <a:t>        - updatedAt</a:t>
            </a:r>
            <a:endParaRPr sz="240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p62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Modelo lógico de datos</a:t>
            </a:r>
            <a:endParaRPr/>
          </a:p>
        </p:txBody>
      </p:sp>
      <p:sp>
        <p:nvSpPr>
          <p:cNvPr id="424" name="Google Shape;424;p62"/>
          <p:cNvSpPr txBox="1">
            <a:spLocks noGrp="1"/>
          </p:cNvSpPr>
          <p:nvPr>
            <p:ph type="body" idx="1"/>
          </p:nvPr>
        </p:nvSpPr>
        <p:spPr>
          <a:xfrm>
            <a:off x="311700" y="1307850"/>
            <a:ext cx="8520600" cy="3760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2"/>
              <a:buNone/>
            </a:pPr>
            <a:r>
              <a:rPr lang="es" sz="1595"/>
              <a:t>listPayment(colección)</a:t>
            </a:r>
            <a:endParaRPr sz="1595"/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852"/>
              <a:buNone/>
            </a:pPr>
            <a:r>
              <a:rPr lang="es" sz="1595"/>
              <a:t>  └── {itemId} (documento)</a:t>
            </a:r>
            <a:endParaRPr sz="1595"/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852"/>
              <a:buNone/>
            </a:pPr>
            <a:r>
              <a:rPr lang="es" sz="1595"/>
              <a:t>        - listId</a:t>
            </a:r>
            <a:endParaRPr sz="1595"/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852"/>
              <a:buNone/>
            </a:pPr>
            <a:r>
              <a:rPr lang="es" sz="1595"/>
              <a:t>        - listName</a:t>
            </a:r>
            <a:endParaRPr sz="1595"/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852"/>
              <a:buNone/>
            </a:pPr>
            <a:r>
              <a:rPr lang="es" sz="1595"/>
              <a:t>        - paymentParticipants</a:t>
            </a:r>
            <a:endParaRPr sz="1595"/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852"/>
              <a:buNone/>
            </a:pPr>
            <a:r>
              <a:rPr lang="es" sz="1595"/>
              <a:t>        - payments</a:t>
            </a:r>
            <a:endParaRPr sz="1595"/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852"/>
              <a:buNone/>
            </a:pPr>
            <a:r>
              <a:rPr lang="es" sz="1595"/>
              <a:t>        - totalAmount</a:t>
            </a:r>
            <a:endParaRPr sz="1595"/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852"/>
              <a:buNone/>
            </a:pPr>
            <a:r>
              <a:rPr lang="es" sz="1595"/>
              <a:t>        - updatedAt</a:t>
            </a:r>
            <a:endParaRPr sz="1595"/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1200"/>
              </a:spcAft>
              <a:buSzPts val="852"/>
              <a:buNone/>
            </a:pPr>
            <a:r>
              <a:rPr lang="es" sz="1595"/>
              <a:t>        - updatedBy</a:t>
            </a:r>
            <a:endParaRPr sz="1595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63"/>
          <p:cNvSpPr txBox="1">
            <a:spLocks noGrp="1"/>
          </p:cNvSpPr>
          <p:nvPr>
            <p:ph type="title"/>
          </p:nvPr>
        </p:nvSpPr>
        <p:spPr>
          <a:xfrm>
            <a:off x="823850" y="2053000"/>
            <a:ext cx="4587000" cy="1148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Consultas</a:t>
            </a:r>
            <a:endParaRPr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p64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Consultas</a:t>
            </a:r>
            <a:endParaRPr/>
          </a:p>
        </p:txBody>
      </p:sp>
      <p:sp>
        <p:nvSpPr>
          <p:cNvPr id="435" name="Google Shape;435;p64"/>
          <p:cNvSpPr txBox="1">
            <a:spLocks noGrp="1"/>
          </p:cNvSpPr>
          <p:nvPr>
            <p:ph type="body" idx="1"/>
          </p:nvPr>
        </p:nvSpPr>
        <p:spPr>
          <a:xfrm>
            <a:off x="311700" y="1307850"/>
            <a:ext cx="8520600" cy="356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700" b="1"/>
              <a:t>Obtener todas las listas de un usuario (propietario o compartidas):</a:t>
            </a:r>
            <a:endParaRPr sz="1700" b="1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s" sz="1700">
                <a:latin typeface="Roboto Mono"/>
                <a:ea typeface="Roboto Mono"/>
                <a:cs typeface="Roboto Mono"/>
                <a:sym typeface="Roboto Mono"/>
              </a:rPr>
              <a:t>db.collection("lists")</a:t>
            </a:r>
            <a:endParaRPr sz="1700"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s" sz="1700">
                <a:latin typeface="Roboto Mono"/>
                <a:ea typeface="Roboto Mono"/>
                <a:cs typeface="Roboto Mono"/>
                <a:sym typeface="Roboto Mono"/>
              </a:rPr>
              <a:t>  .where("ownerEmail", "==", userEmail)</a:t>
            </a:r>
            <a:endParaRPr sz="1700"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s" sz="1700">
                <a:latin typeface="Roboto Mono"/>
                <a:ea typeface="Roboto Mono"/>
                <a:cs typeface="Roboto Mono"/>
                <a:sym typeface="Roboto Mono"/>
              </a:rPr>
              <a:t>  .get()</a:t>
            </a:r>
            <a:endParaRPr sz="1700"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170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s" sz="1700">
                <a:latin typeface="Roboto Mono"/>
                <a:ea typeface="Roboto Mono"/>
                <a:cs typeface="Roboto Mono"/>
                <a:sym typeface="Roboto Mono"/>
              </a:rPr>
              <a:t>db.collection("lists")</a:t>
            </a:r>
            <a:endParaRPr sz="1700"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s" sz="1700">
                <a:latin typeface="Roboto Mono"/>
                <a:ea typeface="Roboto Mono"/>
                <a:cs typeface="Roboto Mono"/>
                <a:sym typeface="Roboto Mono"/>
              </a:rPr>
              <a:t>  .where("sharedWith", "array-contains", userEmail)</a:t>
            </a:r>
            <a:endParaRPr sz="1700"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700">
                <a:latin typeface="Roboto Mono"/>
                <a:ea typeface="Roboto Mono"/>
                <a:cs typeface="Roboto Mono"/>
                <a:sym typeface="Roboto Mono"/>
              </a:rPr>
              <a:t>  .get()</a:t>
            </a:r>
            <a:endParaRPr sz="1700"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 sz="190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p65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Consultas</a:t>
            </a:r>
            <a:endParaRPr/>
          </a:p>
        </p:txBody>
      </p:sp>
      <p:sp>
        <p:nvSpPr>
          <p:cNvPr id="441" name="Google Shape;441;p65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s" sz="1700" b="1"/>
              <a:t>Obtener productos de una lista:</a:t>
            </a:r>
            <a:endParaRPr sz="1700" b="1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s" sz="1700">
                <a:latin typeface="Roboto Mono"/>
                <a:ea typeface="Roboto Mono"/>
                <a:cs typeface="Roboto Mono"/>
                <a:sym typeface="Roboto Mono"/>
              </a:rPr>
              <a:t>db.collection("items")</a:t>
            </a:r>
            <a:endParaRPr sz="1700"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700">
                <a:latin typeface="Roboto Mono"/>
                <a:ea typeface="Roboto Mono"/>
                <a:cs typeface="Roboto Mono"/>
                <a:sym typeface="Roboto Mono"/>
              </a:rPr>
              <a:t>  .where("listId", "==", listId)</a:t>
            </a:r>
            <a:endParaRPr sz="1700"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700">
                <a:latin typeface="Roboto Mono"/>
                <a:ea typeface="Roboto Mono"/>
                <a:cs typeface="Roboto Mono"/>
                <a:sym typeface="Roboto Mono"/>
              </a:rPr>
              <a:t>  .get()</a:t>
            </a:r>
            <a:endParaRPr sz="1700">
              <a:latin typeface="Roboto Mono"/>
              <a:ea typeface="Roboto Mono"/>
              <a:cs typeface="Roboto Mono"/>
              <a:sym typeface="Roboto Mono"/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p66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47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Consultas </a:t>
            </a:r>
            <a:endParaRPr/>
          </a:p>
        </p:txBody>
      </p:sp>
      <p:sp>
        <p:nvSpPr>
          <p:cNvPr id="447" name="Google Shape;447;p66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s" sz="1358" b="1"/>
              <a:t>Mostrar observaciones de una lista:</a:t>
            </a:r>
            <a:endParaRPr sz="1358" b="1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s" sz="1100">
                <a:latin typeface="Roboto Mono"/>
                <a:ea typeface="Roboto Mono"/>
                <a:cs typeface="Roboto Mono"/>
                <a:sym typeface="Roboto Mono"/>
              </a:rPr>
              <a:t>db.collection("listObservations")</a:t>
            </a:r>
            <a:endParaRPr sz="1100"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100">
                <a:latin typeface="Roboto Mono"/>
                <a:ea typeface="Roboto Mono"/>
                <a:cs typeface="Roboto Mono"/>
                <a:sym typeface="Roboto Mono"/>
              </a:rPr>
              <a:t>  .where("listId", "==", listId)</a:t>
            </a:r>
            <a:endParaRPr sz="1100"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100">
                <a:latin typeface="Roboto Mono"/>
                <a:ea typeface="Roboto Mono"/>
                <a:cs typeface="Roboto Mono"/>
                <a:sym typeface="Roboto Mono"/>
              </a:rPr>
              <a:t>  .orderBy("updatedAt", "desc")</a:t>
            </a:r>
            <a:endParaRPr sz="1100"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100">
                <a:latin typeface="Roboto Mono"/>
                <a:ea typeface="Roboto Mono"/>
                <a:cs typeface="Roboto Mono"/>
                <a:sym typeface="Roboto Mono"/>
              </a:rPr>
              <a:t>  .get()</a:t>
            </a:r>
            <a:endParaRPr sz="1100"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 b="1"/>
              <a:t>Mostrar pagos de una lista</a:t>
            </a:r>
            <a:endParaRPr sz="1350" b="1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s" sz="1100">
                <a:latin typeface="Roboto Mono"/>
                <a:ea typeface="Roboto Mono"/>
                <a:cs typeface="Roboto Mono"/>
                <a:sym typeface="Roboto Mono"/>
              </a:rPr>
              <a:t>db.collection("</a:t>
            </a:r>
            <a:r>
              <a:rPr lang="es" sz="1157">
                <a:latin typeface="Roboto"/>
                <a:ea typeface="Roboto"/>
                <a:cs typeface="Roboto"/>
                <a:sym typeface="Roboto"/>
              </a:rPr>
              <a:t>listPayments</a:t>
            </a:r>
            <a:r>
              <a:rPr lang="es" sz="1100">
                <a:latin typeface="Roboto Mono"/>
                <a:ea typeface="Roboto Mono"/>
                <a:cs typeface="Roboto Mono"/>
                <a:sym typeface="Roboto Mono"/>
              </a:rPr>
              <a:t>")</a:t>
            </a:r>
            <a:endParaRPr sz="1100"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100">
                <a:latin typeface="Roboto Mono"/>
                <a:ea typeface="Roboto Mono"/>
                <a:cs typeface="Roboto Mono"/>
                <a:sym typeface="Roboto Mono"/>
              </a:rPr>
              <a:t>  .where("listId", "==", listId)</a:t>
            </a:r>
            <a:endParaRPr sz="1100"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100">
                <a:latin typeface="Roboto Mono"/>
                <a:ea typeface="Roboto Mono"/>
                <a:cs typeface="Roboto Mono"/>
                <a:sym typeface="Roboto Mono"/>
              </a:rPr>
              <a:t>  .orderBy("updatedAt", "desc")</a:t>
            </a:r>
            <a:endParaRPr sz="1100"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100">
                <a:latin typeface="Roboto Mono"/>
                <a:ea typeface="Roboto Mono"/>
                <a:cs typeface="Roboto Mono"/>
                <a:sym typeface="Roboto Mono"/>
              </a:rPr>
              <a:t>  .get()</a:t>
            </a:r>
            <a:endParaRPr sz="1157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p67"/>
          <p:cNvSpPr txBox="1">
            <a:spLocks noGrp="1"/>
          </p:cNvSpPr>
          <p:nvPr>
            <p:ph type="title"/>
          </p:nvPr>
        </p:nvSpPr>
        <p:spPr>
          <a:xfrm>
            <a:off x="823850" y="2053000"/>
            <a:ext cx="4587000" cy="1148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s"/>
              <a:t>Interfaz de usuario</a:t>
            </a:r>
            <a:endParaRPr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7" name="Google Shape;457;p68" title="Screenshot_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19538" y="82563"/>
            <a:ext cx="6704924" cy="497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2" name="Google Shape;462;p69" title="Screenshot_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78225" y="100925"/>
            <a:ext cx="6187551" cy="49416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7" name="Google Shape;467;p70" title="Screenshot_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34213" y="93450"/>
            <a:ext cx="6675574" cy="49565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2" name="Google Shape;472;p7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42725" y="63213"/>
            <a:ext cx="4258549" cy="50170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p72"/>
          <p:cNvSpPr txBox="1">
            <a:spLocks noGrp="1"/>
          </p:cNvSpPr>
          <p:nvPr>
            <p:ph type="title"/>
          </p:nvPr>
        </p:nvSpPr>
        <p:spPr>
          <a:xfrm>
            <a:off x="823850" y="2053000"/>
            <a:ext cx="4587000" cy="1148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Mapa de navegación</a:t>
            </a:r>
            <a:endParaRPr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2" name="Google Shape;482;p73" title="Mapa conceptual.png"/>
          <p:cNvPicPr preferRelativeResize="0"/>
          <p:nvPr/>
        </p:nvPicPr>
        <p:blipFill rotWithShape="1">
          <a:blip r:embed="rId3">
            <a:alphaModFix/>
          </a:blip>
          <a:srcRect t="3746" b="3737"/>
          <a:stretch/>
        </p:blipFill>
        <p:spPr>
          <a:xfrm>
            <a:off x="2212962" y="94163"/>
            <a:ext cx="4718073" cy="495517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Focus">
  <a:themeElements>
    <a:clrScheme name="Focus">
      <a:dk1>
        <a:srgbClr val="1B212C"/>
      </a:dk1>
      <a:lt1>
        <a:srgbClr val="FFFFFF"/>
      </a:lt1>
      <a:dk2>
        <a:srgbClr val="D9D9D9"/>
      </a:dk2>
      <a:lt2>
        <a:srgbClr val="82C7A5"/>
      </a:lt2>
      <a:accent1>
        <a:srgbClr val="0145AC"/>
      </a:accent1>
      <a:accent2>
        <a:srgbClr val="EECE1A"/>
      </a:accent2>
      <a:accent3>
        <a:srgbClr val="4E5567"/>
      </a:accent3>
      <a:accent4>
        <a:srgbClr val="F4D6AD"/>
      </a:accent4>
      <a:accent5>
        <a:srgbClr val="7890CD"/>
      </a:accent5>
      <a:accent6>
        <a:srgbClr val="F15E22"/>
      </a:accent6>
      <a:hlink>
        <a:srgbClr val="7890CD"/>
      </a:hlink>
      <a:folHlink>
        <a:srgbClr val="7890C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2506</Words>
  <Application>Microsoft Office PowerPoint</Application>
  <PresentationFormat>Presentación en pantalla (16:9)</PresentationFormat>
  <Paragraphs>358</Paragraphs>
  <Slides>61</Slides>
  <Notes>61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61</vt:i4>
      </vt:variant>
    </vt:vector>
  </HeadingPairs>
  <TitlesOfParts>
    <vt:vector size="67" baseType="lpstr">
      <vt:lpstr>Montserrat</vt:lpstr>
      <vt:lpstr>Roboto</vt:lpstr>
      <vt:lpstr>Lato</vt:lpstr>
      <vt:lpstr>Roboto Mono</vt:lpstr>
      <vt:lpstr>Arial</vt:lpstr>
      <vt:lpstr>Focus</vt:lpstr>
      <vt:lpstr>BuyNote</vt:lpstr>
      <vt:lpstr>Índice</vt:lpstr>
      <vt:lpstr>Índice</vt:lpstr>
      <vt:lpstr>Índice</vt:lpstr>
      <vt:lpstr>Índice</vt:lpstr>
      <vt:lpstr>Introducción</vt:lpstr>
      <vt:lpstr>Plan de viabilidad</vt:lpstr>
      <vt:lpstr>Necesidades actuales del mercado</vt:lpstr>
      <vt:lpstr>Competencia</vt:lpstr>
      <vt:lpstr>Competencia</vt:lpstr>
      <vt:lpstr>Competencia</vt:lpstr>
      <vt:lpstr>Competencia</vt:lpstr>
      <vt:lpstr>Valor diferencial de la app</vt:lpstr>
      <vt:lpstr>Plan de inversión</vt:lpstr>
      <vt:lpstr>Umbral de rentabilidad</vt:lpstr>
      <vt:lpstr>Plan de marketing</vt:lpstr>
      <vt:lpstr>Requisitos del sistema</vt:lpstr>
      <vt:lpstr>Requisitos de información</vt:lpstr>
      <vt:lpstr>Requisitos de información</vt:lpstr>
      <vt:lpstr>Requisitos de información</vt:lpstr>
      <vt:lpstr>Requisitos de información</vt:lpstr>
      <vt:lpstr>Requisitos de información</vt:lpstr>
      <vt:lpstr>Requisitos de información</vt:lpstr>
      <vt:lpstr>Requisitos funcionales</vt:lpstr>
      <vt:lpstr>Requisitos funcionales</vt:lpstr>
      <vt:lpstr>Requisitos funcionales</vt:lpstr>
      <vt:lpstr>Requisitos funcionales</vt:lpstr>
      <vt:lpstr>Requisitos funcionales</vt:lpstr>
      <vt:lpstr>Requisitos funcionales</vt:lpstr>
      <vt:lpstr>Casos de uso</vt:lpstr>
      <vt:lpstr>Casos de uso </vt:lpstr>
      <vt:lpstr>Casos de uso </vt:lpstr>
      <vt:lpstr>Modelo de datos</vt:lpstr>
      <vt:lpstr>Modelo conceptual</vt:lpstr>
      <vt:lpstr>Modelo conceptual </vt:lpstr>
      <vt:lpstr>Modelo conceptual</vt:lpstr>
      <vt:lpstr>Descripción de entidades</vt:lpstr>
      <vt:lpstr>Descripción de entidades</vt:lpstr>
      <vt:lpstr>Descripción de entidades</vt:lpstr>
      <vt:lpstr>Descripción de entidades</vt:lpstr>
      <vt:lpstr>Descripción de entidades</vt:lpstr>
      <vt:lpstr>Descripción de entidades</vt:lpstr>
      <vt:lpstr>Descripción de interrelaciones</vt:lpstr>
      <vt:lpstr>Descripción de interrelaciones</vt:lpstr>
      <vt:lpstr>Modelo lógico de datos</vt:lpstr>
      <vt:lpstr>Modelo lógico de datos</vt:lpstr>
      <vt:lpstr>Modelo lógico de datos</vt:lpstr>
      <vt:lpstr>Modelo lógico de datos</vt:lpstr>
      <vt:lpstr>Modelo lógico de datos</vt:lpstr>
      <vt:lpstr>Modelo lógico de datos</vt:lpstr>
      <vt:lpstr>Consultas</vt:lpstr>
      <vt:lpstr>Consultas</vt:lpstr>
      <vt:lpstr>Consultas</vt:lpstr>
      <vt:lpstr>Consultas </vt:lpstr>
      <vt:lpstr>Interfaz de usuario</vt:lpstr>
      <vt:lpstr>Presentación de PowerPoint</vt:lpstr>
      <vt:lpstr>Presentación de PowerPoint</vt:lpstr>
      <vt:lpstr>Presentación de PowerPoint</vt:lpstr>
      <vt:lpstr>Presentación de PowerPoint</vt:lpstr>
      <vt:lpstr>Mapa de navegación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Antonio Cordero</cp:lastModifiedBy>
  <cp:revision>1</cp:revision>
  <dcterms:modified xsi:type="dcterms:W3CDTF">2025-10-10T17:41:00Z</dcterms:modified>
</cp:coreProperties>
</file>