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7.xml"/>
  <Override ContentType="application/vnd.openxmlformats-officedocument.presentationml.notesSlide+xml" PartName="/ppt/notesSlides/notesSlide5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76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41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50.xml"/>
  <Override ContentType="application/vnd.openxmlformats-officedocument.presentationml.notesSlide+xml" PartName="/ppt/notesSlides/notesSlide68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4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51.xml"/>
  <Override ContentType="application/vnd.openxmlformats-officedocument.presentationml.notesSlide+xml" PartName="/ppt/notesSlides/notesSlide77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43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73.xml"/>
  <Override ContentType="application/vnd.openxmlformats-officedocument.presentationml.notesSlide+xml" PartName="/ppt/notesSlides/notesSlide56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69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61.xml"/>
  <Override ContentType="application/vnd.openxmlformats-officedocument.presentationml.notesSlide+xml" PartName="/ppt/notesSlides/notesSlide74.xml"/>
  <Override ContentType="application/vnd.openxmlformats-officedocument.presentationml.notesSlide+xml" PartName="/ppt/notesSlides/notesSlide57.xml"/>
  <Override ContentType="application/vnd.openxmlformats-officedocument.presentationml.notesSlide+xml" PartName="/ppt/notesSlides/notesSlide44.xml"/>
  <Override ContentType="application/vnd.openxmlformats-officedocument.presentationml.notesSlide+xml" PartName="/ppt/notesSlides/notesSlide58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75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62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54.xml"/>
  <Override ContentType="application/vnd.openxmlformats-officedocument.presentationml.notesSlide+xml" PartName="/ppt/notesSlides/notesSlide45.xml"/>
  <Override ContentType="application/vnd.openxmlformats-officedocument.presentationml.notesSlide+xml" PartName="/ppt/notesSlides/notesSlide70.xml"/>
  <Override ContentType="application/vnd.openxmlformats-officedocument.presentationml.notesSlide+xml" PartName="/ppt/notesSlides/notesSlide46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63.xml"/>
  <Override ContentType="application/vnd.openxmlformats-officedocument.presentationml.notesSlide+xml" PartName="/ppt/notesSlides/notesSlide5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47.xml"/>
  <Override ContentType="application/vnd.openxmlformats-officedocument.presentationml.notesSlide+xml" PartName="/ppt/notesSlides/notesSlide72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60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64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48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5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65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49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71.xml"/>
  <Override ContentType="application/vnd.openxmlformats-officedocument.presentationml.notesSlide+xml" PartName="/ppt/notesSlides/notesSlide53.xml"/>
  <Override ContentType="application/vnd.openxmlformats-officedocument.presentationml.notesSlide+xml" PartName="/ppt/notesSlides/notesSlide40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66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43.xml"/>
  <Override ContentType="application/vnd.openxmlformats-officedocument.presentationml.slide+xml" PartName="/ppt/slides/slide35.xml"/>
  <Override ContentType="application/vnd.openxmlformats-officedocument.presentationml.slide+xml" PartName="/ppt/slides/slide60.xml"/>
  <Override ContentType="application/vnd.openxmlformats-officedocument.presentationml.slide+xml" PartName="/ppt/slides/slide5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5.xml"/>
  <Override ContentType="application/vnd.openxmlformats-officedocument.presentationml.slide+xml" PartName="/ppt/slides/slide69.xml"/>
  <Override ContentType="application/vnd.openxmlformats-officedocument.presentationml.slide+xml" PartName="/ppt/slides/slide17.xml"/>
  <Override ContentType="application/vnd.openxmlformats-officedocument.presentationml.slide+xml" PartName="/ppt/slides/slide42.xml"/>
  <Override ContentType="application/vnd.openxmlformats-officedocument.presentationml.slide+xml" PartName="/ppt/slides/slide25.xml"/>
  <Override ContentType="application/vnd.openxmlformats-officedocument.presentationml.slide+xml" PartName="/ppt/slides/slide50.xml"/>
  <Override ContentType="application/vnd.openxmlformats-officedocument.presentationml.slide+xml" PartName="/ppt/slides/slide77.xml"/>
  <Override ContentType="application/vnd.openxmlformats-officedocument.presentationml.slide+xml" PartName="/ppt/slides/slide34.xml"/>
  <Override ContentType="application/vnd.openxmlformats-officedocument.presentationml.slide+xml" PartName="/ppt/slides/slide33.xml"/>
  <Override ContentType="application/vnd.openxmlformats-officedocument.presentationml.slide+xml" PartName="/ppt/slides/slide51.xml"/>
  <Override ContentType="application/vnd.openxmlformats-officedocument.presentationml.slide+xml" PartName="/ppt/slides/slide16.xml"/>
  <Override ContentType="application/vnd.openxmlformats-officedocument.presentationml.slide+xml" PartName="/ppt/slides/slide6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7.xml"/>
  <Override ContentType="application/vnd.openxmlformats-officedocument.presentationml.slide+xml" PartName="/ppt/slides/slide71.xml"/>
  <Override ContentType="application/vnd.openxmlformats-officedocument.presentationml.slide+xml" PartName="/ppt/slides/slide41.xml"/>
  <Override ContentType="application/vnd.openxmlformats-officedocument.presentationml.slide+xml" PartName="/ppt/slides/slide67.xml"/>
  <Override ContentType="application/vnd.openxmlformats-officedocument.presentationml.slide+xml" PartName="/ppt/slides/slide7.xml"/>
  <Override ContentType="application/vnd.openxmlformats-officedocument.presentationml.slide+xml" PartName="/ppt/slides/slide54.xml"/>
  <Override ContentType="application/vnd.openxmlformats-officedocument.presentationml.slide+xml" PartName="/ppt/slides/slide36.xml"/>
  <Override ContentType="application/vnd.openxmlformats-officedocument.presentationml.slide+xml" PartName="/ppt/slides/slide66.xml"/>
  <Override ContentType="application/vnd.openxmlformats-officedocument.presentationml.slide+xml" PartName="/ppt/slides/slide23.xml"/>
  <Override ContentType="application/vnd.openxmlformats-officedocument.presentationml.slide+xml" PartName="/ppt/slides/slide49.xml"/>
  <Override ContentType="application/vnd.openxmlformats-officedocument.presentationml.slide+xml" PartName="/ppt/slides/slide10.xml"/>
  <Override ContentType="application/vnd.openxmlformats-officedocument.presentationml.slide+xml" PartName="/ppt/slides/slide70.xml"/>
  <Override ContentType="application/vnd.openxmlformats-officedocument.presentationml.slide+xml" PartName="/ppt/slides/slide6.xml"/>
  <Override ContentType="application/vnd.openxmlformats-officedocument.presentationml.slide+xml" PartName="/ppt/slides/slide53.xml"/>
  <Override ContentType="application/vnd.openxmlformats-officedocument.presentationml.slide+xml" PartName="/ppt/slides/slide40.xml"/>
  <Override ContentType="application/vnd.openxmlformats-officedocument.presentationml.slide+xml" PartName="/ppt/slides/slide48.xml"/>
  <Override ContentType="application/vnd.openxmlformats-officedocument.presentationml.slide+xml" PartName="/ppt/slides/slide73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9.xml"/>
  <Override ContentType="application/vnd.openxmlformats-officedocument.presentationml.slide+xml" PartName="/ppt/slides/slide65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6.xml"/>
  <Override ContentType="application/vnd.openxmlformats-officedocument.presentationml.slide+xml" PartName="/ppt/slides/slide12.xml"/>
  <Override ContentType="application/vnd.openxmlformats-officedocument.presentationml.slide+xml" PartName="/ppt/slides/slide47.xml"/>
  <Override ContentType="application/vnd.openxmlformats-officedocument.presentationml.slide+xml" PartName="/ppt/slides/slide72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8.xml"/>
  <Override ContentType="application/vnd.openxmlformats-officedocument.presentationml.slide+xml" PartName="/ppt/slides/slide46.xml"/>
  <Override ContentType="application/vnd.openxmlformats-officedocument.presentationml.slide+xml" PartName="/ppt/slides/slide64.xml"/>
  <Override ContentType="application/vnd.openxmlformats-officedocument.presentationml.slide+xml" PartName="/ppt/slides/slide8.xml"/>
  <Override ContentType="application/vnd.openxmlformats-officedocument.presentationml.slide+xml" PartName="/ppt/slides/slide55.xml"/>
  <Override ContentType="application/vnd.openxmlformats-officedocument.presentationml.slide+xml" PartName="/ppt/slides/slide29.xml"/>
  <Override ContentType="application/vnd.openxmlformats-officedocument.presentationml.slide+xml" PartName="/ppt/slides/slide59.xml"/>
  <Override ContentType="application/vnd.openxmlformats-officedocument.presentationml.slide+xml" PartName="/ppt/slides/slide32.xml"/>
  <Override ContentType="application/vnd.openxmlformats-officedocument.presentationml.slide+xml" PartName="/ppt/slides/slide62.xml"/>
  <Override ContentType="application/vnd.openxmlformats-officedocument.presentationml.slide+xml" PartName="/ppt/slides/slide75.xml"/>
  <Override ContentType="application/vnd.openxmlformats-officedocument.presentationml.slide+xml" PartName="/ppt/slides/slide76.xml"/>
  <Override ContentType="application/vnd.openxmlformats-officedocument.presentationml.slide+xml" PartName="/ppt/slides/slide1.xml"/>
  <Override ContentType="application/vnd.openxmlformats-officedocument.presentationml.slide+xml" PartName="/ppt/slides/slide58.xml"/>
  <Override ContentType="application/vnd.openxmlformats-officedocument.presentationml.slide+xml" PartName="/ppt/slides/slide63.xml"/>
  <Override ContentType="application/vnd.openxmlformats-officedocument.presentationml.slide+xml" PartName="/ppt/slides/slide45.xml"/>
  <Override ContentType="application/vnd.openxmlformats-officedocument.presentationml.slide+xml" PartName="/ppt/slides/slide28.xml"/>
  <Override ContentType="application/vnd.openxmlformats-officedocument.presentationml.slide+xml" PartName="/ppt/slides/slide15.xml"/>
  <Override ContentType="application/vnd.openxmlformats-officedocument.presentationml.slide+xml" PartName="/ppt/slides/slide61.xml"/>
  <Override ContentType="application/vnd.openxmlformats-officedocument.presentationml.slide+xml" PartName="/ppt/slides/slide31.xml"/>
  <Override ContentType="application/vnd.openxmlformats-officedocument.presentationml.slide+xml" PartName="/ppt/slides/slide74.xml"/>
  <Override ContentType="application/vnd.openxmlformats-officedocument.presentationml.slide+xml" PartName="/ppt/slides/slide27.xml"/>
  <Override ContentType="application/vnd.openxmlformats-officedocument.presentationml.slide+xml" PartName="/ppt/slides/slide57.xml"/>
  <Override ContentType="application/vnd.openxmlformats-officedocument.presentationml.slide+xml" PartName="/ppt/slides/slide2.xml"/>
  <Override ContentType="application/vnd.openxmlformats-officedocument.presentationml.slide+xml" PartName="/ppt/slides/slide44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306" r:id="rId56"/>
    <p:sldId id="307" r:id="rId57"/>
    <p:sldId id="308" r:id="rId58"/>
    <p:sldId id="309" r:id="rId59"/>
    <p:sldId id="310" r:id="rId60"/>
    <p:sldId id="311" r:id="rId61"/>
    <p:sldId id="312" r:id="rId62"/>
    <p:sldId id="313" r:id="rId63"/>
    <p:sldId id="314" r:id="rId64"/>
    <p:sldId id="315" r:id="rId65"/>
    <p:sldId id="316" r:id="rId66"/>
    <p:sldId id="317" r:id="rId67"/>
    <p:sldId id="318" r:id="rId68"/>
    <p:sldId id="319" r:id="rId69"/>
    <p:sldId id="320" r:id="rId70"/>
    <p:sldId id="321" r:id="rId71"/>
    <p:sldId id="322" r:id="rId72"/>
    <p:sldId id="323" r:id="rId73"/>
    <p:sldId id="324" r:id="rId74"/>
    <p:sldId id="325" r:id="rId75"/>
    <p:sldId id="326" r:id="rId76"/>
    <p:sldId id="327" r:id="rId77"/>
    <p:sldId id="328" r:id="rId78"/>
    <p:sldId id="329" r:id="rId79"/>
    <p:sldId id="330" r:id="rId80"/>
    <p:sldId id="331" r:id="rId81"/>
    <p:sldId id="332" r:id="rId82"/>
  </p:sldIdLst>
  <p:sldSz cy="5143500" cx="9144000"/>
  <p:notesSz cx="6858000" cy="9144000"/>
  <p:embeddedFontLst>
    <p:embeddedFont>
      <p:font typeface="Roboto"/>
      <p:regular r:id="rId83"/>
      <p:bold r:id="rId84"/>
      <p:italic r:id="rId85"/>
      <p:boldItalic r:id="rId86"/>
    </p:embeddedFont>
    <p:embeddedFont>
      <p:font typeface="Montserrat"/>
      <p:regular r:id="rId87"/>
      <p:bold r:id="rId88"/>
      <p:italic r:id="rId89"/>
      <p:boldItalic r:id="rId90"/>
    </p:embeddedFont>
    <p:embeddedFont>
      <p:font typeface="Lato"/>
      <p:regular r:id="rId91"/>
      <p:bold r:id="rId92"/>
      <p:italic r:id="rId93"/>
      <p:boldItalic r:id="rId94"/>
    </p:embeddedFont>
    <p:embeddedFont>
      <p:font typeface="Roboto Mono"/>
      <p:regular r:id="rId95"/>
      <p:bold r:id="rId96"/>
      <p:italic r:id="rId97"/>
      <p:boldItalic r:id="rId9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44" Type="http://schemas.openxmlformats.org/officeDocument/2006/relationships/slide" Target="slides/slide39.xml"/><Relationship Id="rId43" Type="http://schemas.openxmlformats.org/officeDocument/2006/relationships/slide" Target="slides/slide38.xml"/><Relationship Id="rId46" Type="http://schemas.openxmlformats.org/officeDocument/2006/relationships/slide" Target="slides/slide41.xml"/><Relationship Id="rId45" Type="http://schemas.openxmlformats.org/officeDocument/2006/relationships/slide" Target="slides/slide40.xml"/><Relationship Id="rId48" Type="http://schemas.openxmlformats.org/officeDocument/2006/relationships/slide" Target="slides/slide43.xml"/><Relationship Id="rId47" Type="http://schemas.openxmlformats.org/officeDocument/2006/relationships/slide" Target="slides/slide42.xml"/><Relationship Id="rId49" Type="http://schemas.openxmlformats.org/officeDocument/2006/relationships/slide" Target="slides/slide44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33" Type="http://schemas.openxmlformats.org/officeDocument/2006/relationships/slide" Target="slides/slide28.xml"/><Relationship Id="rId32" Type="http://schemas.openxmlformats.org/officeDocument/2006/relationships/slide" Target="slides/slide27.xml"/><Relationship Id="rId35" Type="http://schemas.openxmlformats.org/officeDocument/2006/relationships/slide" Target="slides/slide30.xml"/><Relationship Id="rId34" Type="http://schemas.openxmlformats.org/officeDocument/2006/relationships/slide" Target="slides/slide29.xml"/><Relationship Id="rId37" Type="http://schemas.openxmlformats.org/officeDocument/2006/relationships/slide" Target="slides/slide32.xml"/><Relationship Id="rId36" Type="http://schemas.openxmlformats.org/officeDocument/2006/relationships/slide" Target="slides/slide31.xml"/><Relationship Id="rId39" Type="http://schemas.openxmlformats.org/officeDocument/2006/relationships/slide" Target="slides/slide34.xml"/><Relationship Id="rId38" Type="http://schemas.openxmlformats.org/officeDocument/2006/relationships/slide" Target="slides/slide33.xml"/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29" Type="http://schemas.openxmlformats.org/officeDocument/2006/relationships/slide" Target="slides/slide24.xml"/><Relationship Id="rId95" Type="http://schemas.openxmlformats.org/officeDocument/2006/relationships/font" Target="fonts/RobotoMono-regular.fntdata"/><Relationship Id="rId94" Type="http://schemas.openxmlformats.org/officeDocument/2006/relationships/font" Target="fonts/Lato-boldItalic.fntdata"/><Relationship Id="rId97" Type="http://schemas.openxmlformats.org/officeDocument/2006/relationships/font" Target="fonts/RobotoMono-italic.fntdata"/><Relationship Id="rId96" Type="http://schemas.openxmlformats.org/officeDocument/2006/relationships/font" Target="fonts/RobotoMono-bold.fntdata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98" Type="http://schemas.openxmlformats.org/officeDocument/2006/relationships/font" Target="fonts/RobotoMono-boldItalic.fntdata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91" Type="http://schemas.openxmlformats.org/officeDocument/2006/relationships/font" Target="fonts/Lato-regular.fntdata"/><Relationship Id="rId90" Type="http://schemas.openxmlformats.org/officeDocument/2006/relationships/font" Target="fonts/Montserrat-boldItalic.fntdata"/><Relationship Id="rId93" Type="http://schemas.openxmlformats.org/officeDocument/2006/relationships/font" Target="fonts/Lato-italic.fntdata"/><Relationship Id="rId92" Type="http://schemas.openxmlformats.org/officeDocument/2006/relationships/font" Target="fonts/Lato-bold.fntdata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Relationship Id="rId84" Type="http://schemas.openxmlformats.org/officeDocument/2006/relationships/font" Target="fonts/Roboto-bold.fntdata"/><Relationship Id="rId83" Type="http://schemas.openxmlformats.org/officeDocument/2006/relationships/font" Target="fonts/Roboto-regular.fntdata"/><Relationship Id="rId86" Type="http://schemas.openxmlformats.org/officeDocument/2006/relationships/font" Target="fonts/Roboto-boldItalic.fntdata"/><Relationship Id="rId85" Type="http://schemas.openxmlformats.org/officeDocument/2006/relationships/font" Target="fonts/Roboto-italic.fntdata"/><Relationship Id="rId88" Type="http://schemas.openxmlformats.org/officeDocument/2006/relationships/font" Target="fonts/Montserrat-bold.fntdata"/><Relationship Id="rId87" Type="http://schemas.openxmlformats.org/officeDocument/2006/relationships/font" Target="fonts/Montserrat-regular.fntdata"/><Relationship Id="rId89" Type="http://schemas.openxmlformats.org/officeDocument/2006/relationships/font" Target="fonts/Montserrat-italic.fntdata"/><Relationship Id="rId80" Type="http://schemas.openxmlformats.org/officeDocument/2006/relationships/slide" Target="slides/slide75.xml"/><Relationship Id="rId82" Type="http://schemas.openxmlformats.org/officeDocument/2006/relationships/slide" Target="slides/slide77.xml"/><Relationship Id="rId81" Type="http://schemas.openxmlformats.org/officeDocument/2006/relationships/slide" Target="slides/slide76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73" Type="http://schemas.openxmlformats.org/officeDocument/2006/relationships/slide" Target="slides/slide68.xml"/><Relationship Id="rId72" Type="http://schemas.openxmlformats.org/officeDocument/2006/relationships/slide" Target="slides/slide67.xml"/><Relationship Id="rId75" Type="http://schemas.openxmlformats.org/officeDocument/2006/relationships/slide" Target="slides/slide70.xml"/><Relationship Id="rId74" Type="http://schemas.openxmlformats.org/officeDocument/2006/relationships/slide" Target="slides/slide69.xml"/><Relationship Id="rId77" Type="http://schemas.openxmlformats.org/officeDocument/2006/relationships/slide" Target="slides/slide72.xml"/><Relationship Id="rId76" Type="http://schemas.openxmlformats.org/officeDocument/2006/relationships/slide" Target="slides/slide71.xml"/><Relationship Id="rId79" Type="http://schemas.openxmlformats.org/officeDocument/2006/relationships/slide" Target="slides/slide74.xml"/><Relationship Id="rId78" Type="http://schemas.openxmlformats.org/officeDocument/2006/relationships/slide" Target="slides/slide73.xml"/><Relationship Id="rId71" Type="http://schemas.openxmlformats.org/officeDocument/2006/relationships/slide" Target="slides/slide66.xml"/><Relationship Id="rId70" Type="http://schemas.openxmlformats.org/officeDocument/2006/relationships/slide" Target="slides/slide65.xml"/><Relationship Id="rId62" Type="http://schemas.openxmlformats.org/officeDocument/2006/relationships/slide" Target="slides/slide57.xml"/><Relationship Id="rId61" Type="http://schemas.openxmlformats.org/officeDocument/2006/relationships/slide" Target="slides/slide56.xml"/><Relationship Id="rId64" Type="http://schemas.openxmlformats.org/officeDocument/2006/relationships/slide" Target="slides/slide59.xml"/><Relationship Id="rId63" Type="http://schemas.openxmlformats.org/officeDocument/2006/relationships/slide" Target="slides/slide58.xml"/><Relationship Id="rId66" Type="http://schemas.openxmlformats.org/officeDocument/2006/relationships/slide" Target="slides/slide61.xml"/><Relationship Id="rId65" Type="http://schemas.openxmlformats.org/officeDocument/2006/relationships/slide" Target="slides/slide60.xml"/><Relationship Id="rId68" Type="http://schemas.openxmlformats.org/officeDocument/2006/relationships/slide" Target="slides/slide63.xml"/><Relationship Id="rId67" Type="http://schemas.openxmlformats.org/officeDocument/2006/relationships/slide" Target="slides/slide62.xml"/><Relationship Id="rId60" Type="http://schemas.openxmlformats.org/officeDocument/2006/relationships/slide" Target="slides/slide55.xml"/><Relationship Id="rId69" Type="http://schemas.openxmlformats.org/officeDocument/2006/relationships/slide" Target="slides/slide64.xml"/><Relationship Id="rId51" Type="http://schemas.openxmlformats.org/officeDocument/2006/relationships/slide" Target="slides/slide46.xml"/><Relationship Id="rId50" Type="http://schemas.openxmlformats.org/officeDocument/2006/relationships/slide" Target="slides/slide45.xml"/><Relationship Id="rId53" Type="http://schemas.openxmlformats.org/officeDocument/2006/relationships/slide" Target="slides/slide48.xml"/><Relationship Id="rId52" Type="http://schemas.openxmlformats.org/officeDocument/2006/relationships/slide" Target="slides/slide47.xml"/><Relationship Id="rId55" Type="http://schemas.openxmlformats.org/officeDocument/2006/relationships/slide" Target="slides/slide50.xml"/><Relationship Id="rId54" Type="http://schemas.openxmlformats.org/officeDocument/2006/relationships/slide" Target="slides/slide49.xml"/><Relationship Id="rId57" Type="http://schemas.openxmlformats.org/officeDocument/2006/relationships/slide" Target="slides/slide52.xml"/><Relationship Id="rId56" Type="http://schemas.openxmlformats.org/officeDocument/2006/relationships/slide" Target="slides/slide51.xml"/><Relationship Id="rId59" Type="http://schemas.openxmlformats.org/officeDocument/2006/relationships/slide" Target="slides/slide54.xml"/><Relationship Id="rId58" Type="http://schemas.openxmlformats.org/officeDocument/2006/relationships/slide" Target="slides/slide5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" name="Google Shape;13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g34ca80ebf23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9" name="Google Shape;139;g34ca80ebf23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387fc3b36c7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5" name="Google Shape;145;g387fc3b36c7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g387fc3b36c7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1" name="Google Shape;151;g387fc3b36c7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g387fc3b36c7_0_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7" name="Google Shape;157;g387fc3b36c7_0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g34ca80ebf23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3" name="Google Shape;163;g34ca80ebf23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87ccd45540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87ccd45540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g387ccd45540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4" name="Google Shape;174;g387ccd45540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g34ca80ebf23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0" name="Google Shape;180;g34ca80ebf23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34ca80ebf23_0_2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6" name="Google Shape;186;g34ca80ebf23_0_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387ccd45540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2" name="Google Shape;192;g387ccd45540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g387ccd45540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8" name="Google Shape;198;g387ccd45540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387ccd45540_0_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g387ccd45540_0_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387ccd45540_0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0" name="Google Shape;210;g387ccd45540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g387ccd45540_0_3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6" name="Google Shape;216;g387ccd45540_0_3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g387ccd45540_0_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2" name="Google Shape;222;g387ccd45540_0_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387ccd45540_0_15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" name="Google Shape;228;g387ccd45540_0_1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g387ccd45540_0_6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3" name="Google Shape;233;g387ccd45540_0_6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g387ccd45540_0_7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9" name="Google Shape;239;g387ccd45540_0_7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g387ccd45540_0_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5" name="Google Shape;245;g387ccd45540_0_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9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g387ccd45540_0_8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1" name="Google Shape;251;g387ccd45540_0_8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g3896c714028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7" name="Google Shape;257;g3896c714028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g387ccd45540_0_9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3" name="Google Shape;263;g387ccd45540_0_9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g387ccd45540_0_1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9" name="Google Shape;269;g387ccd45540_0_1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3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g387ccd45540_0_10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5" name="Google Shape;275;g387ccd45540_0_10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g387ccd45540_0_12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1" name="Google Shape;281;g387ccd45540_0_1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g387ccd45540_0_1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7" name="Google Shape;287;g387ccd45540_0_1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g387ccd45540_0_13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3" name="Google Shape;293;g387ccd45540_0_1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387ccd45540_0_1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387ccd45540_0_1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g387ccd45540_0_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5" name="Google Shape;305;g387ccd45540_0_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g387ccd45540_0_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1" name="Google Shape;311;g387ccd45540_0_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g387ccd45540_0_6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7" name="Google Shape;317;g387ccd45540_0_6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g387ccd45540_0_16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3" name="Google Shape;323;g387ccd45540_0_16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387ccd45540_0_17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8" name="Google Shape;328;g387ccd45540_0_17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2" name="Shape 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Google Shape;333;g387ccd45540_0_18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4" name="Google Shape;334;g387ccd45540_0_1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g3896c714028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0" name="Google Shape;340;g3896c714028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g387ccd45540_0_2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6" name="Google Shape;346;g387ccd45540_0_2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9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g387ccd45540_0_17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1" name="Google Shape;351;g387ccd45540_0_17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g387ccd45540_0_2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7" name="Google Shape;357;g387ccd45540_0_2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g387ccd45540_0_20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3" name="Google Shape;363;g387ccd45540_0_20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7" name="Shape 3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Google Shape;368;g387ccd45540_0_1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9" name="Google Shape;369;g387ccd45540_0_1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3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374;g3896c714028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5" name="Google Shape;375;g3896c714028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9" name="Shape 3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Google Shape;380;g387ccd45540_0_2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1" name="Google Shape;381;g387ccd45540_0_2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4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g387ccd45540_0_18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6" name="Google Shape;386;g387ccd45540_0_18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0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g387ccd45540_0_28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2" name="Google Shape;392;g387ccd45540_0_28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5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Google Shape;396;g387ccd45540_0_2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7" name="Google Shape;397;g387ccd45540_0_2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g387ccd45540_0_2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g387ccd45540_0_2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7" name="Shape 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8" name="Google Shape;408;g387ccd45540_0_23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9" name="Google Shape;409;g387ccd45540_0_23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387ccd45540_0_24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5" name="Google Shape;415;g387ccd45540_0_2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9" name="Shape 4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Google Shape;420;g3896c714028_1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1" name="Google Shape;421;g3896c714028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5" name="Shape 4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Google Shape;426;g387ccd45540_0_27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7" name="Google Shape;427;g387ccd45540_0_27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0" name="Shape 4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Google Shape;431;g387ccd45540_0_2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2" name="Google Shape;432;g387ccd45540_0_2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6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g387ccd45540_0_2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8" name="Google Shape;438;g387ccd45540_0_2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2" name="Shape 4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3" name="Google Shape;443;g387ccd45540_0_26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4" name="Google Shape;444;g387ccd45540_0_26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8" name="Shape 4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Google Shape;449;g387ccd45540_0_29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0" name="Google Shape;450;g387ccd45540_0_29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3" name="Shape 4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4" name="Google Shape;454;g387ccd45540_0_29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5" name="Google Shape;455;g387ccd45540_0_29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8" name="Shape 4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9" name="Google Shape;459;g387ccd45540_0_30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0" name="Google Shape;460;g387ccd45540_0_30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3" name="Shape 4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4" name="Google Shape;464;g387edecf516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5" name="Google Shape;465;g387edecf516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8" name="Shape 4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" name="Google Shape;469;g387edecf516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0" name="Google Shape;470;g387edecf516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3" name="Shape 4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4" name="Google Shape;474;g387dbed02e7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5" name="Google Shape;475;g387dbed02e7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8" name="Shape 4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9" name="Google Shape;479;g387dbed02e7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0" name="Google Shape;480;g387dbed02e7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3" name="Shape 4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4" name="Google Shape;484;g387dbed02e7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5" name="Google Shape;485;g387dbed02e7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8" name="Shape 4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9" name="Google Shape;489;g387dbed02e7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0" name="Google Shape;490;g387dbed02e7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4" name="Shape 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Google Shape;495;g387dbed02e7_0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6" name="Google Shape;496;g387dbed02e7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0" name="Shape 5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Google Shape;501;g39f4f864837_0_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2" name="Google Shape;502;g39f4f864837_0_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6" name="Shape 5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7" name="Google Shape;507;g387dbed02e7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8" name="Google Shape;508;g387dbed02e7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2" name="Shape 5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3" name="Google Shape;513;g387dbed02e7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4" name="Google Shape;514;g387dbed02e7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8" name="Shape 5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9" name="Google Shape;519;g387dbed02e7_0_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0" name="Google Shape;520;g387dbed02e7_0_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3" name="Shape 5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Google Shape;524;g387dbed02e7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5" name="Google Shape;525;g387dbed02e7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9" name="Shape 5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Google Shape;530;g387dbed02e7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1" name="Google Shape;531;g387dbed02e7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5" name="Shape 5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6" name="Google Shape;536;g387dbed02e7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7" name="Google Shape;537;g387dbed02e7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1" name="Shape 5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" name="Google Shape;542;g387dbed02e7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3" name="Google Shape;543;g387dbed02e7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7" name="Shape 5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8" name="Google Shape;548;g387dbed02e7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9" name="Google Shape;549;g387dbed02e7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3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4" name="Google Shape;554;g387dbed02e7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5" name="Google Shape;555;g387dbed02e7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9" name="Shape 5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Google Shape;560;g387dbed02e7_0_7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1" name="Google Shape;561;g387dbed02e7_0_7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5" name="Shape 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Google Shape;566;g387dbed02e7_0_9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7" name="Google Shape;567;g387dbed02e7_0_9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1" name="Shape 5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2" name="Google Shape;572;g387dbed02e7_0_10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3" name="Google Shape;573;g387dbed02e7_0_10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 rot="5400000">
            <a:off x="7500300" y="505"/>
            <a:ext cx="1643700" cy="1643700"/>
          </a:xfrm>
          <a:prstGeom prst="diagStripe">
            <a:avLst>
              <a:gd fmla="val 0" name="adj"/>
            </a:avLst>
          </a:prstGeom>
          <a:solidFill>
            <a:schemeClr val="lt1">
              <a:alpha val="3030"/>
            </a:scheme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0" y="490"/>
            <a:ext cx="5153705" cy="5134399"/>
            <a:chOff x="0" y="75"/>
            <a:chExt cx="5153705" cy="5152950"/>
          </a:xfrm>
        </p:grpSpPr>
        <p:sp>
          <p:nvSpPr>
            <p:cNvPr id="12" name="Google Shape;12;p2"/>
            <p:cNvSpPr/>
            <p:nvPr/>
          </p:nvSpPr>
          <p:spPr>
            <a:xfrm rot="-5400000">
              <a:off x="455" y="-225"/>
              <a:ext cx="5152800" cy="51537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303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 rot="-5400000">
              <a:off x="150" y="1145825"/>
              <a:ext cx="3996600" cy="3996900"/>
            </a:xfrm>
            <a:prstGeom prst="diagStripe">
              <a:avLst>
                <a:gd fmla="val 58774" name="adj"/>
              </a:avLst>
            </a:prstGeom>
            <a:solidFill>
              <a:schemeClr val="lt1">
                <a:alpha val="303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" name="Google Shape;14;p2"/>
            <p:cNvSpPr/>
            <p:nvPr/>
          </p:nvSpPr>
          <p:spPr>
            <a:xfrm rot="-5400000">
              <a:off x="1646" y="-75"/>
              <a:ext cx="2299800" cy="23001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" name="Google Shape;15;p2"/>
            <p:cNvSpPr/>
            <p:nvPr/>
          </p:nvSpPr>
          <p:spPr>
            <a:xfrm flipH="1">
              <a:off x="652821" y="590035"/>
              <a:ext cx="2300100" cy="2299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6" name="Google Shape;16;p2"/>
          <p:cNvSpPr txBox="1"/>
          <p:nvPr>
            <p:ph type="ctrTitle"/>
          </p:nvPr>
        </p:nvSpPr>
        <p:spPr>
          <a:xfrm>
            <a:off x="3537150" y="1578400"/>
            <a:ext cx="5017500" cy="157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2pPr>
            <a:lvl3pPr lvl="2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3pPr>
            <a:lvl4pPr lvl="3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4pPr>
            <a:lvl5pPr lvl="4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5pPr>
            <a:lvl6pPr lvl="5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6pPr>
            <a:lvl7pPr lvl="6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7pPr>
            <a:lvl8pPr lvl="7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8pPr>
            <a:lvl9pPr lvl="8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9pPr>
          </a:lstStyle>
          <a:p/>
        </p:txBody>
      </p:sp>
      <p:sp>
        <p:nvSpPr>
          <p:cNvPr id="17" name="Google Shape;17;p2"/>
          <p:cNvSpPr txBox="1"/>
          <p:nvPr>
            <p:ph idx="1" type="subTitle"/>
          </p:nvPr>
        </p:nvSpPr>
        <p:spPr>
          <a:xfrm>
            <a:off x="5083950" y="3924925"/>
            <a:ext cx="3470700" cy="50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/>
        </p:txBody>
      </p:sp>
      <p:sp>
        <p:nvSpPr>
          <p:cNvPr id="18" name="Google Shape;18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oogle Shape;20;p3"/>
          <p:cNvGrpSpPr/>
          <p:nvPr/>
        </p:nvGrpSpPr>
        <p:grpSpPr>
          <a:xfrm>
            <a:off x="4406400" y="0"/>
            <a:ext cx="4737600" cy="5143065"/>
            <a:chOff x="4406400" y="0"/>
            <a:chExt cx="4737600" cy="5143065"/>
          </a:xfrm>
        </p:grpSpPr>
        <p:sp>
          <p:nvSpPr>
            <p:cNvPr id="21" name="Google Shape;21;p3"/>
            <p:cNvSpPr/>
            <p:nvPr/>
          </p:nvSpPr>
          <p:spPr>
            <a:xfrm rot="5400000">
              <a:off x="4408200" y="-1800"/>
              <a:ext cx="4734000" cy="4737600"/>
            </a:xfrm>
            <a:prstGeom prst="diagStripe">
              <a:avLst>
                <a:gd fmla="val 49469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" name="Google Shape;22;p3"/>
            <p:cNvSpPr/>
            <p:nvPr/>
          </p:nvSpPr>
          <p:spPr>
            <a:xfrm rot="5400000">
              <a:off x="4841125" y="5700"/>
              <a:ext cx="4298100" cy="4286700"/>
            </a:xfrm>
            <a:prstGeom prst="diagStripe">
              <a:avLst>
                <a:gd fmla="val 0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" name="Google Shape;23;p3"/>
            <p:cNvSpPr/>
            <p:nvPr/>
          </p:nvSpPr>
          <p:spPr>
            <a:xfrm rot="-5400000">
              <a:off x="5618399" y="123646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" name="Google Shape;24;p3"/>
            <p:cNvSpPr/>
            <p:nvPr/>
          </p:nvSpPr>
          <p:spPr>
            <a:xfrm flipH="1">
              <a:off x="5849857" y="1443956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" name="Google Shape;25;p3"/>
            <p:cNvSpPr/>
            <p:nvPr/>
          </p:nvSpPr>
          <p:spPr>
            <a:xfrm rot="-5400000">
              <a:off x="5987081" y="246946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" name="Google Shape;26;p3"/>
            <p:cNvSpPr/>
            <p:nvPr/>
          </p:nvSpPr>
          <p:spPr>
            <a:xfrm flipH="1">
              <a:off x="6222115" y="267695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" name="Google Shape;27;p3"/>
            <p:cNvSpPr/>
            <p:nvPr/>
          </p:nvSpPr>
          <p:spPr>
            <a:xfrm rot="-5400000">
              <a:off x="6675341" y="186201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" name="Google Shape;28;p3"/>
            <p:cNvSpPr/>
            <p:nvPr/>
          </p:nvSpPr>
          <p:spPr>
            <a:xfrm flipH="1">
              <a:off x="6908099" y="206950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" name="Google Shape;29;p3"/>
            <p:cNvSpPr/>
            <p:nvPr/>
          </p:nvSpPr>
          <p:spPr>
            <a:xfrm rot="-5400000">
              <a:off x="6861141" y="247781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" name="Google Shape;30;p3"/>
            <p:cNvSpPr/>
            <p:nvPr/>
          </p:nvSpPr>
          <p:spPr>
            <a:xfrm flipH="1">
              <a:off x="7965266" y="269296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" name="Google Shape;31;p3"/>
            <p:cNvSpPr/>
            <p:nvPr/>
          </p:nvSpPr>
          <p:spPr>
            <a:xfrm flipH="1">
              <a:off x="8145082" y="330875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" name="Google Shape;32;p3"/>
            <p:cNvSpPr/>
            <p:nvPr/>
          </p:nvSpPr>
          <p:spPr>
            <a:xfrm rot="-5400000">
              <a:off x="7047599" y="309501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" name="Google Shape;33;p3"/>
            <p:cNvSpPr/>
            <p:nvPr/>
          </p:nvSpPr>
          <p:spPr>
            <a:xfrm flipH="1">
              <a:off x="7276649" y="3302502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" name="Google Shape;34;p3"/>
            <p:cNvSpPr/>
            <p:nvPr/>
          </p:nvSpPr>
          <p:spPr>
            <a:xfrm rot="-5400000">
              <a:off x="7227414" y="3710807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" name="Google Shape;35;p3"/>
            <p:cNvSpPr/>
            <p:nvPr/>
          </p:nvSpPr>
          <p:spPr>
            <a:xfrm flipH="1">
              <a:off x="7462448" y="3918294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" name="Google Shape;36;p3"/>
            <p:cNvSpPr/>
            <p:nvPr/>
          </p:nvSpPr>
          <p:spPr>
            <a:xfrm rot="-5400000">
              <a:off x="8102491" y="371847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" name="Google Shape;37;p3"/>
            <p:cNvSpPr/>
            <p:nvPr/>
          </p:nvSpPr>
          <p:spPr>
            <a:xfrm flipH="1">
              <a:off x="8334533" y="392596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" name="Google Shape;38;p3"/>
            <p:cNvSpPr/>
            <p:nvPr/>
          </p:nvSpPr>
          <p:spPr>
            <a:xfrm rot="-5400000">
              <a:off x="8288290" y="433426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39" name="Google Shape;39;p3"/>
          <p:cNvSpPr txBox="1"/>
          <p:nvPr>
            <p:ph type="title"/>
          </p:nvPr>
        </p:nvSpPr>
        <p:spPr>
          <a:xfrm>
            <a:off x="823850" y="2053000"/>
            <a:ext cx="4587000" cy="1148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40" name="Google Shape;40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Google Shape;42;p4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43" name="Google Shape;43;p4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" name="Google Shape;44;p4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45" name="Google Shape;45;p4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46" name="Google Shape;46;p4"/>
          <p:cNvSpPr txBox="1"/>
          <p:nvPr>
            <p:ph idx="1" type="body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47" name="Google Shape;47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" name="Google Shape;49;p5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50" name="Google Shape;50;p5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" name="Google Shape;51;p5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52" name="Google Shape;52;p5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53" name="Google Shape;53;p5"/>
          <p:cNvSpPr txBox="1"/>
          <p:nvPr>
            <p:ph idx="1" type="body"/>
          </p:nvPr>
        </p:nvSpPr>
        <p:spPr>
          <a:xfrm>
            <a:off x="1297500" y="1567550"/>
            <a:ext cx="34032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54" name="Google Shape;54;p5"/>
          <p:cNvSpPr txBox="1"/>
          <p:nvPr>
            <p:ph idx="2" type="body"/>
          </p:nvPr>
        </p:nvSpPr>
        <p:spPr>
          <a:xfrm>
            <a:off x="4933221" y="1567550"/>
            <a:ext cx="34032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55" name="Google Shape;55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" name="Google Shape;57;p6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58" name="Google Shape;58;p6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" name="Google Shape;59;p6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60" name="Google Shape;60;p6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61" name="Google Shape;61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Google Shape;63;p7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64" name="Google Shape;64;p7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" name="Google Shape;65;p7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66" name="Google Shape;66;p7"/>
          <p:cNvSpPr txBox="1"/>
          <p:nvPr>
            <p:ph type="title"/>
          </p:nvPr>
        </p:nvSpPr>
        <p:spPr>
          <a:xfrm>
            <a:off x="1297500" y="393750"/>
            <a:ext cx="3798900" cy="149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67" name="Google Shape;67;p7"/>
          <p:cNvSpPr txBox="1"/>
          <p:nvPr>
            <p:ph idx="1" type="body"/>
          </p:nvPr>
        </p:nvSpPr>
        <p:spPr>
          <a:xfrm>
            <a:off x="1297500" y="1972550"/>
            <a:ext cx="3798900" cy="2415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68" name="Google Shape;68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0" name="Google Shape;70;p8"/>
          <p:cNvGrpSpPr/>
          <p:nvPr/>
        </p:nvGrpSpPr>
        <p:grpSpPr>
          <a:xfrm>
            <a:off x="4406400" y="0"/>
            <a:ext cx="4737600" cy="5143500"/>
            <a:chOff x="4406400" y="0"/>
            <a:chExt cx="4737600" cy="5143500"/>
          </a:xfrm>
        </p:grpSpPr>
        <p:sp>
          <p:nvSpPr>
            <p:cNvPr id="71" name="Google Shape;71;p8"/>
            <p:cNvSpPr/>
            <p:nvPr/>
          </p:nvSpPr>
          <p:spPr>
            <a:xfrm rot="5400000">
              <a:off x="4407900" y="-1500"/>
              <a:ext cx="4734600" cy="4737600"/>
            </a:xfrm>
            <a:prstGeom prst="diagStripe">
              <a:avLst>
                <a:gd fmla="val 49469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" name="Google Shape;72;p8"/>
            <p:cNvSpPr/>
            <p:nvPr/>
          </p:nvSpPr>
          <p:spPr>
            <a:xfrm rot="5400000">
              <a:off x="4840825" y="6000"/>
              <a:ext cx="4298700" cy="4286700"/>
            </a:xfrm>
            <a:prstGeom prst="diagStripe">
              <a:avLst>
                <a:gd fmla="val 0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" name="Google Shape;73;p8"/>
            <p:cNvSpPr/>
            <p:nvPr/>
          </p:nvSpPr>
          <p:spPr>
            <a:xfrm rot="-5400000">
              <a:off x="5618399" y="123664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" name="Google Shape;74;p8"/>
            <p:cNvSpPr/>
            <p:nvPr/>
          </p:nvSpPr>
          <p:spPr>
            <a:xfrm flipH="1">
              <a:off x="5849857" y="144407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" name="Google Shape;75;p8"/>
            <p:cNvSpPr/>
            <p:nvPr/>
          </p:nvSpPr>
          <p:spPr>
            <a:xfrm rot="-5400000">
              <a:off x="5987081" y="246974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" name="Google Shape;76;p8"/>
            <p:cNvSpPr/>
            <p:nvPr/>
          </p:nvSpPr>
          <p:spPr>
            <a:xfrm flipH="1">
              <a:off x="6222115" y="267717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" name="Google Shape;77;p8"/>
            <p:cNvSpPr/>
            <p:nvPr/>
          </p:nvSpPr>
          <p:spPr>
            <a:xfrm rot="-5400000">
              <a:off x="6675341" y="1862244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" name="Google Shape;78;p8"/>
            <p:cNvSpPr/>
            <p:nvPr/>
          </p:nvSpPr>
          <p:spPr>
            <a:xfrm flipH="1">
              <a:off x="6908099" y="206968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" name="Google Shape;79;p8"/>
            <p:cNvSpPr/>
            <p:nvPr/>
          </p:nvSpPr>
          <p:spPr>
            <a:xfrm rot="-5400000">
              <a:off x="6861141" y="247808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" name="Google Shape;80;p8"/>
            <p:cNvSpPr/>
            <p:nvPr/>
          </p:nvSpPr>
          <p:spPr>
            <a:xfrm flipH="1">
              <a:off x="7965266" y="269319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" name="Google Shape;81;p8"/>
            <p:cNvSpPr/>
            <p:nvPr/>
          </p:nvSpPr>
          <p:spPr>
            <a:xfrm flipH="1">
              <a:off x="8145082" y="3309036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" name="Google Shape;82;p8"/>
            <p:cNvSpPr/>
            <p:nvPr/>
          </p:nvSpPr>
          <p:spPr>
            <a:xfrm rot="-5400000">
              <a:off x="7047599" y="309534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" name="Google Shape;83;p8"/>
            <p:cNvSpPr/>
            <p:nvPr/>
          </p:nvSpPr>
          <p:spPr>
            <a:xfrm flipH="1">
              <a:off x="7276649" y="330278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" name="Google Shape;84;p8"/>
            <p:cNvSpPr/>
            <p:nvPr/>
          </p:nvSpPr>
          <p:spPr>
            <a:xfrm rot="-5400000">
              <a:off x="7227414" y="37111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" name="Google Shape;85;p8"/>
            <p:cNvSpPr/>
            <p:nvPr/>
          </p:nvSpPr>
          <p:spPr>
            <a:xfrm flipH="1">
              <a:off x="7462448" y="391862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" name="Google Shape;86;p8"/>
            <p:cNvSpPr/>
            <p:nvPr/>
          </p:nvSpPr>
          <p:spPr>
            <a:xfrm rot="-5400000">
              <a:off x="8102491" y="3718856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" name="Google Shape;87;p8"/>
            <p:cNvSpPr/>
            <p:nvPr/>
          </p:nvSpPr>
          <p:spPr>
            <a:xfrm flipH="1">
              <a:off x="8334533" y="3926292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" name="Google Shape;88;p8"/>
            <p:cNvSpPr/>
            <p:nvPr/>
          </p:nvSpPr>
          <p:spPr>
            <a:xfrm rot="-5400000">
              <a:off x="8288290" y="433470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89" name="Google Shape;89;p8"/>
          <p:cNvSpPr txBox="1"/>
          <p:nvPr>
            <p:ph type="title"/>
          </p:nvPr>
        </p:nvSpPr>
        <p:spPr>
          <a:xfrm>
            <a:off x="823850" y="866775"/>
            <a:ext cx="4587000" cy="3521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90" name="Google Shape;90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2" name="Google Shape;92;p9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93" name="Google Shape;93;p9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" name="Google Shape;94;p9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95" name="Google Shape;95;p9"/>
          <p:cNvSpPr txBox="1"/>
          <p:nvPr>
            <p:ph type="title"/>
          </p:nvPr>
        </p:nvSpPr>
        <p:spPr>
          <a:xfrm>
            <a:off x="1297500" y="1658325"/>
            <a:ext cx="3036300" cy="1751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96" name="Google Shape;96;p9"/>
          <p:cNvSpPr txBox="1"/>
          <p:nvPr>
            <p:ph idx="1" type="subTitle"/>
          </p:nvPr>
        </p:nvSpPr>
        <p:spPr>
          <a:xfrm>
            <a:off x="1297500" y="3538000"/>
            <a:ext cx="3036300" cy="50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/>
        </p:txBody>
      </p:sp>
      <p:sp>
        <p:nvSpPr>
          <p:cNvPr id="97" name="Google Shape;97;p9"/>
          <p:cNvSpPr txBox="1"/>
          <p:nvPr>
            <p:ph idx="2" type="body"/>
          </p:nvPr>
        </p:nvSpPr>
        <p:spPr>
          <a:xfrm>
            <a:off x="4648200" y="1696600"/>
            <a:ext cx="3676800" cy="2347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98" name="Google Shape;98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0" name="Google Shape;100;p10"/>
          <p:cNvGrpSpPr/>
          <p:nvPr/>
        </p:nvGrpSpPr>
        <p:grpSpPr>
          <a:xfrm>
            <a:off x="0" y="4128572"/>
            <a:ext cx="698925" cy="684657"/>
            <a:chOff x="0" y="3785672"/>
            <a:chExt cx="698925" cy="684657"/>
          </a:xfrm>
        </p:grpSpPr>
        <p:sp>
          <p:nvSpPr>
            <p:cNvPr id="101" name="Google Shape;101;p10"/>
            <p:cNvSpPr/>
            <p:nvPr/>
          </p:nvSpPr>
          <p:spPr>
            <a:xfrm rot="-5400000">
              <a:off x="0" y="3785672"/>
              <a:ext cx="544800" cy="544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962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" name="Google Shape;102;p10"/>
            <p:cNvSpPr/>
            <p:nvPr/>
          </p:nvSpPr>
          <p:spPr>
            <a:xfrm flipH="1">
              <a:off x="154125" y="3925529"/>
              <a:ext cx="544800" cy="544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962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03" name="Google Shape;103;p10"/>
          <p:cNvSpPr txBox="1"/>
          <p:nvPr>
            <p:ph idx="1" type="body"/>
          </p:nvPr>
        </p:nvSpPr>
        <p:spPr>
          <a:xfrm>
            <a:off x="812725" y="4305375"/>
            <a:ext cx="6936000" cy="523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</a:lstStyle>
          <a:p/>
        </p:txBody>
      </p:sp>
      <p:sp>
        <p:nvSpPr>
          <p:cNvPr id="104" name="Google Shape;104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6" name="Google Shape;106;p11"/>
          <p:cNvGrpSpPr/>
          <p:nvPr/>
        </p:nvGrpSpPr>
        <p:grpSpPr>
          <a:xfrm>
            <a:off x="4406400" y="0"/>
            <a:ext cx="4737600" cy="5143065"/>
            <a:chOff x="4406400" y="0"/>
            <a:chExt cx="4737600" cy="5143065"/>
          </a:xfrm>
        </p:grpSpPr>
        <p:sp>
          <p:nvSpPr>
            <p:cNvPr id="107" name="Google Shape;107;p11"/>
            <p:cNvSpPr/>
            <p:nvPr/>
          </p:nvSpPr>
          <p:spPr>
            <a:xfrm rot="5400000">
              <a:off x="4408200" y="-1800"/>
              <a:ext cx="4734000" cy="4737600"/>
            </a:xfrm>
            <a:prstGeom prst="diagStripe">
              <a:avLst>
                <a:gd fmla="val 49469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8" name="Google Shape;108;p11"/>
            <p:cNvSpPr/>
            <p:nvPr/>
          </p:nvSpPr>
          <p:spPr>
            <a:xfrm rot="5400000">
              <a:off x="4841125" y="5700"/>
              <a:ext cx="4298100" cy="4286700"/>
            </a:xfrm>
            <a:prstGeom prst="diagStripe">
              <a:avLst>
                <a:gd fmla="val 0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9" name="Google Shape;109;p11"/>
            <p:cNvSpPr/>
            <p:nvPr/>
          </p:nvSpPr>
          <p:spPr>
            <a:xfrm rot="-5400000">
              <a:off x="5618399" y="123646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" name="Google Shape;110;p11"/>
            <p:cNvSpPr/>
            <p:nvPr/>
          </p:nvSpPr>
          <p:spPr>
            <a:xfrm flipH="1">
              <a:off x="5849857" y="1443956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" name="Google Shape;111;p11"/>
            <p:cNvSpPr/>
            <p:nvPr/>
          </p:nvSpPr>
          <p:spPr>
            <a:xfrm rot="-5400000">
              <a:off x="5987081" y="246946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" name="Google Shape;112;p11"/>
            <p:cNvSpPr/>
            <p:nvPr/>
          </p:nvSpPr>
          <p:spPr>
            <a:xfrm flipH="1">
              <a:off x="6222115" y="267695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" name="Google Shape;113;p11"/>
            <p:cNvSpPr/>
            <p:nvPr/>
          </p:nvSpPr>
          <p:spPr>
            <a:xfrm rot="-5400000">
              <a:off x="6675341" y="186201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" name="Google Shape;114;p11"/>
            <p:cNvSpPr/>
            <p:nvPr/>
          </p:nvSpPr>
          <p:spPr>
            <a:xfrm flipH="1">
              <a:off x="6908099" y="206950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" name="Google Shape;115;p11"/>
            <p:cNvSpPr/>
            <p:nvPr/>
          </p:nvSpPr>
          <p:spPr>
            <a:xfrm rot="-5400000">
              <a:off x="6861141" y="247781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" name="Google Shape;116;p11"/>
            <p:cNvSpPr/>
            <p:nvPr/>
          </p:nvSpPr>
          <p:spPr>
            <a:xfrm flipH="1">
              <a:off x="7965266" y="269296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" name="Google Shape;117;p11"/>
            <p:cNvSpPr/>
            <p:nvPr/>
          </p:nvSpPr>
          <p:spPr>
            <a:xfrm flipH="1">
              <a:off x="8145082" y="330875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" name="Google Shape;118;p11"/>
            <p:cNvSpPr/>
            <p:nvPr/>
          </p:nvSpPr>
          <p:spPr>
            <a:xfrm rot="-5400000">
              <a:off x="7047599" y="309501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" name="Google Shape;119;p11"/>
            <p:cNvSpPr/>
            <p:nvPr/>
          </p:nvSpPr>
          <p:spPr>
            <a:xfrm flipH="1">
              <a:off x="7276649" y="3302502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" name="Google Shape;120;p11"/>
            <p:cNvSpPr/>
            <p:nvPr/>
          </p:nvSpPr>
          <p:spPr>
            <a:xfrm rot="-5400000">
              <a:off x="7227414" y="3710807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" name="Google Shape;121;p11"/>
            <p:cNvSpPr/>
            <p:nvPr/>
          </p:nvSpPr>
          <p:spPr>
            <a:xfrm flipH="1">
              <a:off x="7462448" y="3918294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" name="Google Shape;122;p11"/>
            <p:cNvSpPr/>
            <p:nvPr/>
          </p:nvSpPr>
          <p:spPr>
            <a:xfrm rot="-5400000">
              <a:off x="8102491" y="371847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" name="Google Shape;123;p11"/>
            <p:cNvSpPr/>
            <p:nvPr/>
          </p:nvSpPr>
          <p:spPr>
            <a:xfrm flipH="1">
              <a:off x="8334533" y="392596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" name="Google Shape;124;p11"/>
            <p:cNvSpPr/>
            <p:nvPr/>
          </p:nvSpPr>
          <p:spPr>
            <a:xfrm rot="-5400000">
              <a:off x="8288290" y="433426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25" name="Google Shape;125;p11"/>
          <p:cNvSpPr txBox="1"/>
          <p:nvPr>
            <p:ph hasCustomPrompt="1" type="title"/>
          </p:nvPr>
        </p:nvSpPr>
        <p:spPr>
          <a:xfrm>
            <a:off x="823850" y="1284675"/>
            <a:ext cx="47760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1pPr>
            <a:lvl2pPr lvl="1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2pPr>
            <a:lvl3pPr lvl="2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3pPr>
            <a:lvl4pPr lvl="3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4pPr>
            <a:lvl5pPr lvl="4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5pPr>
            <a:lvl6pPr lvl="5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6pPr>
            <a:lvl7pPr lvl="6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7pPr>
            <a:lvl8pPr lvl="7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8pPr>
            <a:lvl9pPr lvl="8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9pPr>
          </a:lstStyle>
          <a:p>
            <a:r>
              <a:t>xx%</a:t>
            </a:r>
          </a:p>
        </p:txBody>
      </p:sp>
      <p:sp>
        <p:nvSpPr>
          <p:cNvPr id="126" name="Google Shape;126;p11"/>
          <p:cNvSpPr txBox="1"/>
          <p:nvPr>
            <p:ph idx="1" type="body"/>
          </p:nvPr>
        </p:nvSpPr>
        <p:spPr>
          <a:xfrm>
            <a:off x="823850" y="2643124"/>
            <a:ext cx="4776000" cy="121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127" name="Google Shape;12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focus">
    <p:bg>
      <p:bgPr>
        <a:solidFill>
          <a:schemeClr val="dk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Lato"/>
              <a:buChar char="●"/>
              <a:defRPr sz="13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29845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○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-29845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■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-29845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●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-29845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○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-29845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■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-29845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●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-29845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○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-29845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■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lvl="2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lvl="3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lvl="4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lvl="5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lvl="6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lvl="7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lvl="8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slide" Target="/ppt/slides/slide6.xml"/><Relationship Id="rId4" Type="http://schemas.openxmlformats.org/officeDocument/2006/relationships/slide" Target="/ppt/slides/slide7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slide" Target="/ppt/slides/slide17.xml"/><Relationship Id="rId4" Type="http://schemas.openxmlformats.org/officeDocument/2006/relationships/slide" Target="/ppt/slides/slide3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slide" Target="/ppt/slides/slide55.xml"/><Relationship Id="rId4" Type="http://schemas.openxmlformats.org/officeDocument/2006/relationships/slide" Target="/ppt/slides/slide62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slide" Target="/ppt/slides/slide68.xml"/><Relationship Id="rId4" Type="http://schemas.openxmlformats.org/officeDocument/2006/relationships/slide" Target="/ppt/slides/slide77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6.xml"/><Relationship Id="rId3" Type="http://schemas.openxmlformats.org/officeDocument/2006/relationships/image" Target="../media/image2.png"/></Relationships>
</file>

<file path=ppt/slides/_rels/slide5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7.xml"/><Relationship Id="rId3" Type="http://schemas.openxmlformats.org/officeDocument/2006/relationships/image" Target="../media/image4.png"/></Relationships>
</file>

<file path=ppt/slides/_rels/slide5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8.xml"/><Relationship Id="rId3" Type="http://schemas.openxmlformats.org/officeDocument/2006/relationships/image" Target="../media/image2.png"/></Relationships>
</file>

<file path=ppt/slides/_rels/slide5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9.xml"/><Relationship Id="rId3" Type="http://schemas.openxmlformats.org/officeDocument/2006/relationships/image" Target="../media/image3.png"/></Relationships>
</file>

<file path=ppt/slides/_rels/slide6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1.xml"/><Relationship Id="rId3" Type="http://schemas.openxmlformats.org/officeDocument/2006/relationships/image" Target="../media/image5.png"/></Relationships>
</file>

<file path=ppt/slides/_rels/slide6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4.xml"/></Relationships>
</file>

<file path=ppt/slides/_rels/slide7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5.xml"/></Relationships>
</file>

<file path=ppt/slides/_rels/slide7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6.xml"/></Relationships>
</file>

<file path=ppt/slides/_rels/slide7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7.xml"/><Relationship Id="rId3" Type="http://schemas.openxmlformats.org/officeDocument/2006/relationships/hyperlink" Target="https://chatgpt.com/" TargetMode="External"/><Relationship Id="rId4" Type="http://schemas.openxmlformats.org/officeDocument/2006/relationships/hyperlink" Target="https://www.deepseek.com/" TargetMode="External"/><Relationship Id="rId5" Type="http://schemas.openxmlformats.org/officeDocument/2006/relationships/hyperlink" Target="https://www.figma.com/" TargetMode="External"/><Relationship Id="rId6" Type="http://schemas.openxmlformats.org/officeDocument/2006/relationships/hyperlink" Target="https://lucid.app/documents/#/home?folder_id=recent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3"/>
          <p:cNvSpPr txBox="1"/>
          <p:nvPr>
            <p:ph type="ctrTitle"/>
          </p:nvPr>
        </p:nvSpPr>
        <p:spPr>
          <a:xfrm>
            <a:off x="311700" y="67275"/>
            <a:ext cx="8520600" cy="83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BuyNote</a:t>
            </a:r>
            <a:endParaRPr/>
          </a:p>
        </p:txBody>
      </p:sp>
      <p:sp>
        <p:nvSpPr>
          <p:cNvPr id="135" name="Google Shape;135;p13"/>
          <p:cNvSpPr txBox="1"/>
          <p:nvPr>
            <p:ph idx="1" type="subTitle"/>
          </p:nvPr>
        </p:nvSpPr>
        <p:spPr>
          <a:xfrm>
            <a:off x="311700" y="4350900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Antonio Cordero Serrano 2º CFGS DAM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>
                <a:solidFill>
                  <a:srgbClr val="FFFFFF"/>
                </a:solidFill>
              </a:rPr>
              <a:t>Creación de la presentación: 10/10/2025</a:t>
            </a:r>
            <a:endParaRPr/>
          </a:p>
        </p:txBody>
      </p:sp>
      <p:pic>
        <p:nvPicPr>
          <p:cNvPr id="136" name="Google Shape;136;p13" title="BuyNote__1_-removebg-preview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01838" y="1058175"/>
            <a:ext cx="3140325" cy="3140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4"/>
          <p:cNvSpPr txBox="1"/>
          <p:nvPr>
            <p:ph type="title"/>
          </p:nvPr>
        </p:nvSpPr>
        <p:spPr>
          <a:xfrm>
            <a:off x="727650" y="563575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Índice</a:t>
            </a:r>
            <a:endParaRPr/>
          </a:p>
        </p:txBody>
      </p:sp>
      <p:sp>
        <p:nvSpPr>
          <p:cNvPr id="142" name="Google Shape;142;p14"/>
          <p:cNvSpPr txBox="1"/>
          <p:nvPr>
            <p:ph idx="1" type="body"/>
          </p:nvPr>
        </p:nvSpPr>
        <p:spPr>
          <a:xfrm>
            <a:off x="311700" y="1248500"/>
            <a:ext cx="8520600" cy="356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20000"/>
          </a:bodyPr>
          <a:lstStyle/>
          <a:p>
            <a:pPr indent="-406400" lvl="0" marL="457200" rtl="0" algn="l">
              <a:spcBef>
                <a:spcPts val="0"/>
              </a:spcBef>
              <a:spcAft>
                <a:spcPts val="0"/>
              </a:spcAft>
              <a:buSzPts val="2800"/>
              <a:buChar char="●"/>
            </a:pPr>
            <a:r>
              <a:rPr b="1" baseline="-25000" lang="es" sz="2800">
                <a:uFill>
                  <a:noFill/>
                </a:uFill>
                <a:hlinkClick action="ppaction://hlinksldjump" r:id="rId3"/>
              </a:rPr>
              <a:t>Introducción </a:t>
            </a:r>
            <a:r>
              <a:rPr b="1" baseline="-25000" lang="es" sz="2800"/>
              <a:t>(6)</a:t>
            </a:r>
            <a:endParaRPr b="1" baseline="-25000" sz="2800"/>
          </a:p>
          <a:p>
            <a:pPr indent="-406400" lvl="0" marL="457200" rtl="0" algn="l">
              <a:spcBef>
                <a:spcPts val="0"/>
              </a:spcBef>
              <a:spcAft>
                <a:spcPts val="0"/>
              </a:spcAft>
              <a:buSzPts val="2800"/>
              <a:buChar char="●"/>
            </a:pPr>
            <a:r>
              <a:rPr b="1" baseline="-25000" lang="es" sz="2800">
                <a:uFill>
                  <a:noFill/>
                </a:uFill>
                <a:hlinkClick action="ppaction://hlinksldjump" r:id="rId4"/>
              </a:rPr>
              <a:t>Plan de viabilidad</a:t>
            </a:r>
            <a:r>
              <a:rPr b="1" baseline="-25000" lang="es" sz="2800"/>
              <a:t> (7 - 16)</a:t>
            </a:r>
            <a:endParaRPr b="1" baseline="-25000" sz="2800"/>
          </a:p>
          <a:p>
            <a:pPr indent="-406400" lvl="1" marL="914400" rtl="0" algn="l">
              <a:spcBef>
                <a:spcPts val="0"/>
              </a:spcBef>
              <a:spcAft>
                <a:spcPts val="0"/>
              </a:spcAft>
              <a:buSzPts val="2800"/>
              <a:buChar char="○"/>
            </a:pPr>
            <a:r>
              <a:rPr baseline="-25000" lang="es" sz="2800"/>
              <a:t>Necesidades actuales del mercado (8)</a:t>
            </a:r>
            <a:endParaRPr baseline="-25000" sz="2800"/>
          </a:p>
          <a:p>
            <a:pPr indent="-406400" lvl="1" marL="914400" rtl="0" algn="l">
              <a:spcBef>
                <a:spcPts val="0"/>
              </a:spcBef>
              <a:spcAft>
                <a:spcPts val="0"/>
              </a:spcAft>
              <a:buSzPts val="2800"/>
              <a:buChar char="○"/>
            </a:pPr>
            <a:r>
              <a:rPr baseline="-25000" lang="es" sz="2800"/>
              <a:t>Competencia (9 - 12)</a:t>
            </a:r>
            <a:endParaRPr baseline="-25000" sz="2800"/>
          </a:p>
          <a:p>
            <a:pPr indent="-406400" lvl="1" marL="914400" rtl="0" algn="l">
              <a:spcBef>
                <a:spcPts val="0"/>
              </a:spcBef>
              <a:spcAft>
                <a:spcPts val="0"/>
              </a:spcAft>
              <a:buSzPts val="2800"/>
              <a:buChar char="○"/>
            </a:pPr>
            <a:r>
              <a:rPr baseline="-25000" lang="es" sz="2800"/>
              <a:t>Valor diferencial de la app (13)</a:t>
            </a:r>
            <a:endParaRPr baseline="-25000" sz="2800"/>
          </a:p>
          <a:p>
            <a:pPr indent="-406400" lvl="1" marL="914400" rtl="0" algn="l">
              <a:spcBef>
                <a:spcPts val="0"/>
              </a:spcBef>
              <a:spcAft>
                <a:spcPts val="0"/>
              </a:spcAft>
              <a:buSzPts val="2800"/>
              <a:buChar char="○"/>
            </a:pPr>
            <a:r>
              <a:rPr baseline="-25000" lang="es" sz="2800"/>
              <a:t>Plan de inversión (14)</a:t>
            </a:r>
            <a:endParaRPr baseline="-25000" sz="2800"/>
          </a:p>
          <a:p>
            <a:pPr indent="-406400" lvl="1" marL="914400" rtl="0" algn="l">
              <a:spcBef>
                <a:spcPts val="0"/>
              </a:spcBef>
              <a:spcAft>
                <a:spcPts val="0"/>
              </a:spcAft>
              <a:buSzPts val="2800"/>
              <a:buChar char="○"/>
            </a:pPr>
            <a:r>
              <a:rPr baseline="-25000" lang="es" sz="2800"/>
              <a:t>Umbral de rentabilidad (15)</a:t>
            </a:r>
            <a:endParaRPr baseline="-25000" sz="2800"/>
          </a:p>
          <a:p>
            <a:pPr indent="-406400" lvl="1" marL="914400" rtl="0" algn="l">
              <a:spcBef>
                <a:spcPts val="0"/>
              </a:spcBef>
              <a:spcAft>
                <a:spcPts val="0"/>
              </a:spcAft>
              <a:buSzPts val="2800"/>
              <a:buChar char="○"/>
            </a:pPr>
            <a:r>
              <a:rPr baseline="-25000" lang="es" sz="2800"/>
              <a:t>Plan de marketing (16)</a:t>
            </a:r>
            <a:endParaRPr baseline="-25000" sz="28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15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Índice</a:t>
            </a:r>
            <a:endParaRPr/>
          </a:p>
        </p:txBody>
      </p:sp>
      <p:sp>
        <p:nvSpPr>
          <p:cNvPr id="148" name="Google Shape;148;p15"/>
          <p:cNvSpPr txBox="1"/>
          <p:nvPr>
            <p:ph idx="1" type="body"/>
          </p:nvPr>
        </p:nvSpPr>
        <p:spPr>
          <a:xfrm>
            <a:off x="311700" y="1051725"/>
            <a:ext cx="8520600" cy="418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-393065" lvl="0" marL="457200" rtl="0" algn="l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b="1" baseline="-25000" lang="es" sz="2800">
                <a:uFill>
                  <a:noFill/>
                </a:uFill>
                <a:hlinkClick action="ppaction://hlinksldjump" r:id="rId3"/>
              </a:rPr>
              <a:t>Requisitos del sistema</a:t>
            </a:r>
            <a:r>
              <a:rPr b="1" baseline="-25000" lang="es" sz="2800"/>
              <a:t> (17 - 31)</a:t>
            </a:r>
            <a:endParaRPr b="1" baseline="-25000" sz="2800"/>
          </a:p>
          <a:p>
            <a:pPr indent="-393065" lvl="1" marL="914400" rtl="0" algn="l">
              <a:spcBef>
                <a:spcPts val="0"/>
              </a:spcBef>
              <a:spcAft>
                <a:spcPts val="0"/>
              </a:spcAft>
              <a:buSzPct val="100000"/>
              <a:buChar char="○"/>
            </a:pPr>
            <a:r>
              <a:rPr baseline="-25000" lang="es" sz="2800"/>
              <a:t>Requisitos de información (18 - 22)</a:t>
            </a:r>
            <a:endParaRPr baseline="-25000" sz="2800"/>
          </a:p>
          <a:p>
            <a:pPr indent="-393065" lvl="1" marL="914400" rtl="0" algn="l">
              <a:spcBef>
                <a:spcPts val="0"/>
              </a:spcBef>
              <a:spcAft>
                <a:spcPts val="0"/>
              </a:spcAft>
              <a:buSzPct val="100000"/>
              <a:buChar char="○"/>
            </a:pPr>
            <a:r>
              <a:rPr baseline="-25000" lang="es" sz="2800"/>
              <a:t>Requisitos funcionales (23 - 28)</a:t>
            </a:r>
            <a:endParaRPr baseline="-25000" sz="2800"/>
          </a:p>
          <a:p>
            <a:pPr indent="-393065" lvl="1" marL="914400" rtl="0" algn="l">
              <a:spcBef>
                <a:spcPts val="0"/>
              </a:spcBef>
              <a:spcAft>
                <a:spcPts val="0"/>
              </a:spcAft>
              <a:buSzPct val="100000"/>
              <a:buChar char="○"/>
            </a:pPr>
            <a:r>
              <a:rPr baseline="-25000" lang="es" sz="2800"/>
              <a:t>Casos de uso (29 - 31)</a:t>
            </a:r>
            <a:endParaRPr baseline="-25000" sz="2800"/>
          </a:p>
          <a:p>
            <a:pPr indent="-393065" lvl="0" marL="457200" rtl="0" algn="l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b="1" baseline="-25000" lang="es" sz="2800">
                <a:uFill>
                  <a:noFill/>
                </a:uFill>
                <a:hlinkClick action="ppaction://hlinksldjump" r:id="rId4"/>
              </a:rPr>
              <a:t>Modelo de datos</a:t>
            </a:r>
            <a:r>
              <a:rPr b="1" baseline="-25000" lang="es" sz="2800"/>
              <a:t> (33 - 53)</a:t>
            </a:r>
            <a:endParaRPr b="1" baseline="-25000" sz="2800"/>
          </a:p>
          <a:p>
            <a:pPr indent="-393065" lvl="1" marL="914400" rtl="0" algn="l">
              <a:spcBef>
                <a:spcPts val="0"/>
              </a:spcBef>
              <a:spcAft>
                <a:spcPts val="0"/>
              </a:spcAft>
              <a:buSzPct val="100000"/>
              <a:buChar char="○"/>
            </a:pPr>
            <a:r>
              <a:rPr baseline="-25000" lang="es" sz="2800"/>
              <a:t>Modelo conceptual (34 - 36)</a:t>
            </a:r>
            <a:endParaRPr baseline="-25000" sz="2800"/>
          </a:p>
          <a:p>
            <a:pPr indent="-393064" lvl="2" marL="1371600" rtl="0" algn="l">
              <a:spcBef>
                <a:spcPts val="0"/>
              </a:spcBef>
              <a:spcAft>
                <a:spcPts val="0"/>
              </a:spcAft>
              <a:buSzPct val="100000"/>
              <a:buChar char="■"/>
            </a:pPr>
            <a:r>
              <a:rPr baseline="-25000" lang="es" sz="2800"/>
              <a:t>Descripción de entidades (37 - 42)</a:t>
            </a:r>
            <a:endParaRPr baseline="-25000" sz="2800"/>
          </a:p>
          <a:p>
            <a:pPr indent="-393064" lvl="2" marL="1371600" rtl="0" algn="l">
              <a:spcBef>
                <a:spcPts val="0"/>
              </a:spcBef>
              <a:spcAft>
                <a:spcPts val="0"/>
              </a:spcAft>
              <a:buSzPct val="100000"/>
              <a:buChar char="■"/>
            </a:pPr>
            <a:r>
              <a:rPr baseline="-25000" lang="es" sz="2800"/>
              <a:t>Descripción de interrelacionales (43 - 44)</a:t>
            </a:r>
            <a:endParaRPr baseline="-25000" sz="2800"/>
          </a:p>
          <a:p>
            <a:pPr indent="-393065" lvl="1" marL="914400" rtl="0" algn="l">
              <a:spcBef>
                <a:spcPts val="0"/>
              </a:spcBef>
              <a:spcAft>
                <a:spcPts val="0"/>
              </a:spcAft>
              <a:buSzPct val="100000"/>
              <a:buChar char="○"/>
            </a:pPr>
            <a:r>
              <a:rPr baseline="-25000" lang="es" sz="2800"/>
              <a:t>Modelo lógico de datos (45 - 50)</a:t>
            </a:r>
            <a:endParaRPr baseline="-25000" sz="2800"/>
          </a:p>
          <a:p>
            <a:pPr indent="-393065" lvl="1" marL="914400" rtl="0" algn="l">
              <a:spcBef>
                <a:spcPts val="0"/>
              </a:spcBef>
              <a:spcAft>
                <a:spcPts val="0"/>
              </a:spcAft>
              <a:buSzPct val="100000"/>
              <a:buChar char="○"/>
            </a:pPr>
            <a:r>
              <a:rPr baseline="-25000" lang="es" sz="2800"/>
              <a:t>Consultas (51 - 54)</a:t>
            </a:r>
            <a:endParaRPr baseline="-25000" sz="28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16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Índice</a:t>
            </a:r>
            <a:endParaRPr/>
          </a:p>
        </p:txBody>
      </p:sp>
      <p:sp>
        <p:nvSpPr>
          <p:cNvPr id="154" name="Google Shape;154;p16"/>
          <p:cNvSpPr txBox="1"/>
          <p:nvPr>
            <p:ph idx="1" type="body"/>
          </p:nvPr>
        </p:nvSpPr>
        <p:spPr>
          <a:xfrm>
            <a:off x="311700" y="939575"/>
            <a:ext cx="8520600" cy="3940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425450" lvl="0" marL="457200" rtl="0" algn="l">
              <a:spcBef>
                <a:spcPts val="0"/>
              </a:spcBef>
              <a:spcAft>
                <a:spcPts val="0"/>
              </a:spcAft>
              <a:buSzPts val="3100"/>
              <a:buChar char="●"/>
            </a:pPr>
            <a:r>
              <a:rPr b="1" baseline="-25000" lang="es" sz="3100">
                <a:uFill>
                  <a:noFill/>
                </a:uFill>
                <a:hlinkClick action="ppaction://hlinksldjump" r:id="rId3"/>
              </a:rPr>
              <a:t>Interfaz de usuario</a:t>
            </a:r>
            <a:r>
              <a:rPr b="1" baseline="-25000" lang="es" sz="3100"/>
              <a:t> (55 - 61)</a:t>
            </a:r>
            <a:endParaRPr b="1" baseline="-25000" sz="3100"/>
          </a:p>
          <a:p>
            <a:pPr indent="-425450" lvl="1" marL="914400" rtl="0" algn="l">
              <a:spcBef>
                <a:spcPts val="0"/>
              </a:spcBef>
              <a:spcAft>
                <a:spcPts val="0"/>
              </a:spcAft>
              <a:buSzPts val="3100"/>
              <a:buChar char="○"/>
            </a:pPr>
            <a:r>
              <a:rPr baseline="-25000" lang="es" sz="3100"/>
              <a:t>Definición de pantallas (Figma) (56 - 59)</a:t>
            </a:r>
            <a:endParaRPr baseline="-25000" sz="3100"/>
          </a:p>
          <a:p>
            <a:pPr indent="-425450" lvl="1" marL="914400" rtl="0" algn="l">
              <a:spcBef>
                <a:spcPts val="0"/>
              </a:spcBef>
              <a:spcAft>
                <a:spcPts val="0"/>
              </a:spcAft>
              <a:buSzPts val="3100"/>
              <a:buChar char="○"/>
            </a:pPr>
            <a:r>
              <a:rPr baseline="-25000" lang="es" sz="3100"/>
              <a:t>Mapa de navegación (60 - 61)</a:t>
            </a:r>
            <a:endParaRPr baseline="-25000" sz="3100"/>
          </a:p>
          <a:p>
            <a:pPr indent="-425450" lvl="0" marL="457200" rtl="0" algn="l">
              <a:spcBef>
                <a:spcPts val="0"/>
              </a:spcBef>
              <a:spcAft>
                <a:spcPts val="0"/>
              </a:spcAft>
              <a:buSzPts val="3100"/>
              <a:buChar char="●"/>
            </a:pPr>
            <a:r>
              <a:rPr b="1" baseline="-25000" lang="es" sz="3100">
                <a:uFill>
                  <a:noFill/>
                </a:uFill>
                <a:hlinkClick action="ppaction://hlinksldjump" r:id="rId4"/>
              </a:rPr>
              <a:t>Desarrollo del proyecto del sistema</a:t>
            </a:r>
            <a:r>
              <a:rPr b="1" baseline="-25000" lang="es" sz="3100"/>
              <a:t> (62 - 66)</a:t>
            </a:r>
            <a:endParaRPr b="1" baseline="-25000" sz="3100"/>
          </a:p>
          <a:p>
            <a:pPr indent="-425450" lvl="1" marL="914400" rtl="0" algn="l">
              <a:spcBef>
                <a:spcPts val="0"/>
              </a:spcBef>
              <a:spcAft>
                <a:spcPts val="0"/>
              </a:spcAft>
              <a:buSzPts val="3100"/>
              <a:buChar char="○"/>
            </a:pPr>
            <a:r>
              <a:rPr baseline="-25000" lang="es" sz="3100"/>
              <a:t>Fase 1: Funcionalidades a desarrollar y plan de pruebas (63 - 65)</a:t>
            </a:r>
            <a:endParaRPr baseline="-25000" sz="3100"/>
          </a:p>
          <a:p>
            <a:pPr indent="-425450" lvl="1" marL="914400" rtl="0" algn="l">
              <a:spcBef>
                <a:spcPts val="0"/>
              </a:spcBef>
              <a:spcAft>
                <a:spcPts val="0"/>
              </a:spcAft>
              <a:buSzPts val="3100"/>
              <a:buChar char="○"/>
            </a:pPr>
            <a:r>
              <a:rPr baseline="-25000" lang="es" sz="3100"/>
              <a:t>Fase N: Funcionalidades a desarrollar y plan de pruebas (66 - 67)</a:t>
            </a:r>
            <a:endParaRPr baseline="-25000" sz="31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17"/>
          <p:cNvSpPr txBox="1"/>
          <p:nvPr>
            <p:ph type="title"/>
          </p:nvPr>
        </p:nvSpPr>
        <p:spPr>
          <a:xfrm>
            <a:off x="727650" y="578525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Índice</a:t>
            </a:r>
            <a:endParaRPr/>
          </a:p>
        </p:txBody>
      </p:sp>
      <p:sp>
        <p:nvSpPr>
          <p:cNvPr id="160" name="Google Shape;160;p17"/>
          <p:cNvSpPr txBox="1"/>
          <p:nvPr>
            <p:ph idx="1" type="body"/>
          </p:nvPr>
        </p:nvSpPr>
        <p:spPr>
          <a:xfrm>
            <a:off x="311700" y="1285875"/>
            <a:ext cx="8520600" cy="3526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406400" lvl="0" marL="457200" rtl="0" algn="l">
              <a:spcBef>
                <a:spcPts val="0"/>
              </a:spcBef>
              <a:spcAft>
                <a:spcPts val="0"/>
              </a:spcAft>
              <a:buSzPts val="2800"/>
              <a:buChar char="●"/>
            </a:pPr>
            <a:r>
              <a:rPr b="1" baseline="-25000" lang="es" sz="2800">
                <a:uFill>
                  <a:noFill/>
                </a:uFill>
                <a:hlinkClick action="ppaction://hlinksldjump" r:id="rId3"/>
              </a:rPr>
              <a:t>Información para el cliente</a:t>
            </a:r>
            <a:r>
              <a:rPr b="1" baseline="-25000" lang="es" sz="2800"/>
              <a:t> (68 - 76)</a:t>
            </a:r>
            <a:endParaRPr b="1" baseline="-25000" sz="2800"/>
          </a:p>
          <a:p>
            <a:pPr indent="-406400" lvl="1" marL="914400" rtl="0" algn="l">
              <a:spcBef>
                <a:spcPts val="0"/>
              </a:spcBef>
              <a:spcAft>
                <a:spcPts val="0"/>
              </a:spcAft>
              <a:buSzPts val="2800"/>
              <a:buChar char="○"/>
            </a:pPr>
            <a:r>
              <a:rPr baseline="-25000" lang="es" sz="2800"/>
              <a:t>Requisitos físicos y de hardware (69)</a:t>
            </a:r>
            <a:endParaRPr baseline="-25000" sz="2800"/>
          </a:p>
          <a:p>
            <a:pPr indent="-406400" lvl="1" marL="914400" rtl="0" algn="l">
              <a:spcBef>
                <a:spcPts val="0"/>
              </a:spcBef>
              <a:spcAft>
                <a:spcPts val="0"/>
              </a:spcAft>
              <a:buSzPts val="2800"/>
              <a:buChar char="○"/>
            </a:pPr>
            <a:r>
              <a:rPr baseline="-25000" lang="es" sz="2800"/>
              <a:t>Requisitos software (70)</a:t>
            </a:r>
            <a:endParaRPr baseline="-25000" sz="2800"/>
          </a:p>
          <a:p>
            <a:pPr indent="-406400" lvl="1" marL="914400" rtl="0" algn="l">
              <a:spcBef>
                <a:spcPts val="0"/>
              </a:spcBef>
              <a:spcAft>
                <a:spcPts val="0"/>
              </a:spcAft>
              <a:buSzPts val="2800"/>
              <a:buChar char="○"/>
            </a:pPr>
            <a:r>
              <a:rPr baseline="-25000" lang="es" sz="2800"/>
              <a:t>Manual de instalación, configuración y administración (71 - 73)</a:t>
            </a:r>
            <a:endParaRPr baseline="-25000" sz="2800"/>
          </a:p>
          <a:p>
            <a:pPr indent="-406400" lvl="1" marL="914400" rtl="0" algn="l">
              <a:spcBef>
                <a:spcPts val="0"/>
              </a:spcBef>
              <a:spcAft>
                <a:spcPts val="0"/>
              </a:spcAft>
              <a:buSzPts val="2800"/>
              <a:buChar char="○"/>
            </a:pPr>
            <a:r>
              <a:rPr baseline="-25000" lang="es" sz="2800"/>
              <a:t>Manual de usuario (74 - 76)</a:t>
            </a:r>
            <a:endParaRPr baseline="-25000" sz="2800"/>
          </a:p>
          <a:p>
            <a:pPr indent="-406400" lvl="0" marL="457200" rtl="0" algn="l">
              <a:spcBef>
                <a:spcPts val="0"/>
              </a:spcBef>
              <a:spcAft>
                <a:spcPts val="0"/>
              </a:spcAft>
              <a:buSzPts val="2800"/>
              <a:buChar char="●"/>
            </a:pPr>
            <a:r>
              <a:rPr b="1" baseline="-25000" lang="es" sz="2800">
                <a:uFill>
                  <a:noFill/>
                </a:uFill>
                <a:hlinkClick action="ppaction://hlinksldjump" r:id="rId4"/>
              </a:rPr>
              <a:t>Bibliografía y fuentes de información</a:t>
            </a:r>
            <a:r>
              <a:rPr b="1" baseline="-25000" lang="es" sz="2800"/>
              <a:t> (77)</a:t>
            </a:r>
            <a:endParaRPr b="1" baseline="-25000" sz="31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8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Introducción</a:t>
            </a:r>
            <a:endParaRPr/>
          </a:p>
        </p:txBody>
      </p:sp>
      <p:sp>
        <p:nvSpPr>
          <p:cNvPr id="166" name="Google Shape;166;p18"/>
          <p:cNvSpPr txBox="1"/>
          <p:nvPr>
            <p:ph idx="1" type="body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s"/>
              <a:t>Un software </a:t>
            </a:r>
            <a:r>
              <a:rPr lang="es"/>
              <a:t>para crear y gestionar listas de la compra, tanto individuales como compartidas. Permite añadir productos, incluir observaciones, marcar compras completadas, registrar el precio total y dividir automáticamente el gasto entre los usuarios. En Android, los productos también pueden añadirse mediante código de barras para agilizar la captura de información.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19"/>
          <p:cNvSpPr txBox="1"/>
          <p:nvPr>
            <p:ph type="title"/>
          </p:nvPr>
        </p:nvSpPr>
        <p:spPr>
          <a:xfrm>
            <a:off x="823850" y="2053000"/>
            <a:ext cx="4587000" cy="1148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Plan de viabilidad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0"/>
          <p:cNvSpPr txBox="1"/>
          <p:nvPr>
            <p:ph type="title"/>
          </p:nvPr>
        </p:nvSpPr>
        <p:spPr>
          <a:xfrm>
            <a:off x="766825" y="593475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lnSpc>
                <a:spcPct val="115000"/>
              </a:lnSpc>
              <a:spcBef>
                <a:spcPts val="1400"/>
              </a:spcBef>
              <a:spcAft>
                <a:spcPts val="400"/>
              </a:spcAft>
              <a:buNone/>
            </a:pPr>
            <a:r>
              <a:rPr lang="es" sz="2500"/>
              <a:t>Necesidades actuales del mercado</a:t>
            </a:r>
            <a:endParaRPr sz="2500"/>
          </a:p>
        </p:txBody>
      </p:sp>
      <p:sp>
        <p:nvSpPr>
          <p:cNvPr id="177" name="Google Shape;177;p20"/>
          <p:cNvSpPr txBox="1"/>
          <p:nvPr>
            <p:ph idx="1" type="body"/>
          </p:nvPr>
        </p:nvSpPr>
        <p:spPr>
          <a:xfrm>
            <a:off x="729450" y="1420450"/>
            <a:ext cx="7688700" cy="3192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-336550" lvl="0" marL="457200" rtl="0" algn="l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700"/>
              <a:buChar char="●"/>
            </a:pPr>
            <a:r>
              <a:rPr lang="es" sz="1700"/>
              <a:t>Organización sencilla y rápida de las compras.</a:t>
            </a:r>
            <a:br>
              <a:rPr lang="es" sz="1700"/>
            </a:b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Char char="●"/>
            </a:pPr>
            <a:r>
              <a:rPr lang="es" sz="1700"/>
              <a:t>Colaboración entre varios usuarios en tiempo real.</a:t>
            </a:r>
            <a:br>
              <a:rPr lang="es" sz="1700"/>
            </a:b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Char char="●"/>
            </a:pPr>
            <a:r>
              <a:rPr lang="es" sz="1700"/>
              <a:t>Identificación clara de quién añade o compra cada producto.</a:t>
            </a:r>
            <a:br>
              <a:rPr lang="es" sz="1700"/>
            </a:b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Char char="●"/>
            </a:pPr>
            <a:r>
              <a:rPr lang="es" sz="1700"/>
              <a:t>Control de gastos compartidos, algo poco explotado por la competencia.</a:t>
            </a:r>
            <a:br>
              <a:rPr lang="es" sz="1700"/>
            </a:b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Char char="●"/>
            </a:pPr>
            <a:r>
              <a:rPr lang="es" sz="1700"/>
              <a:t>Sincronización multiplataforma (móvil y web).</a:t>
            </a:r>
            <a:endParaRPr sz="1700"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21"/>
          <p:cNvSpPr txBox="1"/>
          <p:nvPr>
            <p:ph type="title"/>
          </p:nvPr>
        </p:nvSpPr>
        <p:spPr>
          <a:xfrm>
            <a:off x="727650" y="578525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Competencia</a:t>
            </a:r>
            <a:endParaRPr/>
          </a:p>
        </p:txBody>
      </p:sp>
      <p:sp>
        <p:nvSpPr>
          <p:cNvPr id="183" name="Google Shape;183;p21"/>
          <p:cNvSpPr txBox="1"/>
          <p:nvPr>
            <p:ph idx="1" type="body"/>
          </p:nvPr>
        </p:nvSpPr>
        <p:spPr>
          <a:xfrm>
            <a:off x="727650" y="1264000"/>
            <a:ext cx="7688700" cy="3273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47500" lnSpcReduction="2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 sz="4800"/>
              <a:t>Keep</a:t>
            </a:r>
            <a:endParaRPr sz="48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s" sz="3957"/>
              <a:t>Ventajas</a:t>
            </a:r>
            <a:endParaRPr b="1" sz="3957"/>
          </a:p>
          <a:p>
            <a:pPr indent="-347973" lvl="0" marL="457200" rtl="0" algn="l">
              <a:spcBef>
                <a:spcPts val="1200"/>
              </a:spcBef>
              <a:spcAft>
                <a:spcPts val="0"/>
              </a:spcAft>
              <a:buSzPct val="100000"/>
              <a:buChar char="●"/>
            </a:pPr>
            <a:r>
              <a:rPr lang="es" sz="3957"/>
              <a:t>Sincronización con cuenta Google</a:t>
            </a:r>
            <a:endParaRPr sz="3957"/>
          </a:p>
          <a:p>
            <a:pPr indent="-347973" lvl="0" marL="457200" rtl="0" algn="l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s" sz="3957"/>
              <a:t>Integración con Google Assistant</a:t>
            </a:r>
            <a:endParaRPr sz="3957"/>
          </a:p>
          <a:p>
            <a:pPr indent="-347973" lvl="0" marL="457200" rtl="0" algn="l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s" sz="3957"/>
              <a:t>Recordatorios geolocalizados</a:t>
            </a:r>
            <a:endParaRPr sz="3957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s" sz="3957"/>
              <a:t>Desventajas</a:t>
            </a:r>
            <a:endParaRPr b="1" sz="3957"/>
          </a:p>
          <a:p>
            <a:pPr indent="-347973" lvl="0" marL="457200" rtl="0" algn="l">
              <a:spcBef>
                <a:spcPts val="1200"/>
              </a:spcBef>
              <a:spcAft>
                <a:spcPts val="0"/>
              </a:spcAft>
              <a:buSzPct val="100000"/>
              <a:buChar char="●"/>
            </a:pPr>
            <a:r>
              <a:rPr lang="es" sz="3957"/>
              <a:t>No está pensada para listas de la compras</a:t>
            </a:r>
            <a:endParaRPr sz="3957"/>
          </a:p>
          <a:p>
            <a:pPr indent="-347973" lvl="0" marL="457200" rtl="0" algn="l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s" sz="3957"/>
              <a:t>Más orientada a notas rápidas</a:t>
            </a:r>
            <a:endParaRPr sz="3957"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2"/>
          <p:cNvSpPr txBox="1"/>
          <p:nvPr>
            <p:ph type="title"/>
          </p:nvPr>
        </p:nvSpPr>
        <p:spPr>
          <a:xfrm>
            <a:off x="727650" y="6308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Competencia</a:t>
            </a:r>
            <a:endParaRPr/>
          </a:p>
        </p:txBody>
      </p:sp>
      <p:sp>
        <p:nvSpPr>
          <p:cNvPr id="189" name="Google Shape;189;p22"/>
          <p:cNvSpPr txBox="1"/>
          <p:nvPr>
            <p:ph idx="1" type="body"/>
          </p:nvPr>
        </p:nvSpPr>
        <p:spPr>
          <a:xfrm>
            <a:off x="727650" y="1249050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25000" lnSpcReduction="2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 sz="12000"/>
              <a:t>Listonic</a:t>
            </a:r>
            <a:endParaRPr sz="120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s" sz="7200"/>
              <a:t>Ventajas</a:t>
            </a:r>
            <a:endParaRPr b="1" sz="7200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ct val="100000"/>
              <a:buChar char="●"/>
            </a:pPr>
            <a:r>
              <a:rPr lang="es" sz="7200"/>
              <a:t>Sugerencias </a:t>
            </a:r>
            <a:r>
              <a:rPr lang="es" sz="7200"/>
              <a:t>automáticas</a:t>
            </a:r>
            <a:r>
              <a:rPr lang="es" sz="7200"/>
              <a:t> al escribir</a:t>
            </a:r>
            <a:endParaRPr sz="7200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s" sz="7200"/>
              <a:t>Soporte en </a:t>
            </a:r>
            <a:r>
              <a:rPr lang="es" sz="7200"/>
              <a:t>múltiples</a:t>
            </a:r>
            <a:r>
              <a:rPr lang="es" sz="7200"/>
              <a:t> idiomas</a:t>
            </a:r>
            <a:endParaRPr sz="7200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s" sz="7200"/>
              <a:t>Añadir precios a los productos</a:t>
            </a:r>
            <a:endParaRPr sz="72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s" sz="7200"/>
              <a:t>Desventajas</a:t>
            </a:r>
            <a:endParaRPr b="1" sz="7200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ct val="100000"/>
              <a:buChar char="●"/>
            </a:pPr>
            <a:r>
              <a:rPr lang="es" sz="7200"/>
              <a:t>No realiza </a:t>
            </a:r>
            <a:r>
              <a:rPr lang="es" sz="7200"/>
              <a:t>cálculo</a:t>
            </a:r>
            <a:r>
              <a:rPr lang="es" sz="7200"/>
              <a:t> colaborativo</a:t>
            </a:r>
            <a:endParaRPr sz="7200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s" sz="7200"/>
              <a:t>No se </a:t>
            </a:r>
            <a:r>
              <a:rPr lang="es" sz="7200"/>
              <a:t>refleja</a:t>
            </a:r>
            <a:r>
              <a:rPr lang="es" sz="7200"/>
              <a:t> quien añadió/compró productos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23"/>
          <p:cNvSpPr txBox="1"/>
          <p:nvPr>
            <p:ph type="title"/>
          </p:nvPr>
        </p:nvSpPr>
        <p:spPr>
          <a:xfrm>
            <a:off x="729450" y="593475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Competencia</a:t>
            </a:r>
            <a:endParaRPr/>
          </a:p>
        </p:txBody>
      </p:sp>
      <p:sp>
        <p:nvSpPr>
          <p:cNvPr id="195" name="Google Shape;195;p23"/>
          <p:cNvSpPr txBox="1"/>
          <p:nvPr>
            <p:ph idx="1" type="body"/>
          </p:nvPr>
        </p:nvSpPr>
        <p:spPr>
          <a:xfrm>
            <a:off x="727650" y="1256525"/>
            <a:ext cx="7688700" cy="3588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3000"/>
              <a:t>Out of milk</a:t>
            </a:r>
            <a:endParaRPr sz="3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800"/>
              <a:t>Ventajas </a:t>
            </a:r>
            <a:endParaRPr sz="1800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s" sz="1800"/>
              <a:t>Funciones como inventario de despensa</a:t>
            </a:r>
            <a:endParaRPr sz="1800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s" sz="1800"/>
              <a:t>Lista de tareas</a:t>
            </a:r>
            <a:endParaRPr sz="18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 sz="1800"/>
              <a:t>Desventajas</a:t>
            </a:r>
            <a:endParaRPr sz="1800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s" sz="1800"/>
              <a:t>Interfaz “antigua”</a:t>
            </a:r>
            <a:endParaRPr sz="1800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s" sz="1800"/>
              <a:t>No tiene sincronización en tiempo </a:t>
            </a:r>
            <a:r>
              <a:rPr lang="es" sz="1800"/>
              <a:t>real</a:t>
            </a:r>
            <a:endParaRPr sz="1800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s" sz="1800"/>
              <a:t>No tiene función de división de gastos</a:t>
            </a:r>
            <a:endParaRPr sz="18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24"/>
          <p:cNvSpPr txBox="1"/>
          <p:nvPr>
            <p:ph type="title"/>
          </p:nvPr>
        </p:nvSpPr>
        <p:spPr>
          <a:xfrm>
            <a:off x="729450" y="61590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Competencia</a:t>
            </a:r>
            <a:endParaRPr/>
          </a:p>
        </p:txBody>
      </p:sp>
      <p:sp>
        <p:nvSpPr>
          <p:cNvPr id="201" name="Google Shape;201;p24"/>
          <p:cNvSpPr txBox="1"/>
          <p:nvPr>
            <p:ph idx="1" type="body"/>
          </p:nvPr>
        </p:nvSpPr>
        <p:spPr>
          <a:xfrm>
            <a:off x="729450" y="1264000"/>
            <a:ext cx="7688700" cy="3386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3000"/>
              <a:t>Bring</a:t>
            </a:r>
            <a:endParaRPr sz="3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1900"/>
              <a:t>Ventajas</a:t>
            </a:r>
            <a:endParaRPr b="1" sz="1900"/>
          </a:p>
          <a:p>
            <a:pPr indent="-349250" lvl="0" marL="457200" rtl="0" algn="l">
              <a:spcBef>
                <a:spcPts val="1200"/>
              </a:spcBef>
              <a:spcAft>
                <a:spcPts val="0"/>
              </a:spcAft>
              <a:buSzPts val="1900"/>
              <a:buChar char="●"/>
            </a:pPr>
            <a:r>
              <a:rPr lang="es" sz="1900"/>
              <a:t>Diseño organizado y atractivo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s" sz="1900"/>
              <a:t>Categorías que hacen atractiva la organización</a:t>
            </a:r>
            <a:endParaRPr sz="19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s" sz="1900"/>
              <a:t>Desventajas</a:t>
            </a:r>
            <a:endParaRPr b="1" sz="1900"/>
          </a:p>
          <a:p>
            <a:pPr indent="-349250" lvl="0" marL="457200" rtl="0" algn="l">
              <a:spcBef>
                <a:spcPts val="1200"/>
              </a:spcBef>
              <a:spcAft>
                <a:spcPts val="0"/>
              </a:spcAft>
              <a:buSzPts val="1900"/>
              <a:buChar char="●"/>
            </a:pPr>
            <a:r>
              <a:rPr lang="es" sz="1900"/>
              <a:t>Incluye publicidad constante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s" sz="1900"/>
              <a:t>No identifica quien añadió/compró los productos</a:t>
            </a:r>
            <a:endParaRPr sz="19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25"/>
          <p:cNvSpPr txBox="1"/>
          <p:nvPr>
            <p:ph type="title"/>
          </p:nvPr>
        </p:nvSpPr>
        <p:spPr>
          <a:xfrm>
            <a:off x="727650" y="593475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lnSpc>
                <a:spcPct val="115000"/>
              </a:lnSpc>
              <a:spcBef>
                <a:spcPts val="1400"/>
              </a:spcBef>
              <a:spcAft>
                <a:spcPts val="400"/>
              </a:spcAft>
              <a:buNone/>
            </a:pPr>
            <a:r>
              <a:rPr lang="es" sz="2500"/>
              <a:t>Valor diferencial de la app</a:t>
            </a:r>
            <a:endParaRPr sz="2500"/>
          </a:p>
        </p:txBody>
      </p:sp>
      <p:sp>
        <p:nvSpPr>
          <p:cNvPr id="207" name="Google Shape;207;p25"/>
          <p:cNvSpPr txBox="1"/>
          <p:nvPr>
            <p:ph idx="1" type="body"/>
          </p:nvPr>
        </p:nvSpPr>
        <p:spPr>
          <a:xfrm>
            <a:off x="729450" y="1338200"/>
            <a:ext cx="7688700" cy="3453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20000"/>
          </a:bodyPr>
          <a:lstStyle/>
          <a:p>
            <a:pPr indent="-341571" lvl="0" marL="457200" rtl="0" algn="l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779"/>
              <a:buChar char="●"/>
            </a:pPr>
            <a:r>
              <a:rPr lang="es" sz="1779"/>
              <a:t>Escaneo de productos por código de barras en Android.</a:t>
            </a:r>
            <a:br>
              <a:rPr lang="es" sz="1779"/>
            </a:br>
            <a:endParaRPr sz="1779"/>
          </a:p>
          <a:p>
            <a:pPr indent="-341571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79"/>
              <a:buChar char="●"/>
            </a:pPr>
            <a:r>
              <a:rPr lang="es" sz="1779"/>
              <a:t>Cálculo automático de cuánto paga cada usuario, basado en el precio total de la lista.</a:t>
            </a:r>
            <a:br>
              <a:rPr lang="es" sz="1779"/>
            </a:br>
            <a:endParaRPr sz="1779"/>
          </a:p>
          <a:p>
            <a:pPr indent="-341571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79"/>
              <a:buChar char="●"/>
            </a:pPr>
            <a:r>
              <a:rPr lang="es" sz="1779"/>
              <a:t>Registro de qué usuario añade y quién compra cada producto.</a:t>
            </a:r>
            <a:br>
              <a:rPr lang="es" sz="1779"/>
            </a:br>
            <a:endParaRPr sz="1779"/>
          </a:p>
          <a:p>
            <a:pPr indent="-341571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79"/>
              <a:buChar char="●"/>
            </a:pPr>
            <a:r>
              <a:rPr lang="es" sz="1779"/>
              <a:t>Sincronización inmediata entre Android y Web.</a:t>
            </a:r>
            <a:br>
              <a:rPr lang="es" sz="1779"/>
            </a:br>
            <a:endParaRPr sz="1779"/>
          </a:p>
          <a:p>
            <a:pPr indent="-341571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79"/>
              <a:buChar char="●"/>
            </a:pPr>
            <a:r>
              <a:rPr lang="es" sz="1779"/>
              <a:t>Coste de desarrollo y mantenimiento mínimo, lo que permite crecer sin grandes inversiones iniciales.</a:t>
            </a:r>
            <a:endParaRPr sz="1779"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26"/>
          <p:cNvSpPr txBox="1"/>
          <p:nvPr>
            <p:ph type="title"/>
          </p:nvPr>
        </p:nvSpPr>
        <p:spPr>
          <a:xfrm>
            <a:off x="729450" y="593475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lnSpc>
                <a:spcPct val="115000"/>
              </a:lnSpc>
              <a:spcBef>
                <a:spcPts val="1800"/>
              </a:spcBef>
              <a:spcAft>
                <a:spcPts val="400"/>
              </a:spcAft>
              <a:buNone/>
            </a:pPr>
            <a:r>
              <a:rPr lang="es" sz="2500"/>
              <a:t>Plan de inversión</a:t>
            </a:r>
            <a:endParaRPr sz="2500"/>
          </a:p>
        </p:txBody>
      </p:sp>
      <p:sp>
        <p:nvSpPr>
          <p:cNvPr id="213" name="Google Shape;213;p26"/>
          <p:cNvSpPr txBox="1"/>
          <p:nvPr>
            <p:ph idx="1" type="body"/>
          </p:nvPr>
        </p:nvSpPr>
        <p:spPr>
          <a:xfrm>
            <a:off x="729450" y="1383075"/>
            <a:ext cx="7688700" cy="3326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s" sz="1500"/>
              <a:t>Costes fijos reales</a:t>
            </a:r>
            <a:endParaRPr b="1" sz="1500"/>
          </a:p>
          <a:p>
            <a:pPr indent="-311150" lvl="0" marL="457200" rtl="0" algn="l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300"/>
              <a:buChar char="●"/>
            </a:pPr>
            <a:r>
              <a:rPr b="1" lang="es"/>
              <a:t>Firestore (Firebase)</a:t>
            </a:r>
            <a:r>
              <a:rPr lang="es"/>
              <a:t> → gratuito (plan free).</a:t>
            </a:r>
            <a:br>
              <a:rPr lang="es"/>
            </a:br>
            <a:endParaRPr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Char char="●"/>
            </a:pPr>
            <a:r>
              <a:rPr b="1" lang="es"/>
              <a:t>Hosting (Vercel)</a:t>
            </a:r>
            <a:r>
              <a:rPr lang="es"/>
              <a:t> → gratuito.</a:t>
            </a:r>
            <a:br>
              <a:rPr lang="es"/>
            </a:br>
            <a:endParaRPr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Char char="●"/>
            </a:pPr>
            <a:r>
              <a:rPr b="1" lang="es"/>
              <a:t>Dominio web</a:t>
            </a:r>
            <a:r>
              <a:rPr lang="es"/>
              <a:t> → 12 €/año.</a:t>
            </a:r>
            <a:br>
              <a:rPr lang="es"/>
            </a:br>
            <a:endParaRPr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Char char="●"/>
            </a:pPr>
            <a:r>
              <a:rPr b="1" lang="es"/>
              <a:t>Marketing inicial</a:t>
            </a:r>
            <a:r>
              <a:rPr lang="es"/>
              <a:t> → redes sociales y </a:t>
            </a:r>
            <a:r>
              <a:rPr lang="es"/>
              <a:t>ASO </a:t>
            </a:r>
            <a:r>
              <a:rPr lang="es"/>
              <a:t>(estimación: 50–</a:t>
            </a:r>
            <a:r>
              <a:rPr lang="es"/>
              <a:t>100</a:t>
            </a:r>
            <a:r>
              <a:rPr lang="es"/>
              <a:t> € iniciales)(opcional).</a:t>
            </a:r>
            <a:br>
              <a:rPr lang="es"/>
            </a:b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s"/>
              <a:t>Inversión inicial real</a:t>
            </a:r>
            <a:r>
              <a:rPr lang="es"/>
              <a:t>: aprox. 12-</a:t>
            </a:r>
            <a:r>
              <a:rPr lang="es"/>
              <a:t>110€</a:t>
            </a:r>
            <a:r>
              <a:rPr lang="es"/>
              <a:t> el primer año, sumando el dominio y algo de publicidad básica.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7"/>
          <p:cNvSpPr txBox="1"/>
          <p:nvPr>
            <p:ph type="title"/>
          </p:nvPr>
        </p:nvSpPr>
        <p:spPr>
          <a:xfrm>
            <a:off x="727650" y="593475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ct val="44000"/>
              <a:buFont typeface="Arial"/>
              <a:buNone/>
            </a:pPr>
            <a:r>
              <a:rPr lang="es" sz="2500"/>
              <a:t>U</a:t>
            </a:r>
            <a:r>
              <a:rPr lang="es" sz="2500"/>
              <a:t>mbral de rentabilidad</a:t>
            </a:r>
            <a:endParaRPr sz="2500"/>
          </a:p>
        </p:txBody>
      </p:sp>
      <p:sp>
        <p:nvSpPr>
          <p:cNvPr id="219" name="Google Shape;219;p27"/>
          <p:cNvSpPr txBox="1"/>
          <p:nvPr>
            <p:ph idx="1" type="body"/>
          </p:nvPr>
        </p:nvSpPr>
        <p:spPr>
          <a:xfrm>
            <a:off x="311700" y="1278400"/>
            <a:ext cx="8520600" cy="361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8015" lvl="0" marL="45720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408"/>
              <a:buChar char="●"/>
            </a:pPr>
            <a:r>
              <a:rPr b="1" lang="es" sz="1408"/>
              <a:t>Ingresos previstos</a:t>
            </a:r>
            <a:r>
              <a:rPr lang="es" sz="1408"/>
              <a:t>:</a:t>
            </a:r>
            <a:br>
              <a:rPr lang="es" sz="1408"/>
            </a:br>
            <a:endParaRPr sz="1408"/>
          </a:p>
          <a:p>
            <a:pPr indent="-318015" lvl="1" marL="9144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8"/>
              <a:buChar char="○"/>
            </a:pPr>
            <a:r>
              <a:rPr b="1" lang="es" sz="1408"/>
              <a:t>Publicidad</a:t>
            </a:r>
            <a:r>
              <a:rPr lang="es" sz="1408"/>
              <a:t>: ingresos futuros mediante anuncios integrados.</a:t>
            </a:r>
            <a:br>
              <a:rPr lang="es" sz="1408"/>
            </a:br>
            <a:endParaRPr sz="1408"/>
          </a:p>
          <a:p>
            <a:pPr indent="-318015" lvl="1" marL="9144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8"/>
              <a:buChar char="○"/>
            </a:pPr>
            <a:r>
              <a:rPr b="1" lang="es" sz="1408"/>
              <a:t>Suscripción premium</a:t>
            </a:r>
            <a:r>
              <a:rPr lang="es" sz="1408"/>
              <a:t>: 2,99 €/mes con funciones exclusivas (listas ilimitadas, eliminar anuncios, funciones premium).</a:t>
            </a:r>
            <a:br>
              <a:rPr lang="es" sz="1408"/>
            </a:br>
            <a:endParaRPr sz="1408"/>
          </a:p>
          <a:p>
            <a:pPr indent="-318015" lvl="0" marL="4572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8"/>
              <a:buChar char="●"/>
            </a:pPr>
            <a:r>
              <a:rPr b="1" lang="es" sz="1408"/>
              <a:t>Ejemplo de rentabilidad mínima</a:t>
            </a:r>
            <a:r>
              <a:rPr lang="es" sz="1408"/>
              <a:t>:</a:t>
            </a:r>
            <a:br>
              <a:rPr lang="es" sz="1408"/>
            </a:br>
            <a:endParaRPr sz="1408"/>
          </a:p>
          <a:p>
            <a:pPr indent="-318015" lvl="1" marL="9144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8"/>
              <a:buChar char="○"/>
            </a:pPr>
            <a:r>
              <a:rPr lang="es" sz="1408"/>
              <a:t>Con </a:t>
            </a:r>
            <a:r>
              <a:rPr b="1" lang="es" sz="1408"/>
              <a:t>5 usuarios premium</a:t>
            </a:r>
            <a:r>
              <a:rPr lang="es" sz="1408"/>
              <a:t> (2,99 €/mes), ya se generan </a:t>
            </a:r>
            <a:r>
              <a:rPr b="1" lang="es" sz="1408"/>
              <a:t>15 €/mes</a:t>
            </a:r>
            <a:r>
              <a:rPr lang="es" sz="1408"/>
              <a:t> → </a:t>
            </a:r>
            <a:r>
              <a:rPr b="1" lang="es" sz="1408"/>
              <a:t>180 €/año</a:t>
            </a:r>
            <a:r>
              <a:rPr lang="es" sz="1408"/>
              <a:t>, suficiente para cubrir el dominio y marketing básico.</a:t>
            </a:r>
            <a:br>
              <a:rPr lang="es" sz="1408"/>
            </a:br>
            <a:endParaRPr sz="1408"/>
          </a:p>
          <a:p>
            <a:pPr indent="-318015" lvl="1" marL="9144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8"/>
              <a:buChar char="○"/>
            </a:pPr>
            <a:r>
              <a:rPr lang="es" sz="1408"/>
              <a:t>El resto de ingresos, como publicidad, será beneficio adicional.</a:t>
            </a:r>
            <a:br>
              <a:rPr lang="es" sz="1408"/>
            </a:br>
            <a:endParaRPr sz="1408"/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408"/>
              <a:t>Esto significa que con menos de 10 usuarios premium al año se cubren todos los costes, lo que hace al proyecto viable incluso con una base pequeña de usuarios.</a:t>
            </a:r>
            <a:endParaRPr sz="1408"/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2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28"/>
          <p:cNvSpPr txBox="1"/>
          <p:nvPr>
            <p:ph type="title"/>
          </p:nvPr>
        </p:nvSpPr>
        <p:spPr>
          <a:xfrm>
            <a:off x="727650" y="608425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lnSpc>
                <a:spcPct val="115000"/>
              </a:lnSpc>
              <a:spcBef>
                <a:spcPts val="1800"/>
              </a:spcBef>
              <a:spcAft>
                <a:spcPts val="400"/>
              </a:spcAft>
              <a:buNone/>
            </a:pPr>
            <a:r>
              <a:rPr lang="es" sz="2500"/>
              <a:t>Plan de marketing</a:t>
            </a:r>
            <a:endParaRPr sz="2500"/>
          </a:p>
        </p:txBody>
      </p:sp>
      <p:sp>
        <p:nvSpPr>
          <p:cNvPr id="225" name="Google Shape;225;p28"/>
          <p:cNvSpPr txBox="1"/>
          <p:nvPr>
            <p:ph idx="1" type="body"/>
          </p:nvPr>
        </p:nvSpPr>
        <p:spPr>
          <a:xfrm>
            <a:off x="311700" y="1285875"/>
            <a:ext cx="8520600" cy="377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275"/>
              <a:buFont typeface="Arial"/>
              <a:buNone/>
            </a:pPr>
            <a:r>
              <a:rPr b="1" lang="es" sz="1200"/>
              <a:t>Estrategia</a:t>
            </a:r>
            <a:endParaRPr b="1" sz="1200"/>
          </a:p>
          <a:p>
            <a:pPr indent="-292100" lvl="0" marL="457200" rtl="0" algn="l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</a:pPr>
            <a:r>
              <a:rPr b="1" lang="es" sz="1000"/>
              <a:t>Fase inicial</a:t>
            </a:r>
            <a:r>
              <a:rPr lang="es" sz="1000"/>
              <a:t>: difusión en redes sociales (Instagram, TikTok) con vídeos mostrando cómo dividir gastos fácilmente o cómo organizar compras en grupo.</a:t>
            </a:r>
            <a:endParaRPr sz="1000"/>
          </a:p>
          <a:p>
            <a:pPr indent="-2921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</a:pPr>
            <a:r>
              <a:rPr b="1" lang="es" sz="1000"/>
              <a:t>Versión gratuita atractiva</a:t>
            </a:r>
            <a:r>
              <a:rPr lang="es" sz="1000"/>
              <a:t>: ofrecer todas las funciones básicas para atraer usuarios y después destacar ventajas premium.</a:t>
            </a:r>
            <a:endParaRPr sz="1000"/>
          </a:p>
          <a:p>
            <a:pPr indent="0" lvl="0" marL="0" rtl="0" algn="l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275"/>
              <a:buFont typeface="Arial"/>
              <a:buNone/>
            </a:pPr>
            <a:r>
              <a:rPr b="1" lang="es" sz="1200"/>
              <a:t>Público objetivo</a:t>
            </a:r>
            <a:endParaRPr b="1" sz="1200"/>
          </a:p>
          <a:p>
            <a:pPr indent="-292100" lvl="0" marL="457200" rtl="0" algn="l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</a:pPr>
            <a:r>
              <a:rPr lang="es" sz="1000"/>
              <a:t>Familias que organizan la compra semanal.</a:t>
            </a:r>
            <a:endParaRPr sz="1000"/>
          </a:p>
          <a:p>
            <a:pPr indent="-2921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</a:pPr>
            <a:r>
              <a:rPr lang="es" sz="1000"/>
              <a:t>Compañeros de piso que comparten gastos.</a:t>
            </a:r>
            <a:endParaRPr sz="1000"/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</a:pPr>
            <a:r>
              <a:rPr lang="es" sz="1000"/>
              <a:t>Amigos que organizan fiestas, barbacoas o viajes.</a:t>
            </a:r>
            <a:endParaRPr sz="1000"/>
          </a:p>
          <a:p>
            <a:pPr indent="0" lvl="0" marL="0" rtl="0" algn="l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275"/>
              <a:buFont typeface="Arial"/>
              <a:buNone/>
            </a:pPr>
            <a:r>
              <a:rPr b="1" lang="es" sz="1200"/>
              <a:t>Plan a futuro</a:t>
            </a:r>
            <a:endParaRPr b="1" sz="1200"/>
          </a:p>
          <a:p>
            <a:pPr indent="-292100" lvl="0" marL="457200" rtl="0" algn="l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</a:pPr>
            <a:r>
              <a:rPr lang="es" sz="1000"/>
              <a:t>Incluir publicidad ligera en la versión gratuita (modelo Freemium).</a:t>
            </a:r>
            <a:endParaRPr sz="1000"/>
          </a:p>
          <a:p>
            <a:pPr indent="-2921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</a:pPr>
            <a:r>
              <a:rPr lang="es" sz="1000"/>
              <a:t>Promociones de prueba del plan premium para atraer usuarios.</a:t>
            </a:r>
            <a:endParaRPr sz="1000"/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</a:pPr>
            <a:r>
              <a:rPr lang="es" sz="1000"/>
              <a:t>Generar informes anónimos de tendencias de compra</a:t>
            </a:r>
            <a:endParaRPr sz="10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29"/>
          <p:cNvSpPr txBox="1"/>
          <p:nvPr>
            <p:ph type="title"/>
          </p:nvPr>
        </p:nvSpPr>
        <p:spPr>
          <a:xfrm>
            <a:off x="823850" y="2053000"/>
            <a:ext cx="4587000" cy="1148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Requisitos del sistema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30"/>
          <p:cNvSpPr txBox="1"/>
          <p:nvPr>
            <p:ph type="title"/>
          </p:nvPr>
        </p:nvSpPr>
        <p:spPr>
          <a:xfrm>
            <a:off x="727650" y="58600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Requisitos de información</a:t>
            </a:r>
            <a:endParaRPr/>
          </a:p>
        </p:txBody>
      </p:sp>
      <p:sp>
        <p:nvSpPr>
          <p:cNvPr id="236" name="Google Shape;236;p30"/>
          <p:cNvSpPr txBox="1"/>
          <p:nvPr>
            <p:ph idx="1" type="body"/>
          </p:nvPr>
        </p:nvSpPr>
        <p:spPr>
          <a:xfrm>
            <a:off x="729450" y="1412975"/>
            <a:ext cx="7688700" cy="2927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s" sz="2000"/>
              <a:t>Usuarios</a:t>
            </a:r>
            <a:r>
              <a:rPr lang="es" sz="2000"/>
              <a:t>:</a:t>
            </a:r>
            <a:endParaRPr sz="2000"/>
          </a:p>
          <a:p>
            <a:pPr indent="-355600" lvl="0" marL="457200" rtl="0" algn="l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2000"/>
              <a:buChar char="●"/>
            </a:pPr>
            <a:r>
              <a:rPr lang="es" sz="2000"/>
              <a:t>Correo electrónico (para registro, login y compartición de listas).</a:t>
            </a:r>
            <a:br>
              <a:rPr lang="es" sz="2000"/>
            </a:b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Char char="●"/>
            </a:pPr>
            <a:r>
              <a:rPr lang="es" sz="2000"/>
              <a:t>Contraseña (para autenticación).</a:t>
            </a:r>
            <a:endParaRPr sz="2000"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31"/>
          <p:cNvSpPr txBox="1"/>
          <p:nvPr>
            <p:ph type="title"/>
          </p:nvPr>
        </p:nvSpPr>
        <p:spPr>
          <a:xfrm>
            <a:off x="729450" y="578525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Requisitos de información</a:t>
            </a:r>
            <a:endParaRPr/>
          </a:p>
        </p:txBody>
      </p:sp>
      <p:sp>
        <p:nvSpPr>
          <p:cNvPr id="242" name="Google Shape;242;p31"/>
          <p:cNvSpPr txBox="1"/>
          <p:nvPr>
            <p:ph idx="1" type="body"/>
          </p:nvPr>
        </p:nvSpPr>
        <p:spPr>
          <a:xfrm>
            <a:off x="729450" y="1323250"/>
            <a:ext cx="7688700" cy="3016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s" sz="1800"/>
              <a:t>Listas de la compra</a:t>
            </a:r>
            <a:r>
              <a:rPr lang="es" sz="1800"/>
              <a:t>:</a:t>
            </a:r>
            <a:endParaRPr sz="1800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</a:pPr>
            <a:r>
              <a:rPr lang="es" sz="1800"/>
              <a:t>Identificador único de la lista.</a:t>
            </a:r>
            <a:br>
              <a:rPr lang="es" sz="1800"/>
            </a:br>
            <a:endParaRPr sz="1800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</a:pPr>
            <a:r>
              <a:rPr lang="es" sz="1800"/>
              <a:t>Nombre de la lista.</a:t>
            </a:r>
            <a:br>
              <a:rPr lang="es" sz="1800"/>
            </a:br>
            <a:endParaRPr sz="1800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</a:pPr>
            <a:r>
              <a:rPr lang="es" sz="1800"/>
              <a:t>Estado (individual o compartida).</a:t>
            </a:r>
            <a:br>
              <a:rPr lang="es" sz="1800"/>
            </a:br>
            <a:endParaRPr sz="1800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</a:pPr>
            <a:r>
              <a:rPr lang="es" sz="1800"/>
              <a:t>Usuarios vinculados (propietario e invitados).</a:t>
            </a:r>
            <a:endParaRPr b="1" sz="1800"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7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2"/>
          <p:cNvSpPr txBox="1"/>
          <p:nvPr>
            <p:ph type="title"/>
          </p:nvPr>
        </p:nvSpPr>
        <p:spPr>
          <a:xfrm>
            <a:off x="2651550" y="563575"/>
            <a:ext cx="38445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Requisitos de información</a:t>
            </a:r>
            <a:endParaRPr/>
          </a:p>
        </p:txBody>
      </p:sp>
      <p:sp>
        <p:nvSpPr>
          <p:cNvPr id="248" name="Google Shape;248;p32"/>
          <p:cNvSpPr txBox="1"/>
          <p:nvPr>
            <p:ph idx="1" type="body"/>
          </p:nvPr>
        </p:nvSpPr>
        <p:spPr>
          <a:xfrm>
            <a:off x="729450" y="1323250"/>
            <a:ext cx="7688700" cy="3016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20000"/>
          </a:bodyPr>
          <a:lstStyle/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s" sz="1500"/>
              <a:t>Productos</a:t>
            </a:r>
            <a:r>
              <a:rPr lang="es" sz="1500"/>
              <a:t>:</a:t>
            </a:r>
            <a:endParaRPr sz="1500"/>
          </a:p>
          <a:p>
            <a:pPr indent="-323850" lvl="0" marL="457200" rtl="0" algn="l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500"/>
              <a:buChar char="●"/>
            </a:pPr>
            <a:r>
              <a:rPr lang="es" sz="1500"/>
              <a:t>Nombre del producto.</a:t>
            </a:r>
            <a:br>
              <a:rPr lang="es" sz="1500"/>
            </a:b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Char char="●"/>
            </a:pPr>
            <a:r>
              <a:rPr lang="es" sz="1500"/>
              <a:t>Marca y modelo (si se añade por código de barras).</a:t>
            </a:r>
            <a:br>
              <a:rPr lang="es" sz="1500"/>
            </a:b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Char char="●"/>
            </a:pPr>
            <a:r>
              <a:rPr lang="es" sz="1500"/>
              <a:t>Estado (pendiente o comprado).</a:t>
            </a:r>
            <a:br>
              <a:rPr lang="es" sz="1500"/>
            </a:b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Char char="●"/>
            </a:pPr>
            <a:r>
              <a:rPr lang="es" sz="1500"/>
              <a:t>Usuario que lo añadió.</a:t>
            </a:r>
            <a:br>
              <a:rPr lang="es" sz="1500"/>
            </a:b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Char char="●"/>
            </a:pPr>
            <a:r>
              <a:rPr lang="es" sz="1500"/>
              <a:t>Usuario que lo compró (si aplica).</a:t>
            </a:r>
            <a:endParaRPr b="1" sz="1500"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33"/>
          <p:cNvSpPr txBox="1"/>
          <p:nvPr>
            <p:ph type="title"/>
          </p:nvPr>
        </p:nvSpPr>
        <p:spPr>
          <a:xfrm>
            <a:off x="2540550" y="513375"/>
            <a:ext cx="4062900" cy="510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Requisitos de información</a:t>
            </a:r>
            <a:endParaRPr/>
          </a:p>
        </p:txBody>
      </p:sp>
      <p:sp>
        <p:nvSpPr>
          <p:cNvPr id="254" name="Google Shape;254;p33"/>
          <p:cNvSpPr txBox="1"/>
          <p:nvPr>
            <p:ph idx="1" type="body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s" sz="1600"/>
              <a:t>Observaciones</a:t>
            </a:r>
            <a:r>
              <a:rPr lang="es" sz="1600"/>
              <a:t>:</a:t>
            </a:r>
            <a:endParaRPr sz="1600"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600"/>
              <a:buChar char="●"/>
            </a:pPr>
            <a:r>
              <a:rPr lang="es" sz="1600"/>
              <a:t>Texto de la nota.</a:t>
            </a:r>
            <a:br>
              <a:rPr lang="es" sz="1600"/>
            </a:br>
            <a:endParaRPr sz="1600"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Char char="●"/>
            </a:pPr>
            <a:r>
              <a:rPr lang="es" sz="1600"/>
              <a:t>Autor de la observación.</a:t>
            </a:r>
            <a:br>
              <a:rPr lang="es" sz="1600"/>
            </a:br>
            <a:endParaRPr sz="1600"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Char char="●"/>
            </a:pPr>
            <a:r>
              <a:rPr lang="es" sz="1600"/>
              <a:t>Fecha de creación/modificación.</a:t>
            </a:r>
            <a:endParaRPr b="1" sz="1600"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34"/>
          <p:cNvSpPr txBox="1"/>
          <p:nvPr>
            <p:ph type="title"/>
          </p:nvPr>
        </p:nvSpPr>
        <p:spPr>
          <a:xfrm>
            <a:off x="2540550" y="513375"/>
            <a:ext cx="4062900" cy="510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Requisitos de información</a:t>
            </a:r>
            <a:endParaRPr/>
          </a:p>
        </p:txBody>
      </p:sp>
      <p:sp>
        <p:nvSpPr>
          <p:cNvPr id="260" name="Google Shape;260;p34"/>
          <p:cNvSpPr txBox="1"/>
          <p:nvPr>
            <p:ph idx="1" type="body"/>
          </p:nvPr>
        </p:nvSpPr>
        <p:spPr>
          <a:xfrm>
            <a:off x="1297500" y="1567550"/>
            <a:ext cx="7038900" cy="334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s" sz="1600"/>
              <a:t>Pagos</a:t>
            </a:r>
            <a:r>
              <a:rPr lang="es" sz="1600"/>
              <a:t>:</a:t>
            </a:r>
            <a:endParaRPr sz="1600"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s" sz="1600"/>
              <a:t>ID de la lista.</a:t>
            </a:r>
            <a:endParaRPr sz="1600"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s" sz="1600"/>
              <a:t>Nombre de la lista</a:t>
            </a:r>
            <a:endParaRPr sz="1600"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s" sz="1600"/>
              <a:t>Participantes.</a:t>
            </a:r>
            <a:endParaRPr sz="1600"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s" sz="1600"/>
              <a:t>Pagos</a:t>
            </a:r>
            <a:endParaRPr sz="1600"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s" sz="1600"/>
              <a:t>Total</a:t>
            </a:r>
            <a:endParaRPr sz="1600"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s" sz="1600"/>
              <a:t>Ultima actualización</a:t>
            </a:r>
            <a:endParaRPr sz="1600"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s" sz="1600"/>
              <a:t>Quien actualizó</a:t>
            </a:r>
            <a:endParaRPr sz="16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35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Requisitos de información</a:t>
            </a:r>
            <a:endParaRPr/>
          </a:p>
        </p:txBody>
      </p:sp>
      <p:sp>
        <p:nvSpPr>
          <p:cNvPr id="266" name="Google Shape;266;p35"/>
          <p:cNvSpPr txBox="1"/>
          <p:nvPr>
            <p:ph idx="1" type="body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s" sz="1600"/>
              <a:t>Precio total de la lista</a:t>
            </a:r>
            <a:r>
              <a:rPr lang="es" sz="1600"/>
              <a:t>:</a:t>
            </a:r>
            <a:endParaRPr sz="1600"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600"/>
              <a:buChar char="●"/>
            </a:pPr>
            <a:r>
              <a:rPr lang="es" sz="1600"/>
              <a:t>Base para el cálculo del reparto de gastos en listas compartidas.</a:t>
            </a:r>
            <a:endParaRPr sz="1600"/>
          </a:p>
          <a:p>
            <a:pPr indent="0" lvl="0" marL="45720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b="1" sz="1100"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6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Requisitos funcionales</a:t>
            </a:r>
            <a:endParaRPr/>
          </a:p>
        </p:txBody>
      </p:sp>
      <p:sp>
        <p:nvSpPr>
          <p:cNvPr id="272" name="Google Shape;272;p36"/>
          <p:cNvSpPr txBox="1"/>
          <p:nvPr>
            <p:ph idx="1" type="body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20000"/>
          </a:bodyPr>
          <a:lstStyle/>
          <a:p>
            <a:pPr indent="0" lvl="0" marL="0" rtl="0" algn="l">
              <a:spcBef>
                <a:spcPts val="1400"/>
              </a:spcBef>
              <a:spcAft>
                <a:spcPts val="0"/>
              </a:spcAft>
              <a:buNone/>
            </a:pPr>
            <a:r>
              <a:rPr b="1" lang="es" sz="2000"/>
              <a:t>Gestión de usuarios</a:t>
            </a:r>
            <a:endParaRPr b="1" sz="2000"/>
          </a:p>
          <a:p>
            <a:pPr indent="-355600" lvl="0" marL="457200" rtl="0" algn="l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2000"/>
              <a:buChar char="●"/>
            </a:pPr>
            <a:r>
              <a:rPr lang="es" sz="2000"/>
              <a:t>Registrar un nuevo usuario mediante correo y contraseña.</a:t>
            </a:r>
            <a:br>
              <a:rPr lang="es" sz="2000"/>
            </a:b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Char char="●"/>
            </a:pPr>
            <a:r>
              <a:rPr lang="es" sz="2000"/>
              <a:t>Iniciar sesión con credenciales válidas.</a:t>
            </a:r>
            <a:br>
              <a:rPr lang="es" sz="2000"/>
            </a:b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Char char="●"/>
            </a:pPr>
            <a:r>
              <a:rPr lang="es" sz="2000"/>
              <a:t>Cerrar sesión.</a:t>
            </a:r>
            <a:endParaRPr b="1" sz="2000"/>
          </a:p>
          <a:p>
            <a:pPr indent="0" lvl="0" marL="45720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b="1" sz="1100"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6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p37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Requisitos funcionales</a:t>
            </a:r>
            <a:endParaRPr/>
          </a:p>
        </p:txBody>
      </p:sp>
      <p:sp>
        <p:nvSpPr>
          <p:cNvPr id="278" name="Google Shape;278;p37"/>
          <p:cNvSpPr txBox="1"/>
          <p:nvPr>
            <p:ph idx="1" type="body"/>
          </p:nvPr>
        </p:nvSpPr>
        <p:spPr>
          <a:xfrm>
            <a:off x="311700" y="1152475"/>
            <a:ext cx="8520600" cy="3760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95000"/>
              </a:lnSpc>
              <a:spcBef>
                <a:spcPts val="1400"/>
              </a:spcBef>
              <a:spcAft>
                <a:spcPts val="0"/>
              </a:spcAft>
              <a:buSzPts val="852"/>
              <a:buNone/>
            </a:pPr>
            <a:r>
              <a:rPr b="1" lang="es" sz="1750"/>
              <a:t>Gestión de listas</a:t>
            </a:r>
            <a:endParaRPr b="1" sz="1750"/>
          </a:p>
          <a:p>
            <a:pPr indent="-339725" lvl="0" marL="45720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750"/>
              <a:buChar char="●"/>
            </a:pPr>
            <a:r>
              <a:rPr lang="es" sz="1750"/>
              <a:t>Crear una lista de compras.</a:t>
            </a:r>
            <a:br>
              <a:rPr lang="es" sz="1750"/>
            </a:br>
            <a:endParaRPr sz="1750"/>
          </a:p>
          <a:p>
            <a:pPr indent="-339725" lvl="0" marL="4572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50"/>
              <a:buChar char="●"/>
            </a:pPr>
            <a:r>
              <a:rPr lang="es" sz="1750"/>
              <a:t>Eliminar una lista (solo el propietario).</a:t>
            </a:r>
            <a:br>
              <a:rPr lang="es" sz="1750"/>
            </a:br>
            <a:endParaRPr sz="1750"/>
          </a:p>
          <a:p>
            <a:pPr indent="-339725" lvl="0" marL="4572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50"/>
              <a:buChar char="●"/>
            </a:pPr>
            <a:r>
              <a:rPr lang="es" sz="1750"/>
              <a:t>Compartir una lista mediante correo electrónico.</a:t>
            </a:r>
            <a:br>
              <a:rPr lang="es" sz="1750"/>
            </a:br>
            <a:endParaRPr sz="1750"/>
          </a:p>
          <a:p>
            <a:pPr indent="-339725" lvl="0" marL="4572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50"/>
              <a:buChar char="●"/>
            </a:pPr>
            <a:r>
              <a:rPr lang="es" sz="1750"/>
              <a:t>Dejar de compartir una lista (eliminar usuario invitado).</a:t>
            </a:r>
            <a:br>
              <a:rPr lang="es" sz="1750"/>
            </a:br>
            <a:endParaRPr sz="1750"/>
          </a:p>
          <a:p>
            <a:pPr indent="-339725" lvl="0" marL="4572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50"/>
              <a:buChar char="●"/>
            </a:pPr>
            <a:r>
              <a:rPr lang="es" sz="1750"/>
              <a:t>Ver listas propias y compartidas.</a:t>
            </a:r>
            <a:br>
              <a:rPr lang="es" sz="1750"/>
            </a:br>
            <a:endParaRPr sz="1750"/>
          </a:p>
          <a:p>
            <a:pPr indent="-339725" lvl="0" marL="4572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50"/>
              <a:buChar char="●"/>
            </a:pPr>
            <a:r>
              <a:rPr lang="es" sz="1750"/>
              <a:t>Diferenciar visualmente entre listas individuales y compartidas.</a:t>
            </a:r>
            <a:endParaRPr b="1" sz="1750"/>
          </a:p>
          <a:p>
            <a:pPr indent="0" lvl="0" marL="45720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852"/>
              <a:buNone/>
            </a:pPr>
            <a:r>
              <a:t/>
            </a:r>
            <a:endParaRPr b="1" sz="1052"/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1200"/>
              </a:spcAft>
              <a:buSzPts val="852"/>
              <a:buNone/>
            </a:pPr>
            <a:r>
              <a:t/>
            </a:r>
            <a:endParaRPr sz="1595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38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Requisitos funcionales</a:t>
            </a:r>
            <a:endParaRPr/>
          </a:p>
        </p:txBody>
      </p:sp>
      <p:sp>
        <p:nvSpPr>
          <p:cNvPr id="284" name="Google Shape;284;p38"/>
          <p:cNvSpPr txBox="1"/>
          <p:nvPr>
            <p:ph idx="1" type="body"/>
          </p:nvPr>
        </p:nvSpPr>
        <p:spPr>
          <a:xfrm>
            <a:off x="311700" y="1152475"/>
            <a:ext cx="8520600" cy="3860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95000"/>
              </a:lnSpc>
              <a:spcBef>
                <a:spcPts val="1400"/>
              </a:spcBef>
              <a:spcAft>
                <a:spcPts val="0"/>
              </a:spcAft>
              <a:buSzPts val="1018"/>
              <a:buNone/>
            </a:pPr>
            <a:r>
              <a:rPr b="1" lang="es" sz="2050"/>
              <a:t>Gestión de productos</a:t>
            </a:r>
            <a:endParaRPr b="1" sz="2050"/>
          </a:p>
          <a:p>
            <a:pPr indent="-358775" lvl="0" marL="45720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2050"/>
              <a:buChar char="●"/>
            </a:pPr>
            <a:r>
              <a:rPr lang="es" sz="2050"/>
              <a:t>Añadir productos manualmente.</a:t>
            </a:r>
            <a:br>
              <a:rPr lang="es" sz="2050"/>
            </a:br>
            <a:endParaRPr sz="2050"/>
          </a:p>
          <a:p>
            <a:pPr indent="-358775" lvl="0" marL="4572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50"/>
              <a:buChar char="●"/>
            </a:pPr>
            <a:r>
              <a:rPr lang="es" sz="2050"/>
              <a:t>Añadir productos mediante escaneo de código de barras (Android).</a:t>
            </a:r>
            <a:br>
              <a:rPr lang="es" sz="2050"/>
            </a:br>
            <a:endParaRPr sz="2050"/>
          </a:p>
          <a:p>
            <a:pPr indent="-358775" lvl="0" marL="4572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50"/>
              <a:buChar char="●"/>
            </a:pPr>
            <a:r>
              <a:rPr lang="es" sz="2050"/>
              <a:t>Eliminar productos.</a:t>
            </a:r>
            <a:br>
              <a:rPr lang="es" sz="2050"/>
            </a:br>
            <a:endParaRPr sz="2050"/>
          </a:p>
          <a:p>
            <a:pPr indent="-358775" lvl="0" marL="4572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50"/>
              <a:buChar char="●"/>
            </a:pPr>
            <a:r>
              <a:rPr lang="es" sz="2050"/>
              <a:t>Marcar productos como comprados.</a:t>
            </a:r>
            <a:br>
              <a:rPr lang="es" sz="2050"/>
            </a:br>
            <a:endParaRPr sz="2050"/>
          </a:p>
          <a:p>
            <a:pPr indent="-358775" lvl="0" marL="4572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50"/>
              <a:buChar char="●"/>
            </a:pPr>
            <a:r>
              <a:rPr lang="es" sz="2050"/>
              <a:t>Mostrar en listas compartidas quién añadió y quién compró cada producto.</a:t>
            </a:r>
            <a:endParaRPr b="1" sz="2050"/>
          </a:p>
          <a:p>
            <a:pPr indent="0" lvl="0" marL="45720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018"/>
              <a:buNone/>
            </a:pPr>
            <a:r>
              <a:t/>
            </a:r>
            <a:endParaRPr b="1" sz="1217"/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1200"/>
              </a:spcAft>
              <a:buSzPts val="1018"/>
              <a:buNone/>
            </a:pPr>
            <a:r>
              <a:t/>
            </a:r>
            <a:endParaRPr sz="1865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39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Requisitos funcionales</a:t>
            </a:r>
            <a:endParaRPr/>
          </a:p>
        </p:txBody>
      </p:sp>
      <p:sp>
        <p:nvSpPr>
          <p:cNvPr id="290" name="Google Shape;290;p39"/>
          <p:cNvSpPr txBox="1"/>
          <p:nvPr>
            <p:ph idx="1" type="body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20000"/>
          </a:bodyPr>
          <a:lstStyle/>
          <a:p>
            <a:pPr indent="0" lvl="0" marL="0" rtl="0" algn="l">
              <a:spcBef>
                <a:spcPts val="1400"/>
              </a:spcBef>
              <a:spcAft>
                <a:spcPts val="0"/>
              </a:spcAft>
              <a:buNone/>
            </a:pPr>
            <a:r>
              <a:rPr b="1" lang="es" sz="2000"/>
              <a:t>Gestión de observaciones</a:t>
            </a:r>
            <a:endParaRPr b="1" sz="2000"/>
          </a:p>
          <a:p>
            <a:pPr indent="-355600" lvl="0" marL="457200" rtl="0" algn="l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2000"/>
              <a:buChar char="●"/>
            </a:pPr>
            <a:r>
              <a:rPr lang="es" sz="2000"/>
              <a:t>Añadir observaciones a una lista.</a:t>
            </a:r>
            <a:br>
              <a:rPr lang="es" sz="2000"/>
            </a:b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Char char="●"/>
            </a:pPr>
            <a:r>
              <a:rPr lang="es" sz="2000"/>
              <a:t>Modificar observaciones existentes.</a:t>
            </a:r>
            <a:br>
              <a:rPr lang="es" sz="2000"/>
            </a:b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Char char="●"/>
            </a:pPr>
            <a:r>
              <a:rPr lang="es" sz="2000"/>
              <a:t>Eliminar observaciones.</a:t>
            </a:r>
            <a:endParaRPr b="1" sz="2000"/>
          </a:p>
          <a:p>
            <a:pPr indent="0" lvl="0" marL="45720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b="1" sz="1100"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4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40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Requisitos funcionales</a:t>
            </a:r>
            <a:endParaRPr/>
          </a:p>
        </p:txBody>
      </p:sp>
      <p:sp>
        <p:nvSpPr>
          <p:cNvPr id="296" name="Google Shape;296;p40"/>
          <p:cNvSpPr txBox="1"/>
          <p:nvPr>
            <p:ph idx="1" type="body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20000"/>
          </a:bodyPr>
          <a:lstStyle/>
          <a:p>
            <a:pPr indent="0" lvl="0" marL="0" rtl="0" algn="l">
              <a:spcBef>
                <a:spcPts val="1400"/>
              </a:spcBef>
              <a:spcAft>
                <a:spcPts val="0"/>
              </a:spcAft>
              <a:buNone/>
            </a:pPr>
            <a:r>
              <a:rPr b="1" lang="es" sz="2000"/>
              <a:t>Gestión económica</a:t>
            </a:r>
            <a:endParaRPr b="1" sz="2000"/>
          </a:p>
          <a:p>
            <a:pPr indent="-355600" lvl="0" marL="457200" rtl="0" algn="l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SzPts val="2000"/>
              <a:buChar char="●"/>
            </a:pPr>
            <a:r>
              <a:rPr lang="es" sz="2000"/>
              <a:t>Calcular el precio total de la lista.</a:t>
            </a:r>
            <a:endParaRPr sz="2000"/>
          </a:p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s" sz="2000"/>
              <a:t>Calcular cuánto debe pagar cada usuario en listas compartidas.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s" sz="2000"/>
              <a:t>Marcar </a:t>
            </a:r>
            <a:r>
              <a:rPr lang="es" sz="2000"/>
              <a:t>quién</a:t>
            </a:r>
            <a:r>
              <a:rPr lang="es" sz="2000"/>
              <a:t> pagó y quién no.</a:t>
            </a:r>
            <a:endParaRPr sz="2000"/>
          </a:p>
          <a:p>
            <a:pPr indent="0" lvl="0" marL="45720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b="1" sz="1100"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41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Requisitos funcionales</a:t>
            </a:r>
            <a:endParaRPr/>
          </a:p>
        </p:txBody>
      </p:sp>
      <p:sp>
        <p:nvSpPr>
          <p:cNvPr id="302" name="Google Shape;302;p41"/>
          <p:cNvSpPr txBox="1"/>
          <p:nvPr>
            <p:ph idx="1" type="body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1400"/>
              </a:spcBef>
              <a:spcAft>
                <a:spcPts val="0"/>
              </a:spcAft>
              <a:buNone/>
            </a:pPr>
            <a:r>
              <a:rPr b="1" lang="es" sz="2000"/>
              <a:t>Sincronización y plataforma</a:t>
            </a:r>
            <a:endParaRPr b="1" sz="2000"/>
          </a:p>
          <a:p>
            <a:pPr indent="-346075" lvl="0" marL="457200" rtl="0" algn="l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ct val="100000"/>
              <a:buChar char="●"/>
            </a:pPr>
            <a:r>
              <a:rPr lang="es" sz="2000"/>
              <a:t>Sincronización entre Android y Web.</a:t>
            </a:r>
            <a:br>
              <a:rPr lang="es" sz="2000"/>
            </a:br>
            <a:endParaRPr sz="2000"/>
          </a:p>
          <a:p>
            <a:pPr indent="-346075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Char char="●"/>
            </a:pPr>
            <a:r>
              <a:rPr lang="es" sz="2000"/>
              <a:t>Acceso desde Android con todas las funciones (incluido escaneo) excepto eliminación de listas.</a:t>
            </a:r>
            <a:br>
              <a:rPr lang="es" sz="2000"/>
            </a:br>
            <a:endParaRPr sz="2000"/>
          </a:p>
          <a:p>
            <a:pPr indent="-346075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Char char="●"/>
            </a:pPr>
            <a:r>
              <a:rPr lang="es" sz="2000"/>
              <a:t>Acceso desde Web con las mismas funciones además de eliminación de listas (excepto escaneo de código de barras).</a:t>
            </a:r>
            <a:endParaRPr b="1" sz="2000"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42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Casos de uso</a:t>
            </a:r>
            <a:endParaRPr/>
          </a:p>
        </p:txBody>
      </p:sp>
      <p:sp>
        <p:nvSpPr>
          <p:cNvPr id="308" name="Google Shape;308;p42"/>
          <p:cNvSpPr txBox="1"/>
          <p:nvPr>
            <p:ph idx="1" type="body"/>
          </p:nvPr>
        </p:nvSpPr>
        <p:spPr>
          <a:xfrm>
            <a:off x="311700" y="1307850"/>
            <a:ext cx="8520600" cy="3835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95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605"/>
              <a:buFont typeface="Arial"/>
              <a:buNone/>
            </a:pPr>
            <a:r>
              <a:rPr b="1" lang="es" sz="1381"/>
              <a:t>CU-01 Crear lista</a:t>
            </a:r>
            <a:endParaRPr b="1" sz="1381"/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605"/>
              <a:buFont typeface="Arial"/>
              <a:buNone/>
            </a:pPr>
            <a:r>
              <a:rPr b="1" lang="es" sz="1271"/>
              <a:t>Actor</a:t>
            </a:r>
            <a:r>
              <a:rPr lang="es" sz="1271"/>
              <a:t>: Usuario registrado (propietario).</a:t>
            </a:r>
            <a:br>
              <a:rPr lang="es" sz="1271"/>
            </a:br>
            <a:r>
              <a:rPr lang="es" sz="1271"/>
              <a:t> </a:t>
            </a:r>
            <a:r>
              <a:rPr b="1" lang="es" sz="1271"/>
              <a:t>Descripción</a:t>
            </a:r>
            <a:r>
              <a:rPr lang="es" sz="1271"/>
              <a:t>: El usuario crea una lista nueva, introduciendo un nombre identificativo.</a:t>
            </a:r>
            <a:endParaRPr sz="1271"/>
          </a:p>
          <a:p>
            <a:pPr indent="0" lvl="0" marL="0" rtl="0" algn="l">
              <a:lnSpc>
                <a:spcPct val="95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605"/>
              <a:buFont typeface="Arial"/>
              <a:buNone/>
            </a:pPr>
            <a:r>
              <a:rPr b="1" lang="es" sz="1381"/>
              <a:t>CU-02 Compartir lista</a:t>
            </a:r>
            <a:endParaRPr b="1" sz="1381"/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605"/>
              <a:buFont typeface="Arial"/>
              <a:buNone/>
            </a:pPr>
            <a:r>
              <a:rPr b="1" lang="es" sz="1271"/>
              <a:t>Actor</a:t>
            </a:r>
            <a:r>
              <a:rPr lang="es" sz="1271"/>
              <a:t>: Usuario propietario.</a:t>
            </a:r>
            <a:br>
              <a:rPr lang="es" sz="1271"/>
            </a:br>
            <a:r>
              <a:rPr lang="es" sz="1271"/>
              <a:t> </a:t>
            </a:r>
            <a:r>
              <a:rPr b="1" lang="es" sz="1271"/>
              <a:t>Descripción</a:t>
            </a:r>
            <a:r>
              <a:rPr lang="es" sz="1271"/>
              <a:t>: El propietario introduce el correo de otro usuario y le otorga acceso a la lista.</a:t>
            </a:r>
            <a:endParaRPr sz="1271"/>
          </a:p>
          <a:p>
            <a:pPr indent="0" lvl="0" marL="0" rtl="0" algn="l">
              <a:lnSpc>
                <a:spcPct val="95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605"/>
              <a:buFont typeface="Arial"/>
              <a:buNone/>
            </a:pPr>
            <a:r>
              <a:rPr b="1" lang="es" sz="1381"/>
              <a:t>CU-03 Añadir producto manualmente</a:t>
            </a:r>
            <a:endParaRPr b="1" sz="1381"/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605"/>
              <a:buFont typeface="Arial"/>
              <a:buNone/>
            </a:pPr>
            <a:r>
              <a:rPr b="1" lang="es" sz="1271"/>
              <a:t>Actor</a:t>
            </a:r>
            <a:r>
              <a:rPr lang="es" sz="1271"/>
              <a:t>: Propietario o invitado.</a:t>
            </a:r>
            <a:br>
              <a:rPr lang="es" sz="1271"/>
            </a:br>
            <a:r>
              <a:rPr lang="es" sz="1271"/>
              <a:t> </a:t>
            </a:r>
            <a:r>
              <a:rPr b="1" lang="es" sz="1271"/>
              <a:t>Descripción</a:t>
            </a:r>
            <a:r>
              <a:rPr lang="es" sz="1271"/>
              <a:t>: Se escribe el nombre de un producto y se añade a la lista seleccionada.</a:t>
            </a:r>
            <a:endParaRPr sz="1271"/>
          </a:p>
          <a:p>
            <a:pPr indent="0" lvl="0" marL="0" rtl="0" algn="l">
              <a:lnSpc>
                <a:spcPct val="95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605"/>
              <a:buFont typeface="Arial"/>
              <a:buNone/>
            </a:pPr>
            <a:r>
              <a:rPr b="1" lang="es" sz="1381"/>
              <a:t>CU-04 Añadir producto por código de barras</a:t>
            </a:r>
            <a:endParaRPr b="1" sz="1381"/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605"/>
              <a:buFont typeface="Arial"/>
              <a:buNone/>
            </a:pPr>
            <a:r>
              <a:rPr b="1" lang="es" sz="1271"/>
              <a:t>Actor</a:t>
            </a:r>
            <a:r>
              <a:rPr lang="es" sz="1271"/>
              <a:t>: Propietario o invitado (solo en Android).</a:t>
            </a:r>
            <a:br>
              <a:rPr lang="es" sz="1271"/>
            </a:br>
            <a:r>
              <a:rPr lang="es" sz="1271"/>
              <a:t> </a:t>
            </a:r>
            <a:r>
              <a:rPr b="1" lang="es" sz="1271"/>
              <a:t>Descripción</a:t>
            </a:r>
            <a:r>
              <a:rPr lang="es" sz="1271"/>
              <a:t>: Se escanea un producto, y la app registra su información (nombre, marca y modelo).</a:t>
            </a:r>
            <a:endParaRPr sz="1271"/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1200"/>
              </a:spcAft>
              <a:buSzPts val="605"/>
              <a:buNone/>
            </a:pPr>
            <a:r>
              <a:t/>
            </a:r>
            <a:endParaRPr sz="989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43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45833"/>
              <a:buFont typeface="Arial"/>
              <a:buNone/>
            </a:pPr>
            <a:r>
              <a:rPr lang="es"/>
              <a:t>Casos de uso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43"/>
          <p:cNvSpPr txBox="1"/>
          <p:nvPr>
            <p:ph idx="1" type="body"/>
          </p:nvPr>
        </p:nvSpPr>
        <p:spPr>
          <a:xfrm>
            <a:off x="364050" y="1307850"/>
            <a:ext cx="8520600" cy="3775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1400"/>
              </a:spcBef>
              <a:spcAft>
                <a:spcPts val="0"/>
              </a:spcAft>
              <a:buNone/>
            </a:pPr>
            <a:r>
              <a:rPr b="1" lang="es"/>
              <a:t>CU-05 Eliminar producto</a:t>
            </a:r>
            <a:endParaRPr b="1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s" sz="1100"/>
              <a:t>Actor</a:t>
            </a:r>
            <a:r>
              <a:rPr lang="es" sz="1100"/>
              <a:t>: Propietario o invitado.</a:t>
            </a:r>
            <a:br>
              <a:rPr lang="es" sz="1100"/>
            </a:br>
            <a:r>
              <a:rPr lang="es" sz="1100"/>
              <a:t> </a:t>
            </a:r>
            <a:r>
              <a:rPr b="1" lang="es" sz="1100"/>
              <a:t>Descripción</a:t>
            </a:r>
            <a:r>
              <a:rPr lang="es" sz="1100"/>
              <a:t>: Se selecciona un producto de la lista y se elimina.</a:t>
            </a:r>
            <a:endParaRPr b="1"/>
          </a:p>
          <a:p>
            <a:pPr indent="0" lvl="0" marL="0" rtl="0" algn="l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s"/>
              <a:t>CU-06 Marcar producto como comprado</a:t>
            </a:r>
            <a:endParaRPr b="1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s" sz="1100"/>
              <a:t>Actor</a:t>
            </a:r>
            <a:r>
              <a:rPr lang="es" sz="1100"/>
              <a:t>: Propietario o invitado.</a:t>
            </a:r>
            <a:br>
              <a:rPr lang="es" sz="1100"/>
            </a:br>
            <a:r>
              <a:rPr lang="es" sz="1100"/>
              <a:t> </a:t>
            </a:r>
            <a:r>
              <a:rPr b="1" lang="es" sz="1100"/>
              <a:t>Descripción</a:t>
            </a:r>
            <a:r>
              <a:rPr lang="es" sz="1100"/>
              <a:t>: Se marca un producto como adquirido; pasa a la sección </a:t>
            </a:r>
            <a:r>
              <a:rPr i="1" lang="es" sz="1100"/>
              <a:t>“Comprados”</a:t>
            </a:r>
            <a:r>
              <a:rPr lang="es" sz="1100"/>
              <a:t> y se registra qué usuario lo compró.</a:t>
            </a:r>
            <a:endParaRPr sz="1100"/>
          </a:p>
          <a:p>
            <a:pPr indent="0" lvl="0" marL="0" rtl="0" algn="l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s"/>
              <a:t>CU-07 Añadir observación</a:t>
            </a:r>
            <a:endParaRPr b="1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s" sz="1100"/>
              <a:t>Actor</a:t>
            </a:r>
            <a:r>
              <a:rPr lang="es" sz="1100"/>
              <a:t>: Propietario o invitado.</a:t>
            </a:r>
            <a:br>
              <a:rPr lang="es" sz="1100"/>
            </a:br>
            <a:r>
              <a:rPr lang="es" sz="1100"/>
              <a:t> </a:t>
            </a:r>
            <a:r>
              <a:rPr b="1" lang="es" sz="1100"/>
              <a:t>Descripción</a:t>
            </a:r>
            <a:r>
              <a:rPr lang="es" sz="1100"/>
              <a:t>: El usuario escribe una nota dentro de la lista seleccionada.</a:t>
            </a:r>
            <a:endParaRPr sz="1100"/>
          </a:p>
          <a:p>
            <a:pPr indent="0" lvl="0" marL="0" rtl="0" algn="l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s"/>
              <a:t>CU-08 Modificar observación</a:t>
            </a:r>
            <a:endParaRPr b="1"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b="1" lang="es" sz="1100"/>
              <a:t>Actor</a:t>
            </a:r>
            <a:r>
              <a:rPr lang="es" sz="1100"/>
              <a:t>: Autor de la observación o propietario.</a:t>
            </a:r>
            <a:br>
              <a:rPr lang="es" sz="1100"/>
            </a:br>
            <a:r>
              <a:rPr lang="es" sz="1100"/>
              <a:t> </a:t>
            </a:r>
            <a:r>
              <a:rPr b="1" lang="es" sz="1100"/>
              <a:t>Descripción</a:t>
            </a:r>
            <a:r>
              <a:rPr lang="es" sz="1100"/>
              <a:t>: Se edita el texto de una observación existente.</a:t>
            </a:r>
            <a:endParaRPr sz="180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44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45833"/>
              <a:buFont typeface="Arial"/>
              <a:buNone/>
            </a:pPr>
            <a:r>
              <a:rPr lang="es"/>
              <a:t>Casos de uso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44"/>
          <p:cNvSpPr txBox="1"/>
          <p:nvPr>
            <p:ph idx="1" type="body"/>
          </p:nvPr>
        </p:nvSpPr>
        <p:spPr>
          <a:xfrm>
            <a:off x="1297500" y="1009250"/>
            <a:ext cx="7038900" cy="3797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s" sz="1400"/>
              <a:t>CU-09 Calcular precio total de la lista</a:t>
            </a:r>
            <a:endParaRPr b="1" sz="14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s" sz="1200"/>
              <a:t>Actor</a:t>
            </a:r>
            <a:r>
              <a:rPr lang="es" sz="1200"/>
              <a:t>: Propietario o invitado.</a:t>
            </a:r>
            <a:br>
              <a:rPr lang="es" sz="1200"/>
            </a:br>
            <a:r>
              <a:rPr lang="es" sz="1200"/>
              <a:t> </a:t>
            </a:r>
            <a:r>
              <a:rPr b="1" lang="es" sz="1200"/>
              <a:t>Descripción</a:t>
            </a:r>
            <a:r>
              <a:rPr lang="es" sz="1200"/>
              <a:t>: El sistema suma los precios de todos los productos y muestra el gasto total estimado.</a:t>
            </a:r>
            <a:endParaRPr sz="1200"/>
          </a:p>
          <a:p>
            <a:pPr indent="0" lvl="0" marL="0" rtl="0" algn="l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s" sz="1400"/>
              <a:t>CU-11 Mostrar opciones de división de gasto</a:t>
            </a:r>
            <a:endParaRPr b="1" sz="1400"/>
          </a:p>
          <a:p>
            <a:pPr indent="0" lvl="0" marL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s" sz="1200"/>
              <a:t>Actor</a:t>
            </a:r>
            <a:r>
              <a:rPr lang="es" sz="1200"/>
              <a:t>: Propietario o invitado en lista compartida.</a:t>
            </a:r>
            <a:br>
              <a:rPr lang="es" sz="1200"/>
            </a:br>
            <a:r>
              <a:rPr lang="es" sz="1200"/>
              <a:t> </a:t>
            </a:r>
            <a:r>
              <a:rPr b="1" lang="es" sz="1200"/>
              <a:t>Descripción</a:t>
            </a:r>
            <a:r>
              <a:rPr lang="es" sz="1200"/>
              <a:t>: A partir del precio total, el sistema reparte el gasto entre los usuarios asociados a la lista.</a:t>
            </a:r>
            <a:endParaRPr sz="1200"/>
          </a:p>
          <a:p>
            <a:pPr indent="0" lvl="0" marL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s" sz="1200"/>
              <a:t>Actor</a:t>
            </a:r>
            <a:r>
              <a:rPr lang="es" sz="1200">
                <a:latin typeface="Roboto"/>
                <a:ea typeface="Roboto"/>
                <a:cs typeface="Roboto"/>
                <a:sym typeface="Roboto"/>
              </a:rPr>
              <a:t>: Propietario o invitado de lista compartida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s" sz="1200"/>
              <a:t>Descripción</a:t>
            </a:r>
            <a:r>
              <a:rPr lang="es" sz="1200">
                <a:latin typeface="Roboto"/>
                <a:ea typeface="Roboto"/>
                <a:cs typeface="Roboto"/>
                <a:sym typeface="Roboto"/>
              </a:rPr>
              <a:t>: En función de si es invitado o propietario tendrá una serie de conceptos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20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45"/>
          <p:cNvSpPr txBox="1"/>
          <p:nvPr>
            <p:ph type="title"/>
          </p:nvPr>
        </p:nvSpPr>
        <p:spPr>
          <a:xfrm>
            <a:off x="823850" y="2053000"/>
            <a:ext cx="4587000" cy="1148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45720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s"/>
              <a:t>Modelo de datos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46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s" sz="2500"/>
              <a:t>Modelo conceptual</a:t>
            </a:r>
            <a:endParaRPr sz="2500"/>
          </a:p>
        </p:txBody>
      </p:sp>
      <p:sp>
        <p:nvSpPr>
          <p:cNvPr id="331" name="Google Shape;331;p46"/>
          <p:cNvSpPr txBox="1"/>
          <p:nvPr>
            <p:ph idx="1" type="body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-293211" lvl="0" marL="457200" rtl="0" algn="l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ct val="100000"/>
              <a:buChar char="●"/>
            </a:pPr>
            <a:r>
              <a:rPr b="1" lang="es" sz="1100"/>
              <a:t>Usuarios (</a:t>
            </a:r>
            <a:r>
              <a:rPr b="1" lang="es" sz="1100">
                <a:solidFill>
                  <a:srgbClr val="00FF00"/>
                </a:solidFill>
                <a:latin typeface="Roboto Mono"/>
                <a:ea typeface="Roboto Mono"/>
                <a:cs typeface="Roboto Mono"/>
                <a:sym typeface="Roboto Mono"/>
              </a:rPr>
              <a:t>users</a:t>
            </a:r>
            <a:r>
              <a:rPr b="1" lang="es" sz="1100"/>
              <a:t>)</a:t>
            </a:r>
            <a:br>
              <a:rPr b="1" lang="es" sz="1100"/>
            </a:br>
            <a:r>
              <a:rPr lang="es" sz="1100"/>
              <a:t> Representan a las personas que usan la aplicación.</a:t>
            </a:r>
            <a:br>
              <a:rPr lang="es" sz="1100"/>
            </a:br>
            <a:endParaRPr sz="1100"/>
          </a:p>
          <a:p>
            <a:pPr indent="-293211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Char char="○"/>
            </a:pPr>
            <a:r>
              <a:rPr lang="es" sz="1100"/>
              <a:t>Cada usuario tiene un correo único, fecha de creación, último acceso y un identificador (</a:t>
            </a:r>
            <a:r>
              <a:rPr lang="es" sz="1100">
                <a:latin typeface="Roboto Mono"/>
                <a:ea typeface="Roboto Mono"/>
                <a:cs typeface="Roboto Mono"/>
                <a:sym typeface="Roboto Mono"/>
              </a:rPr>
              <a:t>uid</a:t>
            </a:r>
            <a:r>
              <a:rPr lang="es" sz="1100"/>
              <a:t>).</a:t>
            </a:r>
            <a:br>
              <a:rPr lang="es" sz="1100"/>
            </a:br>
            <a:endParaRPr sz="1100"/>
          </a:p>
          <a:p>
            <a:pPr indent="-293211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Char char="○"/>
            </a:pPr>
            <a:r>
              <a:rPr lang="es" sz="1100"/>
              <a:t>Los usuarios pueden ser propietarios o invitados en las listas.</a:t>
            </a:r>
            <a:br>
              <a:rPr lang="es" sz="1100"/>
            </a:br>
            <a:endParaRPr sz="1100"/>
          </a:p>
          <a:p>
            <a:pPr indent="-293211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Char char="●"/>
            </a:pPr>
            <a:r>
              <a:rPr b="1" lang="es" sz="1100"/>
              <a:t>Listas (</a:t>
            </a:r>
            <a:r>
              <a:rPr b="1" lang="es" sz="1100">
                <a:solidFill>
                  <a:srgbClr val="00FF00"/>
                </a:solidFill>
                <a:latin typeface="Roboto Mono"/>
                <a:ea typeface="Roboto Mono"/>
                <a:cs typeface="Roboto Mono"/>
                <a:sym typeface="Roboto Mono"/>
              </a:rPr>
              <a:t>lists</a:t>
            </a:r>
            <a:r>
              <a:rPr b="1" lang="es" sz="1100"/>
              <a:t>)</a:t>
            </a:r>
            <a:br>
              <a:rPr b="1" lang="es" sz="1100"/>
            </a:br>
            <a:r>
              <a:rPr lang="es" sz="1100"/>
              <a:t> Representan un conjunto de compras.</a:t>
            </a:r>
            <a:br>
              <a:rPr lang="es" sz="1100"/>
            </a:br>
            <a:endParaRPr sz="1100"/>
          </a:p>
          <a:p>
            <a:pPr indent="-293211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Char char="○"/>
            </a:pPr>
            <a:r>
              <a:rPr lang="es" sz="1100"/>
              <a:t>Cada lista tiene un nombre, un propietario, un conjunto de usuarios invitados y productos asociados.</a:t>
            </a:r>
            <a:br>
              <a:rPr lang="es" sz="1100"/>
            </a:br>
            <a:endParaRPr sz="1100"/>
          </a:p>
          <a:p>
            <a:pPr indent="-293211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Char char="○"/>
            </a:pPr>
            <a:r>
              <a:rPr lang="es" sz="1100"/>
              <a:t>Se guardan fechas relevantes (creación, finalización) y estados de la lista.</a:t>
            </a:r>
            <a:br>
              <a:rPr lang="es" sz="1100"/>
            </a:br>
            <a:endParaRPr sz="1100"/>
          </a:p>
          <a:p>
            <a:pPr indent="-293211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Char char="○"/>
            </a:pPr>
            <a:r>
              <a:rPr lang="es" sz="1100"/>
              <a:t>Se almacena el </a:t>
            </a:r>
            <a:r>
              <a:rPr b="1" lang="es" sz="1100"/>
              <a:t>precio total</a:t>
            </a:r>
            <a:r>
              <a:rPr lang="es" sz="1100"/>
              <a:t>.</a:t>
            </a:r>
            <a:endParaRPr sz="1100"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47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s" sz="2500"/>
              <a:t>Modelo conceptual</a:t>
            </a:r>
            <a:endParaRPr sz="25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7" name="Google Shape;337;p47"/>
          <p:cNvSpPr txBox="1"/>
          <p:nvPr>
            <p:ph idx="1" type="body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-298450" lvl="0" marL="457200" rtl="0" algn="l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b="1" lang="es" sz="1100"/>
              <a:t>Productos (</a:t>
            </a:r>
            <a:r>
              <a:rPr b="1" lang="es" sz="1100">
                <a:solidFill>
                  <a:srgbClr val="00FF00"/>
                </a:solidFill>
                <a:latin typeface="Roboto Mono"/>
                <a:ea typeface="Roboto Mono"/>
                <a:cs typeface="Roboto Mono"/>
                <a:sym typeface="Roboto Mono"/>
              </a:rPr>
              <a:t>items</a:t>
            </a:r>
            <a:r>
              <a:rPr b="1" lang="es" sz="1100"/>
              <a:t>)</a:t>
            </a:r>
            <a:br>
              <a:rPr b="1" lang="es" sz="1100"/>
            </a:br>
            <a:r>
              <a:rPr lang="es" sz="1100"/>
              <a:t> Representan artículos dentro de una lista.</a:t>
            </a:r>
            <a:br>
              <a:rPr lang="es" sz="1100"/>
            </a:br>
            <a:endParaRPr sz="1100"/>
          </a:p>
          <a:p>
            <a:pPr indent="-29845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</a:pPr>
            <a:r>
              <a:rPr lang="es" sz="1100"/>
              <a:t>Incluyen nombre, categoría, estado (pendiente/comprado), precio (si lo hay).</a:t>
            </a:r>
            <a:br>
              <a:rPr lang="es" sz="1100"/>
            </a:br>
            <a:endParaRPr sz="1100"/>
          </a:p>
          <a:p>
            <a:pPr indent="-29845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</a:pPr>
            <a:r>
              <a:rPr lang="es" sz="1100"/>
              <a:t>Guardan quién lo añadió y quién lo compró.</a:t>
            </a:r>
            <a:br>
              <a:rPr lang="es" sz="1100"/>
            </a:br>
            <a:endParaRPr sz="1100"/>
          </a:p>
          <a:p>
            <a:pPr indent="-29845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</a:pPr>
            <a:r>
              <a:rPr lang="es" sz="1100"/>
              <a:t>Están ligados a una lista mediante </a:t>
            </a:r>
            <a:r>
              <a:rPr lang="es" sz="1100">
                <a:solidFill>
                  <a:srgbClr val="00FF00"/>
                </a:solidFill>
                <a:latin typeface="Roboto Mono"/>
                <a:ea typeface="Roboto Mono"/>
                <a:cs typeface="Roboto Mono"/>
                <a:sym typeface="Roboto Mono"/>
              </a:rPr>
              <a:t>listId</a:t>
            </a:r>
            <a:r>
              <a:rPr lang="es" sz="1100"/>
              <a:t>.</a:t>
            </a:r>
            <a:br>
              <a:rPr lang="es" sz="1100"/>
            </a:br>
            <a:endParaRPr sz="1100"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b="1" lang="es" sz="1100"/>
              <a:t>Observaciones (</a:t>
            </a:r>
            <a:r>
              <a:rPr b="1" lang="es" sz="1100">
                <a:solidFill>
                  <a:srgbClr val="00FF00"/>
                </a:solidFill>
                <a:latin typeface="Roboto Mono"/>
                <a:ea typeface="Roboto Mono"/>
                <a:cs typeface="Roboto Mono"/>
                <a:sym typeface="Roboto Mono"/>
              </a:rPr>
              <a:t>listObservations</a:t>
            </a:r>
            <a:r>
              <a:rPr b="1" lang="es" sz="1100"/>
              <a:t>)</a:t>
            </a:r>
            <a:br>
              <a:rPr b="1" lang="es" sz="1100"/>
            </a:br>
            <a:r>
              <a:rPr lang="es" sz="1100"/>
              <a:t> Son notas o comentarios sobre una lista.</a:t>
            </a:r>
            <a:br>
              <a:rPr lang="es" sz="1100"/>
            </a:br>
            <a:endParaRPr sz="1100"/>
          </a:p>
          <a:p>
            <a:pPr indent="-29845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</a:pPr>
            <a:r>
              <a:rPr lang="es" sz="1100"/>
              <a:t>Tienen autor, fecha de última modificación y el contenido de la observación.</a:t>
            </a:r>
            <a:br>
              <a:rPr lang="es" sz="1100"/>
            </a:br>
            <a:endParaRPr sz="1100"/>
          </a:p>
          <a:p>
            <a:pPr indent="-29845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</a:pPr>
            <a:r>
              <a:rPr lang="es" sz="1100"/>
              <a:t>Se asocian a una lista.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48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s" sz="2500"/>
              <a:t>Modelo conceptual</a:t>
            </a:r>
            <a:endParaRPr/>
          </a:p>
        </p:txBody>
      </p:sp>
      <p:sp>
        <p:nvSpPr>
          <p:cNvPr id="343" name="Google Shape;343;p48"/>
          <p:cNvSpPr txBox="1"/>
          <p:nvPr>
            <p:ph idx="1" type="body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298450" lvl="0" marL="457200" rtl="0" algn="l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b="1" lang="es" sz="1100"/>
              <a:t>Pagos</a:t>
            </a:r>
            <a:r>
              <a:rPr b="1" lang="es" sz="1100"/>
              <a:t>(</a:t>
            </a:r>
            <a:r>
              <a:rPr b="1" lang="es" sz="1100">
                <a:solidFill>
                  <a:srgbClr val="00FF00"/>
                </a:solidFill>
                <a:latin typeface="Roboto Mono"/>
                <a:ea typeface="Roboto Mono"/>
                <a:cs typeface="Roboto Mono"/>
                <a:sym typeface="Roboto Mono"/>
              </a:rPr>
              <a:t>listPayments</a:t>
            </a:r>
            <a:r>
              <a:rPr b="1" lang="es" sz="1100"/>
              <a:t>)</a:t>
            </a:r>
            <a:endParaRPr b="1" sz="1100"/>
          </a:p>
          <a:p>
            <a:pPr indent="0" lvl="0" marL="45720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b="1" lang="es" sz="1100"/>
              <a:t>Incluyen el nombre de la lista, ID, usuarios que han pagado, ultima actualización y quien lo actualizó</a:t>
            </a:r>
            <a:endParaRPr b="1" sz="110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49"/>
          <p:cNvSpPr txBox="1"/>
          <p:nvPr>
            <p:ph type="title"/>
          </p:nvPr>
        </p:nvSpPr>
        <p:spPr>
          <a:xfrm>
            <a:off x="823850" y="2053000"/>
            <a:ext cx="4587000" cy="1148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45720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s"/>
              <a:t>Descripción de entidades</a:t>
            </a:r>
            <a:endParaRPr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2" name="Shape 3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Google Shape;353;p50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s" sz="2500"/>
              <a:t>Descripción de entidades</a:t>
            </a:r>
            <a:endParaRPr sz="2500"/>
          </a:p>
        </p:txBody>
      </p:sp>
      <p:sp>
        <p:nvSpPr>
          <p:cNvPr id="354" name="Google Shape;354;p50"/>
          <p:cNvSpPr txBox="1"/>
          <p:nvPr>
            <p:ph idx="1" type="body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s" sz="1500"/>
              <a:t>Usuarios (</a:t>
            </a:r>
            <a:r>
              <a:rPr b="1" lang="es" sz="1500">
                <a:solidFill>
                  <a:srgbClr val="00FF00"/>
                </a:solidFill>
                <a:latin typeface="Roboto Mono"/>
                <a:ea typeface="Roboto Mono"/>
                <a:cs typeface="Roboto Mono"/>
                <a:sym typeface="Roboto Mono"/>
              </a:rPr>
              <a:t>users</a:t>
            </a:r>
            <a:r>
              <a:rPr b="1" lang="es" sz="1500"/>
              <a:t>)</a:t>
            </a:r>
            <a:endParaRPr b="1" sz="1500"/>
          </a:p>
          <a:p>
            <a:pPr indent="-323850" lvl="0" marL="457200" rtl="0" algn="l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500"/>
              <a:buChar char="●"/>
            </a:pPr>
            <a:r>
              <a:rPr lang="es" sz="1500">
                <a:solidFill>
                  <a:srgbClr val="00FF00"/>
                </a:solidFill>
                <a:latin typeface="Roboto Mono"/>
                <a:ea typeface="Roboto Mono"/>
                <a:cs typeface="Roboto Mono"/>
                <a:sym typeface="Roboto Mono"/>
              </a:rPr>
              <a:t>uid</a:t>
            </a:r>
            <a:r>
              <a:rPr lang="es" sz="1500">
                <a:solidFill>
                  <a:srgbClr val="00FF00"/>
                </a:solidFill>
              </a:rPr>
              <a:t> </a:t>
            </a:r>
            <a:r>
              <a:rPr lang="es" sz="1500"/>
              <a:t>(string, clave primaria lógica)</a:t>
            </a:r>
            <a:br>
              <a:rPr lang="es" sz="1500"/>
            </a:b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Char char="●"/>
            </a:pPr>
            <a:r>
              <a:rPr lang="es" sz="1500">
                <a:solidFill>
                  <a:srgbClr val="00FF00"/>
                </a:solidFill>
                <a:latin typeface="Roboto Mono"/>
                <a:ea typeface="Roboto Mono"/>
                <a:cs typeface="Roboto Mono"/>
                <a:sym typeface="Roboto Mono"/>
              </a:rPr>
              <a:t>email</a:t>
            </a:r>
            <a:r>
              <a:rPr lang="es" sz="1500">
                <a:solidFill>
                  <a:srgbClr val="00FF00"/>
                </a:solidFill>
              </a:rPr>
              <a:t> </a:t>
            </a:r>
            <a:r>
              <a:rPr lang="es" sz="1500"/>
              <a:t>(string, único)</a:t>
            </a:r>
            <a:br>
              <a:rPr lang="es" sz="1500"/>
            </a:b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Char char="●"/>
            </a:pPr>
            <a:r>
              <a:rPr lang="es" sz="1500">
                <a:solidFill>
                  <a:srgbClr val="00FF00"/>
                </a:solidFill>
                <a:latin typeface="Roboto Mono"/>
                <a:ea typeface="Roboto Mono"/>
                <a:cs typeface="Roboto Mono"/>
                <a:sym typeface="Roboto Mono"/>
              </a:rPr>
              <a:t>createdAt</a:t>
            </a:r>
            <a:r>
              <a:rPr lang="es" sz="1500">
                <a:solidFill>
                  <a:srgbClr val="00FF00"/>
                </a:solidFill>
              </a:rPr>
              <a:t> </a:t>
            </a:r>
            <a:r>
              <a:rPr lang="es" sz="1500"/>
              <a:t>(timestamp)</a:t>
            </a:r>
            <a:br>
              <a:rPr lang="es" sz="1500"/>
            </a:b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Char char="●"/>
            </a:pPr>
            <a:r>
              <a:rPr lang="es" sz="1500">
                <a:solidFill>
                  <a:srgbClr val="00FF00"/>
                </a:solidFill>
                <a:latin typeface="Roboto Mono"/>
                <a:ea typeface="Roboto Mono"/>
                <a:cs typeface="Roboto Mono"/>
                <a:sym typeface="Roboto Mono"/>
              </a:rPr>
              <a:t>lastLogin</a:t>
            </a:r>
            <a:r>
              <a:rPr lang="es" sz="1500">
                <a:solidFill>
                  <a:srgbClr val="00FF00"/>
                </a:solidFill>
              </a:rPr>
              <a:t> </a:t>
            </a:r>
            <a:r>
              <a:rPr lang="es" sz="1500"/>
              <a:t>(timestamp)</a:t>
            </a:r>
            <a:br>
              <a:rPr lang="es" sz="1500"/>
            </a:b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Char char="●"/>
            </a:pPr>
            <a:r>
              <a:rPr lang="es" sz="1500">
                <a:solidFill>
                  <a:srgbClr val="00FF00"/>
                </a:solidFill>
                <a:latin typeface="Roboto Mono"/>
                <a:ea typeface="Roboto Mono"/>
                <a:cs typeface="Roboto Mono"/>
                <a:sym typeface="Roboto Mono"/>
              </a:rPr>
              <a:t>searchEmail</a:t>
            </a:r>
            <a:r>
              <a:rPr lang="es" sz="1500">
                <a:solidFill>
                  <a:srgbClr val="00FF00"/>
                </a:solidFill>
              </a:rPr>
              <a:t> </a:t>
            </a:r>
            <a:r>
              <a:rPr lang="es" sz="1500"/>
              <a:t>(string, para búsquedas rápidas)</a:t>
            </a:r>
            <a:endParaRPr sz="160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8" name="Shape 3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Google Shape;359;p51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s" sz="2500"/>
              <a:t>Descripción de entidades</a:t>
            </a:r>
            <a:endParaRPr sz="2500"/>
          </a:p>
        </p:txBody>
      </p:sp>
      <p:sp>
        <p:nvSpPr>
          <p:cNvPr id="360" name="Google Shape;360;p51"/>
          <p:cNvSpPr txBox="1"/>
          <p:nvPr>
            <p:ph idx="1" type="body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85000" lnSpcReduction="20000"/>
          </a:bodyPr>
          <a:lstStyle/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s" sz="1100"/>
              <a:t>Listas (</a:t>
            </a:r>
            <a:r>
              <a:rPr b="1" lang="es" sz="1100">
                <a:solidFill>
                  <a:srgbClr val="00FF00"/>
                </a:solidFill>
                <a:latin typeface="Roboto Mono"/>
                <a:ea typeface="Roboto Mono"/>
                <a:cs typeface="Roboto Mono"/>
                <a:sym typeface="Roboto Mono"/>
              </a:rPr>
              <a:t>lists</a:t>
            </a:r>
            <a:r>
              <a:rPr b="1" lang="es" sz="1100"/>
              <a:t>)</a:t>
            </a:r>
            <a:endParaRPr b="1" sz="1100"/>
          </a:p>
          <a:p>
            <a:pPr indent="-287972" lvl="0" marL="457200" rtl="0" algn="l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ct val="100000"/>
              <a:buChar char="●"/>
            </a:pPr>
            <a:r>
              <a:rPr lang="es" sz="1100">
                <a:solidFill>
                  <a:srgbClr val="00FF00"/>
                </a:solidFill>
                <a:latin typeface="Roboto Mono"/>
                <a:ea typeface="Roboto Mono"/>
                <a:cs typeface="Roboto Mono"/>
                <a:sym typeface="Roboto Mono"/>
              </a:rPr>
              <a:t>userId</a:t>
            </a:r>
            <a:r>
              <a:rPr lang="es" sz="1100">
                <a:solidFill>
                  <a:srgbClr val="00FF00"/>
                </a:solidFill>
              </a:rPr>
              <a:t> </a:t>
            </a:r>
            <a:r>
              <a:rPr lang="es" sz="1100"/>
              <a:t>(string, referencia al propietario en </a:t>
            </a:r>
            <a:r>
              <a:rPr lang="es" sz="1100">
                <a:solidFill>
                  <a:srgbClr val="00FF00"/>
                </a:solidFill>
                <a:latin typeface="Roboto Mono"/>
                <a:ea typeface="Roboto Mono"/>
                <a:cs typeface="Roboto Mono"/>
                <a:sym typeface="Roboto Mono"/>
              </a:rPr>
              <a:t>users</a:t>
            </a:r>
            <a:r>
              <a:rPr lang="es" sz="1100"/>
              <a:t>)</a:t>
            </a:r>
            <a:br>
              <a:rPr lang="es" sz="1100"/>
            </a:br>
            <a:endParaRPr sz="1100"/>
          </a:p>
          <a:p>
            <a:pPr indent="-287972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Char char="●"/>
            </a:pPr>
            <a:r>
              <a:rPr lang="es" sz="1100">
                <a:solidFill>
                  <a:srgbClr val="00FF00"/>
                </a:solidFill>
                <a:latin typeface="Roboto Mono"/>
                <a:ea typeface="Roboto Mono"/>
                <a:cs typeface="Roboto Mono"/>
                <a:sym typeface="Roboto Mono"/>
              </a:rPr>
              <a:t>ownerEmail</a:t>
            </a:r>
            <a:r>
              <a:rPr lang="es" sz="1100">
                <a:solidFill>
                  <a:srgbClr val="00FF00"/>
                </a:solidFill>
              </a:rPr>
              <a:t> </a:t>
            </a:r>
            <a:r>
              <a:rPr lang="es" sz="1100"/>
              <a:t>(string, redundancia para mostrar sin lookup)</a:t>
            </a:r>
            <a:br>
              <a:rPr lang="es" sz="1100"/>
            </a:br>
            <a:endParaRPr sz="1100"/>
          </a:p>
          <a:p>
            <a:pPr indent="-287972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Char char="●"/>
            </a:pPr>
            <a:r>
              <a:rPr lang="es" sz="1100">
                <a:solidFill>
                  <a:srgbClr val="00FF00"/>
                </a:solidFill>
                <a:latin typeface="Roboto Mono"/>
                <a:ea typeface="Roboto Mono"/>
                <a:cs typeface="Roboto Mono"/>
                <a:sym typeface="Roboto Mono"/>
              </a:rPr>
              <a:t>name</a:t>
            </a:r>
            <a:r>
              <a:rPr lang="es" sz="1100">
                <a:solidFill>
                  <a:srgbClr val="00FF00"/>
                </a:solidFill>
              </a:rPr>
              <a:t> </a:t>
            </a:r>
            <a:r>
              <a:rPr lang="es" sz="1100"/>
              <a:t>(string)</a:t>
            </a:r>
            <a:br>
              <a:rPr lang="es" sz="1100"/>
            </a:br>
            <a:endParaRPr sz="1100"/>
          </a:p>
          <a:p>
            <a:pPr indent="-287972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Char char="●"/>
            </a:pPr>
            <a:r>
              <a:rPr lang="es" sz="1100">
                <a:solidFill>
                  <a:srgbClr val="00FF00"/>
                </a:solidFill>
                <a:latin typeface="Roboto Mono"/>
                <a:ea typeface="Roboto Mono"/>
                <a:cs typeface="Roboto Mono"/>
                <a:sym typeface="Roboto Mono"/>
              </a:rPr>
              <a:t>createdAt</a:t>
            </a:r>
            <a:r>
              <a:rPr lang="es" sz="1100">
                <a:solidFill>
                  <a:srgbClr val="00FF00"/>
                </a:solidFill>
              </a:rPr>
              <a:t> </a:t>
            </a:r>
            <a:r>
              <a:rPr lang="es" sz="1100"/>
              <a:t>(timestamp)</a:t>
            </a:r>
            <a:br>
              <a:rPr lang="es" sz="1100"/>
            </a:br>
            <a:endParaRPr sz="1100"/>
          </a:p>
          <a:p>
            <a:pPr indent="-287972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Char char="●"/>
            </a:pPr>
            <a:r>
              <a:rPr lang="es" sz="1100">
                <a:solidFill>
                  <a:srgbClr val="00FF00"/>
                </a:solidFill>
                <a:latin typeface="Roboto Mono"/>
                <a:ea typeface="Roboto Mono"/>
                <a:cs typeface="Roboto Mono"/>
                <a:sym typeface="Roboto Mono"/>
              </a:rPr>
              <a:t>finalizedAt</a:t>
            </a:r>
            <a:r>
              <a:rPr lang="es" sz="1100">
                <a:solidFill>
                  <a:srgbClr val="00FF00"/>
                </a:solidFill>
              </a:rPr>
              <a:t> </a:t>
            </a:r>
            <a:r>
              <a:rPr lang="es" sz="1100"/>
              <a:t>(timestamp, opcional)</a:t>
            </a:r>
            <a:br>
              <a:rPr lang="es" sz="1100"/>
            </a:br>
            <a:endParaRPr sz="1100"/>
          </a:p>
          <a:p>
            <a:pPr indent="-287972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Char char="●"/>
            </a:pPr>
            <a:r>
              <a:rPr lang="es" sz="1100">
                <a:solidFill>
                  <a:srgbClr val="00FF00"/>
                </a:solidFill>
                <a:latin typeface="Roboto Mono"/>
                <a:ea typeface="Roboto Mono"/>
                <a:cs typeface="Roboto Mono"/>
                <a:sym typeface="Roboto Mono"/>
              </a:rPr>
              <a:t>finalizedBy</a:t>
            </a:r>
            <a:r>
              <a:rPr lang="es" sz="1100">
                <a:solidFill>
                  <a:srgbClr val="00FF00"/>
                </a:solidFill>
              </a:rPr>
              <a:t> </a:t>
            </a:r>
            <a:r>
              <a:rPr lang="es" sz="1100"/>
              <a:t>(string, correo de quien finalizó)</a:t>
            </a:r>
            <a:br>
              <a:rPr lang="es" sz="1100"/>
            </a:br>
            <a:endParaRPr sz="1100"/>
          </a:p>
          <a:p>
            <a:pPr indent="-287972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Char char="●"/>
            </a:pPr>
            <a:r>
              <a:rPr lang="es" sz="1100">
                <a:solidFill>
                  <a:srgbClr val="00FF00"/>
                </a:solidFill>
                <a:latin typeface="Roboto Mono"/>
                <a:ea typeface="Roboto Mono"/>
                <a:cs typeface="Roboto Mono"/>
                <a:sym typeface="Roboto Mono"/>
              </a:rPr>
              <a:t>sharedWith</a:t>
            </a:r>
            <a:r>
              <a:rPr lang="es" sz="1100">
                <a:solidFill>
                  <a:srgbClr val="00FF00"/>
                </a:solidFill>
              </a:rPr>
              <a:t> </a:t>
            </a:r>
            <a:r>
              <a:rPr lang="es" sz="1100"/>
              <a:t>(array de correos)</a:t>
            </a:r>
            <a:br>
              <a:rPr lang="es" sz="1100"/>
            </a:br>
            <a:endParaRPr sz="1100"/>
          </a:p>
          <a:p>
            <a:pPr indent="-287972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Char char="●"/>
            </a:pPr>
            <a:r>
              <a:rPr lang="es" sz="1100">
                <a:solidFill>
                  <a:srgbClr val="00FF00"/>
                </a:solidFill>
                <a:latin typeface="Roboto Mono"/>
                <a:ea typeface="Roboto Mono"/>
                <a:cs typeface="Roboto Mono"/>
                <a:sym typeface="Roboto Mono"/>
              </a:rPr>
              <a:t>purchaseInfo</a:t>
            </a:r>
            <a:r>
              <a:rPr lang="es" sz="1100">
                <a:solidFill>
                  <a:srgbClr val="00FF00"/>
                </a:solidFill>
              </a:rPr>
              <a:t> </a:t>
            </a:r>
            <a:r>
              <a:rPr lang="es" sz="1100"/>
              <a:t>(mapa con metadatos de compra)</a:t>
            </a:r>
            <a:br>
              <a:rPr lang="es" sz="1100"/>
            </a:br>
            <a:endParaRPr sz="1100"/>
          </a:p>
          <a:p>
            <a:pPr indent="-287972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Char char="●"/>
            </a:pPr>
            <a:r>
              <a:rPr lang="es" sz="1100">
                <a:solidFill>
                  <a:srgbClr val="00FF00"/>
                </a:solidFill>
                <a:latin typeface="Roboto Mono"/>
                <a:ea typeface="Roboto Mono"/>
                <a:cs typeface="Roboto Mono"/>
                <a:sym typeface="Roboto Mono"/>
              </a:rPr>
              <a:t>totalPrice</a:t>
            </a:r>
            <a:r>
              <a:rPr lang="es" sz="1100">
                <a:solidFill>
                  <a:srgbClr val="00FF00"/>
                </a:solidFill>
              </a:rPr>
              <a:t> </a:t>
            </a:r>
            <a:r>
              <a:rPr lang="es" sz="1100"/>
              <a:t>(number, suma de todos los productos)</a:t>
            </a:r>
            <a:endParaRPr b="1" sz="150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4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p52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s" sz="2500"/>
              <a:t>Descripción de entidades</a:t>
            </a:r>
            <a:endParaRPr sz="2500"/>
          </a:p>
        </p:txBody>
      </p:sp>
      <p:sp>
        <p:nvSpPr>
          <p:cNvPr id="366" name="Google Shape;366;p52"/>
          <p:cNvSpPr txBox="1"/>
          <p:nvPr>
            <p:ph idx="1" type="body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20000"/>
          </a:bodyPr>
          <a:lstStyle/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s" sz="1100"/>
              <a:t>Productos (</a:t>
            </a:r>
            <a:r>
              <a:rPr b="1" lang="es" sz="1100">
                <a:solidFill>
                  <a:srgbClr val="00FF00"/>
                </a:solidFill>
                <a:latin typeface="Roboto Mono"/>
                <a:ea typeface="Roboto Mono"/>
                <a:cs typeface="Roboto Mono"/>
                <a:sym typeface="Roboto Mono"/>
              </a:rPr>
              <a:t>items</a:t>
            </a:r>
            <a:r>
              <a:rPr b="1" lang="es" sz="1100"/>
              <a:t>)</a:t>
            </a:r>
            <a:endParaRPr b="1" sz="1100"/>
          </a:p>
          <a:p>
            <a:pPr indent="-298450" lvl="0" marL="457200" rtl="0" algn="l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lang="es" sz="1100">
                <a:solidFill>
                  <a:srgbClr val="00FF00"/>
                </a:solidFill>
                <a:latin typeface="Roboto Mono"/>
                <a:ea typeface="Roboto Mono"/>
                <a:cs typeface="Roboto Mono"/>
                <a:sym typeface="Roboto Mono"/>
              </a:rPr>
              <a:t>listId</a:t>
            </a:r>
            <a:r>
              <a:rPr lang="es" sz="1100">
                <a:solidFill>
                  <a:srgbClr val="00FF00"/>
                </a:solidFill>
              </a:rPr>
              <a:t> </a:t>
            </a:r>
            <a:r>
              <a:rPr lang="es" sz="1100"/>
              <a:t>(string, referencia a </a:t>
            </a:r>
            <a:r>
              <a:rPr lang="es" sz="1100">
                <a:latin typeface="Roboto Mono"/>
                <a:ea typeface="Roboto Mono"/>
                <a:cs typeface="Roboto Mono"/>
                <a:sym typeface="Roboto Mono"/>
              </a:rPr>
              <a:t>lists</a:t>
            </a:r>
            <a:r>
              <a:rPr lang="es" sz="1100"/>
              <a:t>)</a:t>
            </a:r>
            <a:br>
              <a:rPr lang="es" sz="1100"/>
            </a:br>
            <a:endParaRPr sz="1100"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lang="es" sz="1100">
                <a:solidFill>
                  <a:srgbClr val="00FF00"/>
                </a:solidFill>
                <a:latin typeface="Roboto Mono"/>
                <a:ea typeface="Roboto Mono"/>
                <a:cs typeface="Roboto Mono"/>
                <a:sym typeface="Roboto Mono"/>
              </a:rPr>
              <a:t>text</a:t>
            </a:r>
            <a:r>
              <a:rPr lang="es" sz="1100">
                <a:solidFill>
                  <a:srgbClr val="00FF00"/>
                </a:solidFill>
              </a:rPr>
              <a:t> </a:t>
            </a:r>
            <a:r>
              <a:rPr lang="es" sz="1100"/>
              <a:t>(string, nombre del producto)</a:t>
            </a:r>
            <a:br>
              <a:rPr lang="es" sz="1100"/>
            </a:br>
            <a:endParaRPr sz="1100"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lang="es" sz="1100">
                <a:solidFill>
                  <a:srgbClr val="00FF00"/>
                </a:solidFill>
                <a:latin typeface="Roboto Mono"/>
                <a:ea typeface="Roboto Mono"/>
                <a:cs typeface="Roboto Mono"/>
                <a:sym typeface="Roboto Mono"/>
              </a:rPr>
              <a:t>category</a:t>
            </a:r>
            <a:r>
              <a:rPr lang="es" sz="1100">
                <a:solidFill>
                  <a:srgbClr val="00FF00"/>
                </a:solidFill>
              </a:rPr>
              <a:t> </a:t>
            </a:r>
            <a:r>
              <a:rPr lang="es" sz="1100"/>
              <a:t>(string, categoría general, ej. DAIRY)</a:t>
            </a:r>
            <a:br>
              <a:rPr lang="es" sz="1100"/>
            </a:br>
            <a:endParaRPr sz="1100"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lang="es" sz="1100">
                <a:solidFill>
                  <a:srgbClr val="00FF00"/>
                </a:solidFill>
                <a:latin typeface="Roboto Mono"/>
                <a:ea typeface="Roboto Mono"/>
                <a:cs typeface="Roboto Mono"/>
                <a:sym typeface="Roboto Mono"/>
              </a:rPr>
              <a:t>completed</a:t>
            </a:r>
            <a:r>
              <a:rPr lang="es" sz="1100">
                <a:solidFill>
                  <a:srgbClr val="00FF00"/>
                </a:solidFill>
              </a:rPr>
              <a:t> </a:t>
            </a:r>
            <a:r>
              <a:rPr lang="es" sz="1100"/>
              <a:t>(boolean, comprado o no)</a:t>
            </a:r>
            <a:br>
              <a:rPr lang="es" sz="1100"/>
            </a:br>
            <a:endParaRPr sz="1100"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lang="es" sz="1100">
                <a:solidFill>
                  <a:srgbClr val="00FF00"/>
                </a:solidFill>
                <a:latin typeface="Roboto Mono"/>
                <a:ea typeface="Roboto Mono"/>
                <a:cs typeface="Roboto Mono"/>
                <a:sym typeface="Roboto Mono"/>
              </a:rPr>
              <a:t>addedBy</a:t>
            </a:r>
            <a:r>
              <a:rPr lang="es" sz="1100">
                <a:solidFill>
                  <a:srgbClr val="00FF00"/>
                </a:solidFill>
              </a:rPr>
              <a:t> </a:t>
            </a:r>
            <a:r>
              <a:rPr lang="es" sz="1100"/>
              <a:t>(string, correo del usuario)</a:t>
            </a:r>
            <a:br>
              <a:rPr lang="es" sz="1100"/>
            </a:br>
            <a:endParaRPr sz="1100"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lang="es" sz="1100">
                <a:solidFill>
                  <a:srgbClr val="00FF00"/>
                </a:solidFill>
                <a:latin typeface="Roboto Mono"/>
                <a:ea typeface="Roboto Mono"/>
                <a:cs typeface="Roboto Mono"/>
                <a:sym typeface="Roboto Mono"/>
              </a:rPr>
              <a:t>purchasedBy</a:t>
            </a:r>
            <a:r>
              <a:rPr lang="es" sz="1100">
                <a:solidFill>
                  <a:srgbClr val="00FF00"/>
                </a:solidFill>
              </a:rPr>
              <a:t> </a:t>
            </a:r>
            <a:r>
              <a:rPr lang="es" sz="1100"/>
              <a:t>(string, correo del comprador, opcional)</a:t>
            </a:r>
            <a:br>
              <a:rPr lang="es" sz="1100"/>
            </a:br>
            <a:endParaRPr sz="1100"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lang="es" sz="1100">
                <a:solidFill>
                  <a:srgbClr val="00FF00"/>
                </a:solidFill>
                <a:latin typeface="Roboto Mono"/>
                <a:ea typeface="Roboto Mono"/>
                <a:cs typeface="Roboto Mono"/>
                <a:sym typeface="Roboto Mono"/>
              </a:rPr>
              <a:t>createdAt</a:t>
            </a:r>
            <a:r>
              <a:rPr lang="es" sz="1100">
                <a:solidFill>
                  <a:srgbClr val="00FF00"/>
                </a:solidFill>
              </a:rPr>
              <a:t> </a:t>
            </a:r>
            <a:r>
              <a:rPr lang="es" sz="1100"/>
              <a:t>(timestamp)</a:t>
            </a:r>
            <a:br>
              <a:rPr lang="es" sz="1100"/>
            </a:br>
            <a:endParaRPr sz="1100"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lang="es" sz="1100">
                <a:solidFill>
                  <a:srgbClr val="00FF00"/>
                </a:solidFill>
                <a:latin typeface="Roboto Mono"/>
                <a:ea typeface="Roboto Mono"/>
                <a:cs typeface="Roboto Mono"/>
                <a:sym typeface="Roboto Mono"/>
              </a:rPr>
              <a:t>userId</a:t>
            </a:r>
            <a:r>
              <a:rPr lang="es" sz="1100">
                <a:solidFill>
                  <a:srgbClr val="00FF00"/>
                </a:solidFill>
              </a:rPr>
              <a:t> </a:t>
            </a:r>
            <a:r>
              <a:rPr lang="es" sz="1100"/>
              <a:t>(string, referencia a </a:t>
            </a:r>
            <a:r>
              <a:rPr lang="es" sz="1100">
                <a:latin typeface="Roboto Mono"/>
                <a:ea typeface="Roboto Mono"/>
                <a:cs typeface="Roboto Mono"/>
                <a:sym typeface="Roboto Mono"/>
              </a:rPr>
              <a:t>users</a:t>
            </a:r>
            <a:r>
              <a:rPr lang="es" sz="1100"/>
              <a:t>)</a:t>
            </a:r>
            <a:endParaRPr b="1" sz="150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0" name="Shape 3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Google Shape;371;p53"/>
          <p:cNvSpPr txBox="1"/>
          <p:nvPr>
            <p:ph type="title"/>
          </p:nvPr>
        </p:nvSpPr>
        <p:spPr>
          <a:xfrm>
            <a:off x="1297500" y="401225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s" sz="2500"/>
              <a:t>Descripción de entidades</a:t>
            </a:r>
            <a:endParaRPr sz="2500"/>
          </a:p>
        </p:txBody>
      </p:sp>
      <p:sp>
        <p:nvSpPr>
          <p:cNvPr id="372" name="Google Shape;372;p53"/>
          <p:cNvSpPr txBox="1"/>
          <p:nvPr>
            <p:ph idx="1" type="body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s" sz="1500"/>
              <a:t>Observaciones (</a:t>
            </a:r>
            <a:r>
              <a:rPr b="1" lang="es" sz="1500">
                <a:solidFill>
                  <a:srgbClr val="00FF00"/>
                </a:solidFill>
                <a:latin typeface="Roboto Mono"/>
                <a:ea typeface="Roboto Mono"/>
                <a:cs typeface="Roboto Mono"/>
                <a:sym typeface="Roboto Mono"/>
              </a:rPr>
              <a:t>listObservations</a:t>
            </a:r>
            <a:r>
              <a:rPr b="1" lang="es" sz="1500"/>
              <a:t>)</a:t>
            </a:r>
            <a:endParaRPr b="1" sz="1500"/>
          </a:p>
          <a:p>
            <a:pPr indent="-323850" lvl="0" marL="457200" rtl="0" algn="l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500"/>
              <a:buChar char="●"/>
            </a:pPr>
            <a:r>
              <a:rPr lang="es" sz="1500">
                <a:solidFill>
                  <a:srgbClr val="00FF00"/>
                </a:solidFill>
                <a:latin typeface="Roboto Mono"/>
                <a:ea typeface="Roboto Mono"/>
                <a:cs typeface="Roboto Mono"/>
                <a:sym typeface="Roboto Mono"/>
              </a:rPr>
              <a:t>observations</a:t>
            </a:r>
            <a:r>
              <a:rPr lang="es" sz="1500">
                <a:solidFill>
                  <a:srgbClr val="00FF00"/>
                </a:solidFill>
              </a:rPr>
              <a:t> </a:t>
            </a:r>
            <a:r>
              <a:rPr lang="es" sz="1500"/>
              <a:t>(string)</a:t>
            </a:r>
            <a:br>
              <a:rPr lang="es" sz="1500"/>
            </a:b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Char char="●"/>
            </a:pPr>
            <a:r>
              <a:rPr lang="es" sz="1500">
                <a:solidFill>
                  <a:srgbClr val="00FF00"/>
                </a:solidFill>
                <a:latin typeface="Roboto Mono"/>
                <a:ea typeface="Roboto Mono"/>
                <a:cs typeface="Roboto Mono"/>
                <a:sym typeface="Roboto Mono"/>
              </a:rPr>
              <a:t>updatedBy</a:t>
            </a:r>
            <a:r>
              <a:rPr lang="es" sz="1500">
                <a:solidFill>
                  <a:srgbClr val="00FF00"/>
                </a:solidFill>
              </a:rPr>
              <a:t> </a:t>
            </a:r>
            <a:r>
              <a:rPr lang="es" sz="1500"/>
              <a:t>(string, correo del autor/modificador)</a:t>
            </a:r>
            <a:br>
              <a:rPr lang="es" sz="1500"/>
            </a:b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Char char="●"/>
            </a:pPr>
            <a:r>
              <a:rPr lang="es" sz="1500">
                <a:solidFill>
                  <a:srgbClr val="00FF00"/>
                </a:solidFill>
                <a:latin typeface="Roboto Mono"/>
                <a:ea typeface="Roboto Mono"/>
                <a:cs typeface="Roboto Mono"/>
                <a:sym typeface="Roboto Mono"/>
              </a:rPr>
              <a:t>updatedAt</a:t>
            </a:r>
            <a:r>
              <a:rPr lang="es" sz="1500">
                <a:solidFill>
                  <a:srgbClr val="00FF00"/>
                </a:solidFill>
              </a:rPr>
              <a:t> </a:t>
            </a:r>
            <a:r>
              <a:rPr lang="es" sz="1500"/>
              <a:t>(timestamp)</a:t>
            </a:r>
            <a:endParaRPr b="1" sz="190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6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54"/>
          <p:cNvSpPr txBox="1"/>
          <p:nvPr>
            <p:ph type="title"/>
          </p:nvPr>
        </p:nvSpPr>
        <p:spPr>
          <a:xfrm>
            <a:off x="1297500" y="401225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s" sz="2500"/>
              <a:t>Descripción de entidades</a:t>
            </a:r>
            <a:endParaRPr sz="2500"/>
          </a:p>
        </p:txBody>
      </p:sp>
      <p:sp>
        <p:nvSpPr>
          <p:cNvPr id="378" name="Google Shape;378;p54"/>
          <p:cNvSpPr txBox="1"/>
          <p:nvPr>
            <p:ph idx="1" type="body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s" sz="1500"/>
              <a:t>Pagos</a:t>
            </a:r>
            <a:r>
              <a:rPr b="1" lang="es" sz="1500"/>
              <a:t>(</a:t>
            </a:r>
            <a:r>
              <a:rPr b="1" lang="es" sz="1500">
                <a:solidFill>
                  <a:srgbClr val="00FF00"/>
                </a:solidFill>
                <a:latin typeface="Roboto Mono"/>
                <a:ea typeface="Roboto Mono"/>
                <a:cs typeface="Roboto Mono"/>
                <a:sym typeface="Roboto Mono"/>
              </a:rPr>
              <a:t>listPayments</a:t>
            </a:r>
            <a:r>
              <a:rPr b="1" lang="es" sz="1500"/>
              <a:t>)</a:t>
            </a:r>
            <a:endParaRPr b="1" sz="15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 sz="1500">
                <a:solidFill>
                  <a:srgbClr val="00FF00"/>
                </a:solidFill>
                <a:latin typeface="Roboto Mono"/>
                <a:ea typeface="Roboto Mono"/>
                <a:cs typeface="Roboto Mono"/>
                <a:sym typeface="Roboto Mono"/>
              </a:rPr>
              <a:t>listId</a:t>
            </a:r>
            <a:r>
              <a:rPr lang="es" sz="1500"/>
              <a:t>(string)</a:t>
            </a:r>
            <a:endParaRPr sz="15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 sz="1500">
                <a:solidFill>
                  <a:srgbClr val="00FF00"/>
                </a:solidFill>
                <a:latin typeface="Roboto Mono"/>
                <a:ea typeface="Roboto Mono"/>
                <a:cs typeface="Roboto Mono"/>
                <a:sym typeface="Roboto Mono"/>
              </a:rPr>
              <a:t>listName</a:t>
            </a:r>
            <a:r>
              <a:rPr lang="es" sz="1500"/>
              <a:t>(string)</a:t>
            </a:r>
            <a:endParaRPr sz="15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 sz="1500">
                <a:solidFill>
                  <a:srgbClr val="00FF00"/>
                </a:solidFill>
                <a:latin typeface="Roboto Mono"/>
                <a:ea typeface="Roboto Mono"/>
                <a:cs typeface="Roboto Mono"/>
                <a:sym typeface="Roboto Mono"/>
              </a:rPr>
              <a:t>paymentParticipants</a:t>
            </a:r>
            <a:r>
              <a:rPr lang="es" sz="1500"/>
              <a:t>(</a:t>
            </a:r>
            <a:r>
              <a:rPr lang="es" sz="1500"/>
              <a:t>Array</a:t>
            </a:r>
            <a:r>
              <a:rPr lang="es" sz="1500"/>
              <a:t>)</a:t>
            </a:r>
            <a:endParaRPr sz="15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 sz="1500">
                <a:solidFill>
                  <a:srgbClr val="00FF00"/>
                </a:solidFill>
                <a:latin typeface="Roboto Mono"/>
                <a:ea typeface="Roboto Mono"/>
                <a:cs typeface="Roboto Mono"/>
                <a:sym typeface="Roboto Mono"/>
              </a:rPr>
              <a:t>payments</a:t>
            </a:r>
            <a:r>
              <a:rPr lang="es" sz="1500"/>
              <a:t>(Array)</a:t>
            </a:r>
            <a:endParaRPr sz="1500">
              <a:solidFill>
                <a:srgbClr val="00FF00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 sz="1500">
                <a:solidFill>
                  <a:srgbClr val="00FF00"/>
                </a:solidFill>
                <a:latin typeface="Roboto Mono"/>
                <a:ea typeface="Roboto Mono"/>
                <a:cs typeface="Roboto Mono"/>
                <a:sym typeface="Roboto Mono"/>
              </a:rPr>
              <a:t>totalAmount</a:t>
            </a:r>
            <a:r>
              <a:rPr lang="es" sz="1500"/>
              <a:t>(int)</a:t>
            </a:r>
            <a:endParaRPr sz="1500">
              <a:solidFill>
                <a:srgbClr val="00FF00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 sz="1500">
                <a:solidFill>
                  <a:srgbClr val="00FF00"/>
                </a:solidFill>
                <a:latin typeface="Roboto Mono"/>
                <a:ea typeface="Roboto Mono"/>
                <a:cs typeface="Roboto Mono"/>
                <a:sym typeface="Roboto Mono"/>
              </a:rPr>
              <a:t>updatedAt</a:t>
            </a:r>
            <a:r>
              <a:rPr lang="es" sz="1500"/>
              <a:t>(timestamp)</a:t>
            </a:r>
            <a:endParaRPr sz="1500">
              <a:solidFill>
                <a:srgbClr val="00FF00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s" sz="1500">
                <a:solidFill>
                  <a:srgbClr val="00FF00"/>
                </a:solidFill>
                <a:latin typeface="Roboto Mono"/>
                <a:ea typeface="Roboto Mono"/>
                <a:cs typeface="Roboto Mono"/>
                <a:sym typeface="Roboto Mono"/>
              </a:rPr>
              <a:t>updatedBy</a:t>
            </a:r>
            <a:r>
              <a:rPr lang="es" sz="1500"/>
              <a:t>(timestamp)</a:t>
            </a:r>
            <a:endParaRPr sz="1500">
              <a:solidFill>
                <a:srgbClr val="00FF00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2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p55"/>
          <p:cNvSpPr txBox="1"/>
          <p:nvPr>
            <p:ph type="title"/>
          </p:nvPr>
        </p:nvSpPr>
        <p:spPr>
          <a:xfrm>
            <a:off x="823850" y="2053000"/>
            <a:ext cx="4587000" cy="1148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/>
              <a:t>Descripción de interrelaciones</a:t>
            </a:r>
            <a:endParaRPr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7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p56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Descripción de interrelaciones</a:t>
            </a:r>
            <a:endParaRPr/>
          </a:p>
        </p:txBody>
      </p:sp>
      <p:sp>
        <p:nvSpPr>
          <p:cNvPr id="389" name="Google Shape;389;p56"/>
          <p:cNvSpPr txBox="1"/>
          <p:nvPr>
            <p:ph idx="1" type="body"/>
          </p:nvPr>
        </p:nvSpPr>
        <p:spPr>
          <a:xfrm>
            <a:off x="311700" y="1152475"/>
            <a:ext cx="8520600" cy="3770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s" sz="1500"/>
              <a:t>Un usuario</a:t>
            </a:r>
            <a:r>
              <a:rPr lang="es" sz="1500"/>
              <a:t> puede tener </a:t>
            </a:r>
            <a:r>
              <a:rPr b="1" lang="es" sz="1500"/>
              <a:t>varias listas</a:t>
            </a:r>
            <a:r>
              <a:rPr lang="es" sz="1500"/>
              <a:t> (relación 1:N).</a:t>
            </a:r>
            <a:br>
              <a:rPr lang="es" sz="1500"/>
            </a:br>
            <a:endParaRPr sz="15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s" sz="1500"/>
              <a:t>Una lista</a:t>
            </a:r>
            <a:r>
              <a:rPr lang="es" sz="1500"/>
              <a:t> puede estar compartida con </a:t>
            </a:r>
            <a:r>
              <a:rPr b="1" lang="es" sz="1500"/>
              <a:t>varios usuarios</a:t>
            </a:r>
            <a:r>
              <a:rPr lang="es" sz="1500"/>
              <a:t> (relación N:M, implementada con </a:t>
            </a:r>
            <a:r>
              <a:rPr lang="es" sz="1500">
                <a:solidFill>
                  <a:srgbClr val="00FF00"/>
                </a:solidFill>
                <a:latin typeface="Roboto Mono"/>
                <a:ea typeface="Roboto Mono"/>
                <a:cs typeface="Roboto Mono"/>
                <a:sym typeface="Roboto Mono"/>
              </a:rPr>
              <a:t>sharedWith</a:t>
            </a:r>
            <a:r>
              <a:rPr lang="es" sz="1500"/>
              <a:t>).</a:t>
            </a:r>
            <a:br>
              <a:rPr lang="es" sz="1500"/>
            </a:br>
            <a:endParaRPr sz="15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s" sz="1500"/>
              <a:t>Una lista</a:t>
            </a:r>
            <a:r>
              <a:rPr lang="es" sz="1500"/>
              <a:t> contiene </a:t>
            </a:r>
            <a:r>
              <a:rPr b="1" lang="es" sz="1500"/>
              <a:t>varios productos</a:t>
            </a:r>
            <a:r>
              <a:rPr lang="es" sz="1500"/>
              <a:t> (relación 1:N vía </a:t>
            </a:r>
            <a:r>
              <a:rPr lang="es" sz="1500">
                <a:solidFill>
                  <a:srgbClr val="00FF00"/>
                </a:solidFill>
                <a:latin typeface="Roboto Mono"/>
                <a:ea typeface="Roboto Mono"/>
                <a:cs typeface="Roboto Mono"/>
                <a:sym typeface="Roboto Mono"/>
              </a:rPr>
              <a:t>listId</a:t>
            </a:r>
            <a:r>
              <a:rPr lang="es" sz="1500"/>
              <a:t>).</a:t>
            </a:r>
            <a:br>
              <a:rPr lang="es" sz="1500"/>
            </a:br>
            <a:endParaRPr sz="15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s" sz="1500"/>
              <a:t>Una lista</a:t>
            </a:r>
            <a:r>
              <a:rPr lang="es" sz="1500"/>
              <a:t> puede tener </a:t>
            </a:r>
            <a:r>
              <a:rPr b="1" lang="es" sz="1500"/>
              <a:t>varias observaciones</a:t>
            </a:r>
            <a:r>
              <a:rPr lang="es" sz="1500"/>
              <a:t> (relación 1:N).</a:t>
            </a:r>
            <a:br>
              <a:rPr lang="es" sz="1500"/>
            </a:br>
            <a:endParaRPr sz="1500"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b="1" lang="es" sz="1500"/>
              <a:t>Un producto</a:t>
            </a:r>
            <a:r>
              <a:rPr lang="es" sz="1500"/>
              <a:t> pertenece a una sola lista, pero puede ser añadido y comprado por usuarios distintos.</a:t>
            </a:r>
            <a:endParaRPr sz="220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3" name="Shape 3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Google Shape;394;p57"/>
          <p:cNvSpPr txBox="1"/>
          <p:nvPr>
            <p:ph type="title"/>
          </p:nvPr>
        </p:nvSpPr>
        <p:spPr>
          <a:xfrm>
            <a:off x="823850" y="2053000"/>
            <a:ext cx="4587000" cy="1148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Modelo lógico de datos</a:t>
            </a:r>
            <a:endParaRPr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8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p58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Modelo lógico de datos</a:t>
            </a:r>
            <a:endParaRPr/>
          </a:p>
        </p:txBody>
      </p:sp>
      <p:sp>
        <p:nvSpPr>
          <p:cNvPr id="400" name="Google Shape;400;p58"/>
          <p:cNvSpPr txBox="1"/>
          <p:nvPr>
            <p:ph idx="1" type="body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/>
              <a:t>users (colección)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/>
              <a:t>  └── {uid} (documento)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/>
              <a:t>        - email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/>
              <a:t>        - createdAt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/>
              <a:t>        - lastLogin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/>
              <a:t>        - searchEmail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p59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Modelo lógico de datos</a:t>
            </a:r>
            <a:endParaRPr/>
          </a:p>
        </p:txBody>
      </p:sp>
      <p:sp>
        <p:nvSpPr>
          <p:cNvPr id="406" name="Google Shape;406;p59"/>
          <p:cNvSpPr txBox="1"/>
          <p:nvPr>
            <p:ph idx="1" type="body"/>
          </p:nvPr>
        </p:nvSpPr>
        <p:spPr>
          <a:xfrm>
            <a:off x="1054125" y="892350"/>
            <a:ext cx="7778100" cy="4130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58"/>
              <a:buNone/>
            </a:pPr>
            <a:r>
              <a:rPr lang="es" sz="1047"/>
              <a:t>lists (colección)</a:t>
            </a:r>
            <a:endParaRPr sz="1047"/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SzPts val="358"/>
              <a:buNone/>
            </a:pPr>
            <a:r>
              <a:rPr lang="es" sz="1047"/>
              <a:t>  └── {listId} (documento)</a:t>
            </a:r>
            <a:endParaRPr sz="1047"/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SzPts val="358"/>
              <a:buNone/>
            </a:pPr>
            <a:r>
              <a:rPr lang="es" sz="1047"/>
              <a:t>        - name</a:t>
            </a:r>
            <a:endParaRPr sz="1047"/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SzPts val="358"/>
              <a:buNone/>
            </a:pPr>
            <a:r>
              <a:rPr lang="es" sz="1047"/>
              <a:t>        - ownerEmail</a:t>
            </a:r>
            <a:endParaRPr sz="1047"/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SzPts val="358"/>
              <a:buNone/>
            </a:pPr>
            <a:r>
              <a:rPr lang="es" sz="1047"/>
              <a:t>        - userId</a:t>
            </a:r>
            <a:endParaRPr sz="1047"/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SzPts val="358"/>
              <a:buNone/>
            </a:pPr>
            <a:r>
              <a:rPr lang="es" sz="1047"/>
              <a:t>        - createdAt</a:t>
            </a:r>
            <a:endParaRPr sz="1047"/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SzPts val="358"/>
              <a:buNone/>
            </a:pPr>
            <a:r>
              <a:rPr lang="es" sz="1047"/>
              <a:t>        - finalizedAt</a:t>
            </a:r>
            <a:endParaRPr sz="1047"/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SzPts val="358"/>
              <a:buNone/>
            </a:pPr>
            <a:r>
              <a:rPr lang="es" sz="1047"/>
              <a:t>        - finalizedBy</a:t>
            </a:r>
            <a:endParaRPr sz="1047"/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SzPts val="358"/>
              <a:buNone/>
            </a:pPr>
            <a:r>
              <a:rPr lang="es" sz="1047"/>
              <a:t>        - sharedWith [array]</a:t>
            </a:r>
            <a:endParaRPr sz="1047"/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SzPts val="358"/>
              <a:buNone/>
            </a:pPr>
            <a:r>
              <a:rPr lang="es" sz="1047"/>
              <a:t>        - purchaseInfo {map}</a:t>
            </a:r>
            <a:endParaRPr sz="1047"/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SzPts val="358"/>
              <a:buNone/>
            </a:pPr>
            <a:r>
              <a:rPr lang="es" sz="1047"/>
              <a:t>        - totalPrice</a:t>
            </a:r>
            <a:endParaRPr sz="1047"/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SzPts val="358"/>
              <a:buNone/>
            </a:pPr>
            <a:r>
              <a:rPr lang="es" sz="1047"/>
              <a:t>        - expenseSplit {map}</a:t>
            </a:r>
            <a:endParaRPr sz="1047"/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SzPts val="358"/>
              <a:buNone/>
            </a:pPr>
            <a:r>
              <a:rPr lang="es" sz="1047"/>
              <a:t>        - extraInfo</a:t>
            </a:r>
            <a:endParaRPr sz="1047"/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1200"/>
              </a:spcAft>
              <a:buSzPts val="358"/>
              <a:buNone/>
            </a:pPr>
            <a:r>
              <a:t/>
            </a:r>
            <a:endParaRPr sz="785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0" name="Shape 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Google Shape;411;p60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Modelo lógico de datos</a:t>
            </a:r>
            <a:endParaRPr/>
          </a:p>
        </p:txBody>
      </p:sp>
      <p:sp>
        <p:nvSpPr>
          <p:cNvPr id="412" name="Google Shape;412;p60"/>
          <p:cNvSpPr txBox="1"/>
          <p:nvPr>
            <p:ph idx="1" type="body"/>
          </p:nvPr>
        </p:nvSpPr>
        <p:spPr>
          <a:xfrm>
            <a:off x="311700" y="1307850"/>
            <a:ext cx="8520600" cy="3760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852"/>
              <a:buNone/>
            </a:pPr>
            <a:r>
              <a:rPr lang="es" sz="1595"/>
              <a:t>items (colección)</a:t>
            </a:r>
            <a:endParaRPr sz="1595"/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852"/>
              <a:buNone/>
            </a:pPr>
            <a:r>
              <a:rPr lang="es" sz="1595"/>
              <a:t>  └── {itemId} (documento)</a:t>
            </a:r>
            <a:endParaRPr sz="1595"/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852"/>
              <a:buNone/>
            </a:pPr>
            <a:r>
              <a:rPr lang="es" sz="1595"/>
              <a:t>        - listId</a:t>
            </a:r>
            <a:endParaRPr sz="1595"/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852"/>
              <a:buNone/>
            </a:pPr>
            <a:r>
              <a:rPr lang="es" sz="1595"/>
              <a:t>        - text</a:t>
            </a:r>
            <a:endParaRPr sz="1595"/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852"/>
              <a:buNone/>
            </a:pPr>
            <a:r>
              <a:rPr lang="es" sz="1595"/>
              <a:t>        - category</a:t>
            </a:r>
            <a:endParaRPr sz="1595"/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852"/>
              <a:buNone/>
            </a:pPr>
            <a:r>
              <a:rPr lang="es" sz="1595"/>
              <a:t>        - completed</a:t>
            </a:r>
            <a:endParaRPr sz="1595"/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852"/>
              <a:buNone/>
            </a:pPr>
            <a:r>
              <a:rPr lang="es" sz="1595"/>
              <a:t>        - addedBy</a:t>
            </a:r>
            <a:endParaRPr sz="1595"/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852"/>
              <a:buNone/>
            </a:pPr>
            <a:r>
              <a:rPr lang="es" sz="1595"/>
              <a:t>        - purchasedBy</a:t>
            </a:r>
            <a:endParaRPr sz="1595"/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852"/>
              <a:buNone/>
            </a:pPr>
            <a:r>
              <a:rPr lang="es" sz="1595"/>
              <a:t>        - createdAt</a:t>
            </a:r>
            <a:endParaRPr sz="1595"/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1200"/>
              </a:spcAft>
              <a:buSzPts val="852"/>
              <a:buNone/>
            </a:pPr>
            <a:r>
              <a:rPr lang="es" sz="1595"/>
              <a:t>        - userId</a:t>
            </a:r>
            <a:endParaRPr sz="1595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61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Modelo lógico de datos</a:t>
            </a:r>
            <a:endParaRPr/>
          </a:p>
        </p:txBody>
      </p:sp>
      <p:sp>
        <p:nvSpPr>
          <p:cNvPr id="418" name="Google Shape;418;p61"/>
          <p:cNvSpPr txBox="1"/>
          <p:nvPr>
            <p:ph idx="1" type="body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2400"/>
              <a:t>listObservations (colección)</a:t>
            </a:r>
            <a:endParaRPr sz="24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 sz="2400"/>
              <a:t>  └── {observationId} (documento)</a:t>
            </a:r>
            <a:endParaRPr sz="24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 sz="2400"/>
              <a:t>        - listId</a:t>
            </a:r>
            <a:endParaRPr sz="24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 sz="2400"/>
              <a:t>        - observations</a:t>
            </a:r>
            <a:endParaRPr sz="24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 sz="2400"/>
              <a:t>        - updatedBy</a:t>
            </a:r>
            <a:endParaRPr sz="2400"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s" sz="2400"/>
              <a:t>        - updatedAt</a:t>
            </a:r>
            <a:endParaRPr sz="240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2" name="Shape 4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Google Shape;423;p62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Modelo lógico de datos</a:t>
            </a:r>
            <a:endParaRPr/>
          </a:p>
        </p:txBody>
      </p:sp>
      <p:sp>
        <p:nvSpPr>
          <p:cNvPr id="424" name="Google Shape;424;p62"/>
          <p:cNvSpPr txBox="1"/>
          <p:nvPr>
            <p:ph idx="1" type="body"/>
          </p:nvPr>
        </p:nvSpPr>
        <p:spPr>
          <a:xfrm>
            <a:off x="311700" y="1307850"/>
            <a:ext cx="8520600" cy="3760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852"/>
              <a:buNone/>
            </a:pPr>
            <a:r>
              <a:rPr lang="es" sz="1595"/>
              <a:t>listPayment</a:t>
            </a:r>
            <a:r>
              <a:rPr lang="es" sz="1595"/>
              <a:t>(colección)</a:t>
            </a:r>
            <a:endParaRPr sz="1595"/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852"/>
              <a:buNone/>
            </a:pPr>
            <a:r>
              <a:rPr lang="es" sz="1595"/>
              <a:t>  └── {itemId} (documento)</a:t>
            </a:r>
            <a:endParaRPr sz="1595"/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852"/>
              <a:buNone/>
            </a:pPr>
            <a:r>
              <a:rPr lang="es" sz="1595"/>
              <a:t>        - listId</a:t>
            </a:r>
            <a:endParaRPr sz="1595"/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852"/>
              <a:buNone/>
            </a:pPr>
            <a:r>
              <a:rPr lang="es" sz="1595"/>
              <a:t>        - listName</a:t>
            </a:r>
            <a:endParaRPr sz="1595"/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852"/>
              <a:buNone/>
            </a:pPr>
            <a:r>
              <a:rPr lang="es" sz="1595"/>
              <a:t>        - paymentParticipants</a:t>
            </a:r>
            <a:endParaRPr sz="1595"/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852"/>
              <a:buNone/>
            </a:pPr>
            <a:r>
              <a:rPr lang="es" sz="1595"/>
              <a:t>        - payments</a:t>
            </a:r>
            <a:endParaRPr sz="1595"/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852"/>
              <a:buNone/>
            </a:pPr>
            <a:r>
              <a:rPr lang="es" sz="1595"/>
              <a:t>        - totalAmount</a:t>
            </a:r>
            <a:endParaRPr sz="1595"/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852"/>
              <a:buNone/>
            </a:pPr>
            <a:r>
              <a:rPr lang="es" sz="1595"/>
              <a:t>        - updatedAt</a:t>
            </a:r>
            <a:endParaRPr sz="1595"/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1200"/>
              </a:spcAft>
              <a:buSzPts val="852"/>
              <a:buNone/>
            </a:pPr>
            <a:r>
              <a:rPr lang="es" sz="1595"/>
              <a:t>        - </a:t>
            </a:r>
            <a:r>
              <a:rPr lang="es" sz="1595"/>
              <a:t>updatedBy</a:t>
            </a:r>
            <a:endParaRPr sz="1595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63"/>
          <p:cNvSpPr txBox="1"/>
          <p:nvPr>
            <p:ph type="title"/>
          </p:nvPr>
        </p:nvSpPr>
        <p:spPr>
          <a:xfrm>
            <a:off x="823850" y="2053000"/>
            <a:ext cx="4587000" cy="1148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Consultas</a:t>
            </a:r>
            <a:endParaRPr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3" name="Shape 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Google Shape;434;p64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Consultas</a:t>
            </a:r>
            <a:endParaRPr/>
          </a:p>
        </p:txBody>
      </p:sp>
      <p:sp>
        <p:nvSpPr>
          <p:cNvPr id="435" name="Google Shape;435;p64"/>
          <p:cNvSpPr txBox="1"/>
          <p:nvPr>
            <p:ph idx="1" type="body"/>
          </p:nvPr>
        </p:nvSpPr>
        <p:spPr>
          <a:xfrm>
            <a:off x="311700" y="1307850"/>
            <a:ext cx="8520600" cy="356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s" sz="1700"/>
              <a:t>Obtener todas las listas de un usuario (propietario o compartidas):</a:t>
            </a:r>
            <a:endParaRPr b="1" sz="17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 sz="1700">
                <a:latin typeface="Roboto Mono"/>
                <a:ea typeface="Roboto Mono"/>
                <a:cs typeface="Roboto Mono"/>
                <a:sym typeface="Roboto Mono"/>
              </a:rPr>
              <a:t>db.collection("lists")</a:t>
            </a:r>
            <a:endParaRPr sz="1700"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 sz="1700">
                <a:latin typeface="Roboto Mono"/>
                <a:ea typeface="Roboto Mono"/>
                <a:cs typeface="Roboto Mono"/>
                <a:sym typeface="Roboto Mono"/>
              </a:rPr>
              <a:t>  .where("ownerEmail", "==", userEmail)</a:t>
            </a:r>
            <a:endParaRPr sz="1700"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 sz="1700">
                <a:latin typeface="Roboto Mono"/>
                <a:ea typeface="Roboto Mono"/>
                <a:cs typeface="Roboto Mono"/>
                <a:sym typeface="Roboto Mono"/>
              </a:rPr>
              <a:t>  .get()</a:t>
            </a:r>
            <a:endParaRPr sz="1700"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7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 sz="1700">
                <a:latin typeface="Roboto Mono"/>
                <a:ea typeface="Roboto Mono"/>
                <a:cs typeface="Roboto Mono"/>
                <a:sym typeface="Roboto Mono"/>
              </a:rPr>
              <a:t>db.collection("lists")</a:t>
            </a:r>
            <a:endParaRPr sz="1700"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 sz="1700">
                <a:latin typeface="Roboto Mono"/>
                <a:ea typeface="Roboto Mono"/>
                <a:cs typeface="Roboto Mono"/>
                <a:sym typeface="Roboto Mono"/>
              </a:rPr>
              <a:t>  .where("sharedWith", "array-contains", userEmail)</a:t>
            </a:r>
            <a:endParaRPr sz="1700"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700">
                <a:latin typeface="Roboto Mono"/>
                <a:ea typeface="Roboto Mono"/>
                <a:cs typeface="Roboto Mono"/>
                <a:sym typeface="Roboto Mono"/>
              </a:rPr>
              <a:t>  .get()</a:t>
            </a:r>
            <a:endParaRPr sz="1700"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9" name="Shape 4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Google Shape;440;p65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Consultas</a:t>
            </a:r>
            <a:endParaRPr/>
          </a:p>
        </p:txBody>
      </p:sp>
      <p:sp>
        <p:nvSpPr>
          <p:cNvPr id="441" name="Google Shape;441;p65"/>
          <p:cNvSpPr txBox="1"/>
          <p:nvPr>
            <p:ph idx="1" type="body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s" sz="1700"/>
              <a:t>Obtener productos de una lista:</a:t>
            </a:r>
            <a:endParaRPr b="1" sz="17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 sz="1700">
                <a:latin typeface="Roboto Mono"/>
                <a:ea typeface="Roboto Mono"/>
                <a:cs typeface="Roboto Mono"/>
                <a:sym typeface="Roboto Mono"/>
              </a:rPr>
              <a:t>db.collection("items")</a:t>
            </a:r>
            <a:endParaRPr sz="1700"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700">
                <a:latin typeface="Roboto Mono"/>
                <a:ea typeface="Roboto Mono"/>
                <a:cs typeface="Roboto Mono"/>
                <a:sym typeface="Roboto Mono"/>
              </a:rPr>
              <a:t>  .where("listId", "==", listId)</a:t>
            </a:r>
            <a:endParaRPr sz="1700"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700">
                <a:latin typeface="Roboto Mono"/>
                <a:ea typeface="Roboto Mono"/>
                <a:cs typeface="Roboto Mono"/>
                <a:sym typeface="Roboto Mono"/>
              </a:rPr>
              <a:t>  .get()</a:t>
            </a:r>
            <a:endParaRPr sz="1700">
              <a:latin typeface="Roboto Mono"/>
              <a:ea typeface="Roboto Mono"/>
              <a:cs typeface="Roboto Mono"/>
              <a:sym typeface="Roboto Mono"/>
            </a:endParaRP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5" name="Shape 4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Google Shape;446;p66"/>
          <p:cNvSpPr txBox="1"/>
          <p:nvPr>
            <p:ph type="title"/>
          </p:nvPr>
        </p:nvSpPr>
        <p:spPr>
          <a:xfrm>
            <a:off x="1297500" y="393750"/>
            <a:ext cx="7038900" cy="473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Consultas </a:t>
            </a:r>
            <a:endParaRPr/>
          </a:p>
        </p:txBody>
      </p:sp>
      <p:sp>
        <p:nvSpPr>
          <p:cNvPr id="447" name="Google Shape;447;p66"/>
          <p:cNvSpPr txBox="1"/>
          <p:nvPr>
            <p:ph idx="1" type="body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s" sz="1358"/>
              <a:t>Mostrar observaciones de una lista:</a:t>
            </a:r>
            <a:endParaRPr b="1" sz="1358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 sz="1100">
                <a:latin typeface="Roboto Mono"/>
                <a:ea typeface="Roboto Mono"/>
                <a:cs typeface="Roboto Mono"/>
                <a:sym typeface="Roboto Mono"/>
              </a:rPr>
              <a:t>db.collection("listObservations")</a:t>
            </a:r>
            <a:endParaRPr sz="1100"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100">
                <a:latin typeface="Roboto Mono"/>
                <a:ea typeface="Roboto Mono"/>
                <a:cs typeface="Roboto Mono"/>
                <a:sym typeface="Roboto Mono"/>
              </a:rPr>
              <a:t>  .where("listId", "==", listId)</a:t>
            </a:r>
            <a:endParaRPr sz="1100"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100">
                <a:latin typeface="Roboto Mono"/>
                <a:ea typeface="Roboto Mono"/>
                <a:cs typeface="Roboto Mono"/>
                <a:sym typeface="Roboto Mono"/>
              </a:rPr>
              <a:t>  .orderBy("updatedAt", "desc")</a:t>
            </a:r>
            <a:endParaRPr sz="1100"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100">
                <a:latin typeface="Roboto Mono"/>
                <a:ea typeface="Roboto Mono"/>
                <a:cs typeface="Roboto Mono"/>
                <a:sym typeface="Roboto Mono"/>
              </a:rPr>
              <a:t>  .get()</a:t>
            </a:r>
            <a:endParaRPr sz="1100"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1350"/>
              <a:t>Mostrar pagos de una lista</a:t>
            </a:r>
            <a:endParaRPr b="1" sz="135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 sz="1100">
                <a:latin typeface="Roboto Mono"/>
                <a:ea typeface="Roboto Mono"/>
                <a:cs typeface="Roboto Mono"/>
                <a:sym typeface="Roboto Mono"/>
              </a:rPr>
              <a:t>db.collection("</a:t>
            </a:r>
            <a:r>
              <a:rPr lang="es" sz="1157">
                <a:latin typeface="Roboto"/>
                <a:ea typeface="Roboto"/>
                <a:cs typeface="Roboto"/>
                <a:sym typeface="Roboto"/>
              </a:rPr>
              <a:t>listPayments</a:t>
            </a:r>
            <a:r>
              <a:rPr lang="es" sz="1100">
                <a:latin typeface="Roboto Mono"/>
                <a:ea typeface="Roboto Mono"/>
                <a:cs typeface="Roboto Mono"/>
                <a:sym typeface="Roboto Mono"/>
              </a:rPr>
              <a:t>")</a:t>
            </a:r>
            <a:endParaRPr sz="1100"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100">
                <a:latin typeface="Roboto Mono"/>
                <a:ea typeface="Roboto Mono"/>
                <a:cs typeface="Roboto Mono"/>
                <a:sym typeface="Roboto Mono"/>
              </a:rPr>
              <a:t>  .where("listId", "==", listId)</a:t>
            </a:r>
            <a:endParaRPr sz="1100"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100">
                <a:latin typeface="Roboto Mono"/>
                <a:ea typeface="Roboto Mono"/>
                <a:cs typeface="Roboto Mono"/>
                <a:sym typeface="Roboto Mono"/>
              </a:rPr>
              <a:t>  .orderBy("updatedAt", "desc")</a:t>
            </a:r>
            <a:endParaRPr sz="1100"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100">
                <a:latin typeface="Roboto Mono"/>
                <a:ea typeface="Roboto Mono"/>
                <a:cs typeface="Roboto Mono"/>
                <a:sym typeface="Roboto Mono"/>
              </a:rPr>
              <a:t>  .get()</a:t>
            </a:r>
            <a:endParaRPr sz="1157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51" name="Shape 4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" name="Google Shape;452;p67"/>
          <p:cNvSpPr txBox="1"/>
          <p:nvPr>
            <p:ph type="title"/>
          </p:nvPr>
        </p:nvSpPr>
        <p:spPr>
          <a:xfrm>
            <a:off x="823850" y="2053000"/>
            <a:ext cx="4587000" cy="1148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s"/>
              <a:t>Interfaz de usuario</a:t>
            </a:r>
            <a:endParaRPr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56" name="Shape 4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7" name="Google Shape;457;p68" title="Screenshot_1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19538" y="82563"/>
            <a:ext cx="6704924" cy="497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6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2" name="Google Shape;462;p69" title="Screenshot_2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78225" y="100925"/>
            <a:ext cx="6187551" cy="49416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66" name="Shape 4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7" name="Google Shape;467;p70" title="Screenshot_1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34213" y="93450"/>
            <a:ext cx="6675574" cy="49565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2" name="Google Shape;472;p7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442725" y="63213"/>
            <a:ext cx="4258549" cy="50170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76" name="Shape 4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Google Shape;477;p72"/>
          <p:cNvSpPr txBox="1"/>
          <p:nvPr>
            <p:ph type="title"/>
          </p:nvPr>
        </p:nvSpPr>
        <p:spPr>
          <a:xfrm>
            <a:off x="823850" y="2053000"/>
            <a:ext cx="4587000" cy="1148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Mapa de navegación</a:t>
            </a:r>
            <a:endParaRPr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8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2" name="Google Shape;482;p73" title="Mapa conceptual.png"/>
          <p:cNvPicPr preferRelativeResize="0"/>
          <p:nvPr/>
        </p:nvPicPr>
        <p:blipFill rotWithShape="1">
          <a:blip r:embed="rId3">
            <a:alphaModFix/>
          </a:blip>
          <a:srcRect b="3737" l="0" r="0" t="3746"/>
          <a:stretch/>
        </p:blipFill>
        <p:spPr>
          <a:xfrm>
            <a:off x="2212962" y="94163"/>
            <a:ext cx="4718073" cy="495517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86" name="Shape 4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7" name="Google Shape;487;p74"/>
          <p:cNvSpPr txBox="1"/>
          <p:nvPr>
            <p:ph type="title"/>
          </p:nvPr>
        </p:nvSpPr>
        <p:spPr>
          <a:xfrm>
            <a:off x="823850" y="2053000"/>
            <a:ext cx="4587000" cy="1148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s"/>
              <a:t>Desarrollo del proyecto del sistema</a:t>
            </a:r>
            <a:endParaRPr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91" name="Shape 4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Google Shape;492;p75"/>
          <p:cNvSpPr txBox="1"/>
          <p:nvPr>
            <p:ph type="title"/>
          </p:nvPr>
        </p:nvSpPr>
        <p:spPr>
          <a:xfrm>
            <a:off x="1052550" y="408700"/>
            <a:ext cx="7038900" cy="495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2500"/>
              <a:t>Desarrollo del proyecto del sistema</a:t>
            </a:r>
            <a:endParaRPr sz="2500"/>
          </a:p>
          <a:p>
            <a:pPr indent="0" lvl="0" marL="0" rtl="0" algn="ctr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3" name="Google Shape;493;p75"/>
          <p:cNvSpPr txBox="1"/>
          <p:nvPr>
            <p:ph idx="1" type="body"/>
          </p:nvPr>
        </p:nvSpPr>
        <p:spPr>
          <a:xfrm>
            <a:off x="311700" y="949450"/>
            <a:ext cx="8520600" cy="414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62500" lnSpcReduction="20000"/>
          </a:bodyPr>
          <a:lstStyle/>
          <a:p>
            <a:pPr indent="0" lvl="0" marL="0" rtl="0" algn="l">
              <a:spcBef>
                <a:spcPts val="1400"/>
              </a:spcBef>
              <a:spcAft>
                <a:spcPts val="0"/>
              </a:spcAft>
              <a:buNone/>
            </a:pPr>
            <a:r>
              <a:rPr b="1" lang="es"/>
              <a:t>Fase 1</a:t>
            </a:r>
            <a:endParaRPr b="1"/>
          </a:p>
          <a:p>
            <a:pPr indent="0" lvl="0" marL="0" rtl="0" algn="l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ct val="64705"/>
              <a:buFont typeface="Arial"/>
              <a:buNone/>
            </a:pPr>
            <a:r>
              <a:rPr b="1" lang="es" sz="1700"/>
              <a:t>Funcionalidades</a:t>
            </a:r>
            <a:endParaRPr b="1" sz="17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s" sz="1402">
                <a:latin typeface="Arial"/>
                <a:ea typeface="Arial"/>
                <a:cs typeface="Arial"/>
                <a:sym typeface="Arial"/>
              </a:rPr>
              <a:t>Android:</a:t>
            </a:r>
            <a:endParaRPr b="1" sz="1402">
              <a:latin typeface="Arial"/>
              <a:ea typeface="Arial"/>
              <a:cs typeface="Arial"/>
              <a:sym typeface="Arial"/>
            </a:endParaRPr>
          </a:p>
          <a:p>
            <a:pPr indent="-284276" lvl="0" marL="457200" rtl="0" algn="l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Arial"/>
              <a:buChar char="●"/>
            </a:pPr>
            <a:r>
              <a:rPr lang="es" sz="1402">
                <a:latin typeface="Arial"/>
                <a:ea typeface="Arial"/>
                <a:cs typeface="Arial"/>
                <a:sym typeface="Arial"/>
              </a:rPr>
              <a:t>Registro e inicio de sesión de usuarios (correo y contraseña).</a:t>
            </a:r>
            <a:br>
              <a:rPr lang="es" sz="1402">
                <a:latin typeface="Arial"/>
                <a:ea typeface="Arial"/>
                <a:cs typeface="Arial"/>
                <a:sym typeface="Arial"/>
              </a:rPr>
            </a:br>
            <a:endParaRPr sz="1402">
              <a:latin typeface="Arial"/>
              <a:ea typeface="Arial"/>
              <a:cs typeface="Arial"/>
              <a:sym typeface="Arial"/>
            </a:endParaRPr>
          </a:p>
          <a:p>
            <a:pPr indent="-284276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Arial"/>
              <a:buChar char="●"/>
            </a:pPr>
            <a:r>
              <a:rPr lang="es" sz="1402">
                <a:latin typeface="Arial"/>
                <a:ea typeface="Arial"/>
                <a:cs typeface="Arial"/>
                <a:sym typeface="Arial"/>
              </a:rPr>
              <a:t>Crear listas de compras (listas individuales).</a:t>
            </a:r>
            <a:br>
              <a:rPr lang="es" sz="1402">
                <a:latin typeface="Arial"/>
                <a:ea typeface="Arial"/>
                <a:cs typeface="Arial"/>
                <a:sym typeface="Arial"/>
              </a:rPr>
            </a:br>
            <a:endParaRPr sz="1402">
              <a:latin typeface="Arial"/>
              <a:ea typeface="Arial"/>
              <a:cs typeface="Arial"/>
              <a:sym typeface="Arial"/>
            </a:endParaRPr>
          </a:p>
          <a:p>
            <a:pPr indent="-284276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Arial"/>
              <a:buChar char="●"/>
            </a:pPr>
            <a:r>
              <a:rPr lang="es" sz="1402">
                <a:latin typeface="Arial"/>
                <a:ea typeface="Arial"/>
                <a:cs typeface="Arial"/>
                <a:sym typeface="Arial"/>
              </a:rPr>
              <a:t>Ver listas propias (menú principal).</a:t>
            </a:r>
            <a:br>
              <a:rPr lang="es" sz="1402">
                <a:latin typeface="Arial"/>
                <a:ea typeface="Arial"/>
                <a:cs typeface="Arial"/>
                <a:sym typeface="Arial"/>
              </a:rPr>
            </a:br>
            <a:endParaRPr sz="1402">
              <a:latin typeface="Arial"/>
              <a:ea typeface="Arial"/>
              <a:cs typeface="Arial"/>
              <a:sym typeface="Arial"/>
            </a:endParaRPr>
          </a:p>
          <a:p>
            <a:pPr indent="-284276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Arial"/>
              <a:buChar char="●"/>
            </a:pPr>
            <a:r>
              <a:rPr lang="es" sz="1402">
                <a:latin typeface="Arial"/>
                <a:ea typeface="Arial"/>
                <a:cs typeface="Arial"/>
                <a:sym typeface="Arial"/>
              </a:rPr>
              <a:t>Añadir productos manualmente a una lista.</a:t>
            </a:r>
            <a:br>
              <a:rPr lang="es" sz="1402">
                <a:latin typeface="Arial"/>
                <a:ea typeface="Arial"/>
                <a:cs typeface="Arial"/>
                <a:sym typeface="Arial"/>
              </a:rPr>
            </a:br>
            <a:endParaRPr sz="1402">
              <a:latin typeface="Arial"/>
              <a:ea typeface="Arial"/>
              <a:cs typeface="Arial"/>
              <a:sym typeface="Arial"/>
            </a:endParaRPr>
          </a:p>
          <a:p>
            <a:pPr indent="-284276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Arial"/>
              <a:buChar char="●"/>
            </a:pPr>
            <a:r>
              <a:rPr lang="es" sz="1402">
                <a:latin typeface="Arial"/>
                <a:ea typeface="Arial"/>
                <a:cs typeface="Arial"/>
                <a:sym typeface="Arial"/>
              </a:rPr>
              <a:t>Marcar productos como comprados.</a:t>
            </a:r>
            <a:br>
              <a:rPr lang="es" sz="1402">
                <a:latin typeface="Arial"/>
                <a:ea typeface="Arial"/>
                <a:cs typeface="Arial"/>
                <a:sym typeface="Arial"/>
              </a:rPr>
            </a:br>
            <a:endParaRPr sz="1402">
              <a:latin typeface="Arial"/>
              <a:ea typeface="Arial"/>
              <a:cs typeface="Arial"/>
              <a:sym typeface="Arial"/>
            </a:endParaRPr>
          </a:p>
          <a:p>
            <a:pPr indent="-284276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Arial"/>
              <a:buChar char="●"/>
            </a:pPr>
            <a:r>
              <a:rPr lang="es" sz="1402">
                <a:latin typeface="Arial"/>
                <a:ea typeface="Arial"/>
                <a:cs typeface="Arial"/>
                <a:sym typeface="Arial"/>
              </a:rPr>
              <a:t>Eliminar productos de la lista.</a:t>
            </a:r>
            <a:br>
              <a:rPr lang="es" sz="1402">
                <a:latin typeface="Arial"/>
                <a:ea typeface="Arial"/>
                <a:cs typeface="Arial"/>
                <a:sym typeface="Arial"/>
              </a:rPr>
            </a:br>
            <a:endParaRPr sz="1402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s" sz="1402">
                <a:latin typeface="Arial"/>
                <a:ea typeface="Arial"/>
                <a:cs typeface="Arial"/>
                <a:sym typeface="Arial"/>
              </a:rPr>
              <a:t>Web:</a:t>
            </a:r>
            <a:endParaRPr b="1" sz="1402">
              <a:latin typeface="Arial"/>
              <a:ea typeface="Arial"/>
              <a:cs typeface="Arial"/>
              <a:sym typeface="Arial"/>
            </a:endParaRPr>
          </a:p>
          <a:p>
            <a:pPr indent="-284276" lvl="0" marL="457200" rtl="0" algn="l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Arial"/>
              <a:buChar char="●"/>
            </a:pPr>
            <a:r>
              <a:rPr lang="es" sz="1402">
                <a:latin typeface="Arial"/>
                <a:ea typeface="Arial"/>
                <a:cs typeface="Arial"/>
                <a:sym typeface="Arial"/>
              </a:rPr>
              <a:t>Registro e inicio de sesión de usuarios (correo y contraseña).</a:t>
            </a:r>
            <a:br>
              <a:rPr lang="es" sz="1402">
                <a:latin typeface="Arial"/>
                <a:ea typeface="Arial"/>
                <a:cs typeface="Arial"/>
                <a:sym typeface="Arial"/>
              </a:rPr>
            </a:br>
            <a:endParaRPr sz="1402">
              <a:latin typeface="Arial"/>
              <a:ea typeface="Arial"/>
              <a:cs typeface="Arial"/>
              <a:sym typeface="Arial"/>
            </a:endParaRPr>
          </a:p>
          <a:p>
            <a:pPr indent="-284276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Arial"/>
              <a:buChar char="●"/>
            </a:pPr>
            <a:r>
              <a:rPr lang="es" sz="1402">
                <a:latin typeface="Arial"/>
                <a:ea typeface="Arial"/>
                <a:cs typeface="Arial"/>
                <a:sym typeface="Arial"/>
              </a:rPr>
              <a:t>Crear listas de compras.</a:t>
            </a:r>
            <a:br>
              <a:rPr lang="es" sz="1402">
                <a:latin typeface="Arial"/>
                <a:ea typeface="Arial"/>
                <a:cs typeface="Arial"/>
                <a:sym typeface="Arial"/>
              </a:rPr>
            </a:br>
            <a:endParaRPr sz="1402">
              <a:latin typeface="Arial"/>
              <a:ea typeface="Arial"/>
              <a:cs typeface="Arial"/>
              <a:sym typeface="Arial"/>
            </a:endParaRPr>
          </a:p>
          <a:p>
            <a:pPr indent="-284276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Arial"/>
              <a:buChar char="●"/>
            </a:pPr>
            <a:r>
              <a:rPr lang="es" sz="1402">
                <a:latin typeface="Arial"/>
                <a:ea typeface="Arial"/>
                <a:cs typeface="Arial"/>
                <a:sym typeface="Arial"/>
              </a:rPr>
              <a:t>Eliminar listas.</a:t>
            </a:r>
            <a:br>
              <a:rPr lang="es" sz="1402">
                <a:latin typeface="Arial"/>
                <a:ea typeface="Arial"/>
                <a:cs typeface="Arial"/>
                <a:sym typeface="Arial"/>
              </a:rPr>
            </a:br>
            <a:endParaRPr sz="1402">
              <a:latin typeface="Arial"/>
              <a:ea typeface="Arial"/>
              <a:cs typeface="Arial"/>
              <a:sym typeface="Arial"/>
            </a:endParaRPr>
          </a:p>
          <a:p>
            <a:pPr indent="-284276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Arial"/>
              <a:buChar char="●"/>
            </a:pPr>
            <a:r>
              <a:rPr lang="es" sz="1402">
                <a:latin typeface="Arial"/>
                <a:ea typeface="Arial"/>
                <a:cs typeface="Arial"/>
                <a:sym typeface="Arial"/>
              </a:rPr>
              <a:t>Añadir, eliminar y compartir productos dentro de las listas.</a:t>
            </a:r>
            <a:endParaRPr sz="1402">
              <a:latin typeface="Arial"/>
              <a:ea typeface="Arial"/>
              <a:cs typeface="Arial"/>
              <a:sym typeface="Arial"/>
            </a:endParaRPr>
          </a:p>
          <a:p>
            <a:pPr indent="-288131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AutoNum type="arabicPeriod"/>
            </a:pPr>
            <a:r>
              <a:t/>
            </a:r>
            <a:endParaRPr b="1" sz="150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97" name="Shape 4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Google Shape;498;p76"/>
          <p:cNvSpPr txBox="1"/>
          <p:nvPr>
            <p:ph idx="1" type="body"/>
          </p:nvPr>
        </p:nvSpPr>
        <p:spPr>
          <a:xfrm>
            <a:off x="311700" y="1307850"/>
            <a:ext cx="8520600" cy="349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s" sz="1400"/>
              <a:t>Plan de pruebas</a:t>
            </a:r>
            <a:endParaRPr b="1" sz="14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s" sz="1200">
                <a:latin typeface="Arial"/>
                <a:ea typeface="Arial"/>
                <a:cs typeface="Arial"/>
                <a:sym typeface="Arial"/>
              </a:rPr>
              <a:t>Android</a:t>
            </a:r>
            <a:endParaRPr b="1" sz="1200">
              <a:latin typeface="Arial"/>
              <a:ea typeface="Arial"/>
              <a:cs typeface="Arial"/>
              <a:sym typeface="Arial"/>
            </a:endParaRPr>
          </a:p>
          <a:p>
            <a:pPr indent="-304800" lvl="0" marL="457200" rtl="0" algn="l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●"/>
            </a:pPr>
            <a:r>
              <a:rPr b="1" lang="es" sz="1200">
                <a:latin typeface="Arial"/>
                <a:ea typeface="Arial"/>
                <a:cs typeface="Arial"/>
                <a:sym typeface="Arial"/>
              </a:rPr>
              <a:t>Prueba de registro:</a:t>
            </a:r>
            <a:r>
              <a:rPr lang="es" sz="1200">
                <a:latin typeface="Arial"/>
                <a:ea typeface="Arial"/>
                <a:cs typeface="Arial"/>
                <a:sym typeface="Arial"/>
              </a:rPr>
              <a:t> crear un usuario nuevo; comprobar que se guarda en Firestore y no permite duplicados.</a:t>
            </a:r>
            <a:br>
              <a:rPr lang="es" sz="1200">
                <a:latin typeface="Arial"/>
                <a:ea typeface="Arial"/>
                <a:cs typeface="Arial"/>
                <a:sym typeface="Arial"/>
              </a:rPr>
            </a:br>
            <a:endParaRPr sz="1200">
              <a:latin typeface="Arial"/>
              <a:ea typeface="Arial"/>
              <a:cs typeface="Arial"/>
              <a:sym typeface="Arial"/>
            </a:endParaRPr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●"/>
            </a:pPr>
            <a:r>
              <a:rPr b="1" lang="es" sz="1200">
                <a:latin typeface="Arial"/>
                <a:ea typeface="Arial"/>
                <a:cs typeface="Arial"/>
                <a:sym typeface="Arial"/>
              </a:rPr>
              <a:t>Prueba de inicio de sesión:</a:t>
            </a:r>
            <a:r>
              <a:rPr lang="es" sz="1200">
                <a:latin typeface="Arial"/>
                <a:ea typeface="Arial"/>
                <a:cs typeface="Arial"/>
                <a:sym typeface="Arial"/>
              </a:rPr>
              <a:t> iniciar con usuario válido y no registrado; verificar mensajes de error.</a:t>
            </a:r>
            <a:br>
              <a:rPr lang="es" sz="1200">
                <a:latin typeface="Arial"/>
                <a:ea typeface="Arial"/>
                <a:cs typeface="Arial"/>
                <a:sym typeface="Arial"/>
              </a:rPr>
            </a:br>
            <a:endParaRPr sz="1200">
              <a:latin typeface="Arial"/>
              <a:ea typeface="Arial"/>
              <a:cs typeface="Arial"/>
              <a:sym typeface="Arial"/>
            </a:endParaRPr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●"/>
            </a:pPr>
            <a:r>
              <a:rPr b="1" lang="es" sz="1200">
                <a:latin typeface="Arial"/>
                <a:ea typeface="Arial"/>
                <a:cs typeface="Arial"/>
                <a:sym typeface="Arial"/>
              </a:rPr>
              <a:t>Prueba de creación de lista:</a:t>
            </a:r>
            <a:r>
              <a:rPr lang="es" sz="1200">
                <a:latin typeface="Arial"/>
                <a:ea typeface="Arial"/>
                <a:cs typeface="Arial"/>
                <a:sym typeface="Arial"/>
              </a:rPr>
              <a:t> crear lista con nombre; comprobar que aparece en el menú principal.</a:t>
            </a:r>
            <a:br>
              <a:rPr lang="es" sz="1200">
                <a:latin typeface="Arial"/>
                <a:ea typeface="Arial"/>
                <a:cs typeface="Arial"/>
                <a:sym typeface="Arial"/>
              </a:rPr>
            </a:br>
            <a:endParaRPr sz="1200">
              <a:latin typeface="Arial"/>
              <a:ea typeface="Arial"/>
              <a:cs typeface="Arial"/>
              <a:sym typeface="Arial"/>
            </a:endParaRPr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●"/>
            </a:pPr>
            <a:r>
              <a:rPr b="1" lang="es" sz="1200">
                <a:latin typeface="Arial"/>
                <a:ea typeface="Arial"/>
                <a:cs typeface="Arial"/>
                <a:sym typeface="Arial"/>
              </a:rPr>
              <a:t>Prueba de añadir productos:</a:t>
            </a:r>
            <a:r>
              <a:rPr lang="es" sz="1200">
                <a:latin typeface="Arial"/>
                <a:ea typeface="Arial"/>
                <a:cs typeface="Arial"/>
                <a:sym typeface="Arial"/>
              </a:rPr>
              <a:t> añadir productos manualmente; verificar que se guardan con </a:t>
            </a:r>
            <a:r>
              <a:rPr lang="es" sz="1200">
                <a:latin typeface="Roboto Mono"/>
                <a:ea typeface="Roboto Mono"/>
                <a:cs typeface="Roboto Mono"/>
                <a:sym typeface="Roboto Mono"/>
              </a:rPr>
              <a:t>listId</a:t>
            </a:r>
            <a:r>
              <a:rPr lang="es" sz="1200">
                <a:latin typeface="Arial"/>
                <a:ea typeface="Arial"/>
                <a:cs typeface="Arial"/>
                <a:sym typeface="Arial"/>
              </a:rPr>
              <a:t> correcto.</a:t>
            </a:r>
            <a:br>
              <a:rPr lang="es" sz="1200">
                <a:latin typeface="Arial"/>
                <a:ea typeface="Arial"/>
                <a:cs typeface="Arial"/>
                <a:sym typeface="Arial"/>
              </a:rPr>
            </a:br>
            <a:endParaRPr sz="1200">
              <a:latin typeface="Arial"/>
              <a:ea typeface="Arial"/>
              <a:cs typeface="Arial"/>
              <a:sym typeface="Arial"/>
            </a:endParaRPr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●"/>
            </a:pPr>
            <a:r>
              <a:rPr b="1" lang="es" sz="1200">
                <a:latin typeface="Arial"/>
                <a:ea typeface="Arial"/>
                <a:cs typeface="Arial"/>
                <a:sym typeface="Arial"/>
              </a:rPr>
              <a:t>Prueba de marcar productos como comprados:</a:t>
            </a:r>
            <a:r>
              <a:rPr lang="es" sz="1200">
                <a:latin typeface="Arial"/>
                <a:ea typeface="Arial"/>
                <a:cs typeface="Arial"/>
                <a:sym typeface="Arial"/>
              </a:rPr>
              <a:t> marcar un producto y comprobar que cambia su estado a </a:t>
            </a:r>
            <a:r>
              <a:rPr lang="es" sz="1200">
                <a:latin typeface="Roboto Mono"/>
                <a:ea typeface="Roboto Mono"/>
                <a:cs typeface="Roboto Mono"/>
                <a:sym typeface="Roboto Mono"/>
              </a:rPr>
              <a:t>completed = true</a:t>
            </a:r>
            <a:r>
              <a:rPr lang="es" sz="1200">
                <a:latin typeface="Arial"/>
                <a:ea typeface="Arial"/>
                <a:cs typeface="Arial"/>
                <a:sym typeface="Arial"/>
              </a:rPr>
              <a:t> y se mueve a “Comprados”.</a:t>
            </a:r>
            <a:br>
              <a:rPr lang="es" sz="1200">
                <a:latin typeface="Arial"/>
                <a:ea typeface="Arial"/>
                <a:cs typeface="Arial"/>
                <a:sym typeface="Arial"/>
              </a:rPr>
            </a:br>
            <a:endParaRPr sz="1200"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Char char="●"/>
            </a:pPr>
            <a:r>
              <a:rPr b="1" lang="es" sz="1200">
                <a:latin typeface="Arial"/>
                <a:ea typeface="Arial"/>
                <a:cs typeface="Arial"/>
                <a:sym typeface="Arial"/>
              </a:rPr>
              <a:t>Prueba de eliminación de productos:</a:t>
            </a:r>
            <a:r>
              <a:rPr lang="es" sz="1200">
                <a:latin typeface="Arial"/>
                <a:ea typeface="Arial"/>
                <a:cs typeface="Arial"/>
                <a:sym typeface="Arial"/>
              </a:rPr>
              <a:t> eliminar producto y verificar que desaparece tanto de la interfaz como de Firestore.</a:t>
            </a:r>
            <a:br>
              <a:rPr lang="es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endParaRPr b="1" sz="1200"/>
          </a:p>
        </p:txBody>
      </p:sp>
      <p:sp>
        <p:nvSpPr>
          <p:cNvPr id="499" name="Google Shape;499;p76"/>
          <p:cNvSpPr txBox="1"/>
          <p:nvPr>
            <p:ph type="title"/>
          </p:nvPr>
        </p:nvSpPr>
        <p:spPr>
          <a:xfrm>
            <a:off x="1052550" y="401225"/>
            <a:ext cx="7038900" cy="525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s" sz="2500"/>
              <a:t>Desarrollo del proyecto del sistema</a:t>
            </a:r>
            <a:endParaRPr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3" name="Shape 5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Google Shape;504;p77"/>
          <p:cNvSpPr txBox="1"/>
          <p:nvPr>
            <p:ph idx="1" type="body"/>
          </p:nvPr>
        </p:nvSpPr>
        <p:spPr>
          <a:xfrm>
            <a:off x="311700" y="1307850"/>
            <a:ext cx="8520600" cy="349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s" sz="1400"/>
              <a:t>Plan de pruebas</a:t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s">
                <a:latin typeface="Arial"/>
                <a:ea typeface="Arial"/>
                <a:cs typeface="Arial"/>
                <a:sym typeface="Arial"/>
              </a:rPr>
              <a:t>Web</a:t>
            </a:r>
            <a:endParaRPr b="1">
              <a:latin typeface="Arial"/>
              <a:ea typeface="Arial"/>
              <a:cs typeface="Arial"/>
              <a:sym typeface="Arial"/>
            </a:endParaRPr>
          </a:p>
          <a:p>
            <a:pPr indent="-311150" lvl="0" marL="457200" rtl="0" algn="l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Arial"/>
              <a:buChar char="●"/>
            </a:pPr>
            <a:r>
              <a:rPr b="1" lang="es">
                <a:latin typeface="Arial"/>
                <a:ea typeface="Arial"/>
                <a:cs typeface="Arial"/>
                <a:sym typeface="Arial"/>
              </a:rPr>
              <a:t>Prueba de registro e inicio de sesión:</a:t>
            </a:r>
            <a:r>
              <a:rPr lang="es">
                <a:latin typeface="Arial"/>
                <a:ea typeface="Arial"/>
                <a:cs typeface="Arial"/>
                <a:sym typeface="Arial"/>
              </a:rPr>
              <a:t> registrar y acceder con usuario válido; validar errores en datos incorrectos.</a:t>
            </a:r>
            <a:br>
              <a:rPr lang="es">
                <a:latin typeface="Arial"/>
                <a:ea typeface="Arial"/>
                <a:cs typeface="Arial"/>
                <a:sym typeface="Arial"/>
              </a:rPr>
            </a:br>
            <a:endParaRPr>
              <a:latin typeface="Arial"/>
              <a:ea typeface="Arial"/>
              <a:cs typeface="Arial"/>
              <a:sym typeface="Arial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Arial"/>
              <a:buChar char="●"/>
            </a:pPr>
            <a:r>
              <a:rPr b="1" lang="es">
                <a:latin typeface="Arial"/>
                <a:ea typeface="Arial"/>
                <a:cs typeface="Arial"/>
                <a:sym typeface="Arial"/>
              </a:rPr>
              <a:t>Prueba de creación de lista:</a:t>
            </a:r>
            <a:r>
              <a:rPr lang="es">
                <a:latin typeface="Arial"/>
                <a:ea typeface="Arial"/>
                <a:cs typeface="Arial"/>
                <a:sym typeface="Arial"/>
              </a:rPr>
              <a:t> crear lista y verificar que se muestra correctamente.</a:t>
            </a:r>
            <a:br>
              <a:rPr lang="es">
                <a:latin typeface="Arial"/>
                <a:ea typeface="Arial"/>
                <a:cs typeface="Arial"/>
                <a:sym typeface="Arial"/>
              </a:rPr>
            </a:br>
            <a:endParaRPr>
              <a:latin typeface="Arial"/>
              <a:ea typeface="Arial"/>
              <a:cs typeface="Arial"/>
              <a:sym typeface="Arial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Arial"/>
              <a:buChar char="●"/>
            </a:pPr>
            <a:r>
              <a:rPr b="1" lang="es">
                <a:latin typeface="Arial"/>
                <a:ea typeface="Arial"/>
                <a:cs typeface="Arial"/>
                <a:sym typeface="Arial"/>
              </a:rPr>
              <a:t>Prueba de eliminación de lista:</a:t>
            </a:r>
            <a:r>
              <a:rPr lang="es">
                <a:latin typeface="Arial"/>
                <a:ea typeface="Arial"/>
                <a:cs typeface="Arial"/>
                <a:sym typeface="Arial"/>
              </a:rPr>
              <a:t> eliminar lista y comprobar su eliminación en Firestore.</a:t>
            </a:r>
            <a:br>
              <a:rPr lang="es">
                <a:latin typeface="Arial"/>
                <a:ea typeface="Arial"/>
                <a:cs typeface="Arial"/>
                <a:sym typeface="Arial"/>
              </a:rPr>
            </a:br>
            <a:endParaRPr>
              <a:latin typeface="Arial"/>
              <a:ea typeface="Arial"/>
              <a:cs typeface="Arial"/>
              <a:sym typeface="Arial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Arial"/>
              <a:buChar char="●"/>
            </a:pPr>
            <a:r>
              <a:rPr b="1" lang="es">
                <a:latin typeface="Arial"/>
                <a:ea typeface="Arial"/>
                <a:cs typeface="Arial"/>
                <a:sym typeface="Arial"/>
              </a:rPr>
              <a:t>Prueba de productos:</a:t>
            </a:r>
            <a:r>
              <a:rPr lang="es">
                <a:latin typeface="Arial"/>
                <a:ea typeface="Arial"/>
                <a:cs typeface="Arial"/>
                <a:sym typeface="Arial"/>
              </a:rPr>
              <a:t> añadir y eliminar productos, comprobando su persistencia en la base de datos.</a:t>
            </a:r>
            <a:br>
              <a:rPr lang="es">
                <a:latin typeface="Arial"/>
                <a:ea typeface="Arial"/>
                <a:cs typeface="Arial"/>
                <a:sym typeface="Arial"/>
              </a:rPr>
            </a:br>
            <a:endParaRPr>
              <a:latin typeface="Arial"/>
              <a:ea typeface="Arial"/>
              <a:cs typeface="Arial"/>
              <a:sym typeface="Arial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Arial"/>
              <a:buChar char="●"/>
            </a:pPr>
            <a:r>
              <a:rPr b="1" lang="es">
                <a:latin typeface="Arial"/>
                <a:ea typeface="Arial"/>
                <a:cs typeface="Arial"/>
                <a:sym typeface="Arial"/>
              </a:rPr>
              <a:t>Prueba de compartición:</a:t>
            </a:r>
            <a:r>
              <a:rPr lang="es">
                <a:latin typeface="Arial"/>
                <a:ea typeface="Arial"/>
                <a:cs typeface="Arial"/>
                <a:sym typeface="Arial"/>
              </a:rPr>
              <a:t> compartir lista con otro usuario y verificar que tiene acceso a ella.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br>
              <a:rPr lang="es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endParaRPr b="1" sz="1200"/>
          </a:p>
        </p:txBody>
      </p:sp>
      <p:sp>
        <p:nvSpPr>
          <p:cNvPr id="505" name="Google Shape;505;p77"/>
          <p:cNvSpPr txBox="1"/>
          <p:nvPr>
            <p:ph type="title"/>
          </p:nvPr>
        </p:nvSpPr>
        <p:spPr>
          <a:xfrm>
            <a:off x="1052550" y="401225"/>
            <a:ext cx="7038900" cy="525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s" sz="2500"/>
              <a:t>Desarrollo del proyecto del sistema</a:t>
            </a:r>
            <a:endParaRPr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9" name="Shape 5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0" name="Google Shape;510;p78"/>
          <p:cNvSpPr txBox="1"/>
          <p:nvPr>
            <p:ph type="title"/>
          </p:nvPr>
        </p:nvSpPr>
        <p:spPr>
          <a:xfrm>
            <a:off x="1052550" y="386275"/>
            <a:ext cx="7038900" cy="503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s" sz="2500"/>
              <a:t>Desarrollo del proyecto del sistema</a:t>
            </a:r>
            <a:endParaRPr/>
          </a:p>
        </p:txBody>
      </p:sp>
      <p:sp>
        <p:nvSpPr>
          <p:cNvPr id="511" name="Google Shape;511;p78"/>
          <p:cNvSpPr txBox="1"/>
          <p:nvPr>
            <p:ph idx="1" type="body"/>
          </p:nvPr>
        </p:nvSpPr>
        <p:spPr>
          <a:xfrm>
            <a:off x="311700" y="1307850"/>
            <a:ext cx="8520600" cy="3514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1400"/>
              </a:spcBef>
              <a:spcAft>
                <a:spcPts val="0"/>
              </a:spcAft>
              <a:buNone/>
            </a:pPr>
            <a:r>
              <a:rPr b="1" lang="es" sz="1500"/>
              <a:t>Fase 2:</a:t>
            </a:r>
            <a:endParaRPr b="1" sz="1500"/>
          </a:p>
          <a:p>
            <a:pPr indent="0" lvl="0" marL="0" rtl="0" algn="l">
              <a:spcBef>
                <a:spcPts val="1400"/>
              </a:spcBef>
              <a:spcAft>
                <a:spcPts val="0"/>
              </a:spcAft>
              <a:buNone/>
            </a:pPr>
            <a:r>
              <a:rPr b="1" lang="es" sz="1400"/>
              <a:t>Funcionalidades</a:t>
            </a:r>
            <a:endParaRPr b="1" sz="1400"/>
          </a:p>
          <a:p>
            <a:pPr indent="-304800" lvl="0" marL="457200" rtl="0" algn="l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200"/>
              <a:buAutoNum type="arabicPeriod"/>
            </a:pPr>
            <a:r>
              <a:rPr b="1" lang="es" sz="1200"/>
              <a:t>Añadir productos mediante código de barras (Android).</a:t>
            </a:r>
            <a:br>
              <a:rPr b="1" lang="es" sz="1200"/>
            </a:br>
            <a:endParaRPr b="1" sz="1200"/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AutoNum type="arabicPeriod"/>
            </a:pPr>
            <a:r>
              <a:rPr b="1" lang="es" sz="1200"/>
              <a:t>Compartir listas con otros usuarios mediante correo electrónico.</a:t>
            </a:r>
            <a:br>
              <a:rPr b="1" lang="es" sz="1200"/>
            </a:br>
            <a:endParaRPr b="1" sz="1200"/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AutoNum type="arabicPeriod"/>
            </a:pPr>
            <a:r>
              <a:rPr b="1" lang="es" sz="1200"/>
              <a:t>Añadir, modificar y eliminar observaciones.</a:t>
            </a:r>
            <a:br>
              <a:rPr b="1" lang="es" sz="1200"/>
            </a:br>
            <a:endParaRPr b="1" sz="1200"/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AutoNum type="arabicPeriod"/>
            </a:pPr>
            <a:r>
              <a:rPr b="1" lang="es" sz="1200"/>
              <a:t>Calcular precio total de la lista y cuánto paga cada usuario.</a:t>
            </a:r>
            <a:br>
              <a:rPr b="1" lang="es" sz="1200"/>
            </a:br>
            <a:endParaRPr b="1" sz="1200"/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AutoNum type="arabicPeriod"/>
            </a:pPr>
            <a:r>
              <a:rPr b="1" lang="es" sz="1200"/>
              <a:t>Diferenciación visual de listas (individuales vs compartidas).</a:t>
            </a:r>
            <a:br>
              <a:rPr b="1" lang="es" sz="1200"/>
            </a:br>
            <a:endParaRPr b="1" sz="1200"/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AutoNum type="arabicPeriod"/>
            </a:pPr>
            <a:r>
              <a:rPr b="1" lang="es" sz="1200"/>
              <a:t>Sincronización en tiempo real entre Android y Web.</a:t>
            </a:r>
            <a:br>
              <a:rPr b="1" lang="es" sz="1200"/>
            </a:br>
            <a:endParaRPr b="1" sz="1200"/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AutoNum type="arabicPeriod"/>
            </a:pPr>
            <a:r>
              <a:rPr b="1" lang="es" sz="1200"/>
              <a:t>Finalizar listas y registrar quién finalizó la compra.</a:t>
            </a:r>
            <a:endParaRPr b="1" sz="1200"/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AutoNum type="arabicPeriod"/>
            </a:pPr>
            <a:r>
              <a:t/>
            </a:r>
            <a:endParaRPr b="1" sz="120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15" name="Shape 5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Google Shape;516;p79"/>
          <p:cNvSpPr txBox="1"/>
          <p:nvPr>
            <p:ph type="title"/>
          </p:nvPr>
        </p:nvSpPr>
        <p:spPr>
          <a:xfrm>
            <a:off x="1052550" y="371325"/>
            <a:ext cx="7038900" cy="533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s" sz="2500"/>
              <a:t>Desarrollo del proyecto del sistema</a:t>
            </a:r>
            <a:endParaRPr/>
          </a:p>
        </p:txBody>
      </p:sp>
      <p:sp>
        <p:nvSpPr>
          <p:cNvPr id="517" name="Google Shape;517;p79"/>
          <p:cNvSpPr txBox="1"/>
          <p:nvPr>
            <p:ph idx="1" type="body"/>
          </p:nvPr>
        </p:nvSpPr>
        <p:spPr>
          <a:xfrm>
            <a:off x="311700" y="1307850"/>
            <a:ext cx="8520600" cy="363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1400"/>
              </a:spcBef>
              <a:spcAft>
                <a:spcPts val="0"/>
              </a:spcAft>
              <a:buNone/>
            </a:pPr>
            <a:r>
              <a:rPr b="1" lang="es" sz="1400"/>
              <a:t>Plan de pruebas</a:t>
            </a:r>
            <a:endParaRPr b="1" sz="1400"/>
          </a:p>
          <a:p>
            <a:pPr indent="-323850" lvl="0" marL="457200" rtl="0" algn="l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500"/>
              <a:buChar char="●"/>
            </a:pPr>
            <a:r>
              <a:rPr b="1" lang="es" sz="1400">
                <a:latin typeface="Arial"/>
                <a:ea typeface="Arial"/>
                <a:cs typeface="Arial"/>
                <a:sym typeface="Arial"/>
              </a:rPr>
              <a:t>Prueba de observaciones:</a:t>
            </a:r>
            <a:r>
              <a:rPr lang="es" sz="1400">
                <a:latin typeface="Arial"/>
                <a:ea typeface="Arial"/>
                <a:cs typeface="Arial"/>
                <a:sym typeface="Arial"/>
              </a:rPr>
              <a:t> crear, modificar y eliminar observaciones; comprobar autor y fecha.</a:t>
            </a:r>
            <a:br>
              <a:rPr lang="es" sz="1400">
                <a:latin typeface="Arial"/>
                <a:ea typeface="Arial"/>
                <a:cs typeface="Arial"/>
                <a:sym typeface="Arial"/>
              </a:rPr>
            </a:br>
            <a:endParaRPr sz="1400">
              <a:latin typeface="Arial"/>
              <a:ea typeface="Arial"/>
              <a:cs typeface="Arial"/>
              <a:sym typeface="Arial"/>
            </a:endParaRPr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Char char="●"/>
            </a:pPr>
            <a:r>
              <a:rPr b="1" lang="es" sz="1400">
                <a:latin typeface="Arial"/>
                <a:ea typeface="Arial"/>
                <a:cs typeface="Arial"/>
                <a:sym typeface="Arial"/>
              </a:rPr>
              <a:t>Prueba de cálculo de gastos:</a:t>
            </a:r>
            <a:r>
              <a:rPr lang="es" sz="1400">
                <a:latin typeface="Arial"/>
                <a:ea typeface="Arial"/>
                <a:cs typeface="Arial"/>
                <a:sym typeface="Arial"/>
              </a:rPr>
              <a:t> introducir precios y verificar el total y el reparto.</a:t>
            </a:r>
            <a:br>
              <a:rPr lang="es" sz="1400">
                <a:latin typeface="Arial"/>
                <a:ea typeface="Arial"/>
                <a:cs typeface="Arial"/>
                <a:sym typeface="Arial"/>
              </a:rPr>
            </a:br>
            <a:endParaRPr sz="1400">
              <a:latin typeface="Arial"/>
              <a:ea typeface="Arial"/>
              <a:cs typeface="Arial"/>
              <a:sym typeface="Arial"/>
            </a:endParaRPr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Char char="●"/>
            </a:pPr>
            <a:r>
              <a:rPr b="1" lang="es" sz="1400">
                <a:latin typeface="Arial"/>
                <a:ea typeface="Arial"/>
                <a:cs typeface="Arial"/>
                <a:sym typeface="Arial"/>
              </a:rPr>
              <a:t>Prueba de diferenciación visual:</a:t>
            </a:r>
            <a:r>
              <a:rPr lang="es" sz="1400">
                <a:latin typeface="Arial"/>
                <a:ea typeface="Arial"/>
                <a:cs typeface="Arial"/>
                <a:sym typeface="Arial"/>
              </a:rPr>
              <a:t> confirmar que listas compartidas se muestran con diseño distinto.</a:t>
            </a:r>
            <a:br>
              <a:rPr lang="es" sz="1400">
                <a:latin typeface="Arial"/>
                <a:ea typeface="Arial"/>
                <a:cs typeface="Arial"/>
                <a:sym typeface="Arial"/>
              </a:rPr>
            </a:br>
            <a:endParaRPr sz="1400">
              <a:latin typeface="Arial"/>
              <a:ea typeface="Arial"/>
              <a:cs typeface="Arial"/>
              <a:sym typeface="Arial"/>
            </a:endParaRPr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Char char="●"/>
            </a:pPr>
            <a:r>
              <a:rPr b="1" lang="es" sz="1400">
                <a:latin typeface="Arial"/>
                <a:ea typeface="Arial"/>
                <a:cs typeface="Arial"/>
                <a:sym typeface="Arial"/>
              </a:rPr>
              <a:t>Prueba de sincronización:</a:t>
            </a:r>
            <a:r>
              <a:rPr lang="es" sz="1400">
                <a:latin typeface="Arial"/>
                <a:ea typeface="Arial"/>
                <a:cs typeface="Arial"/>
                <a:sym typeface="Arial"/>
              </a:rPr>
              <a:t> modificar datos desde Android y comprobar reflejo inmediato en Web.</a:t>
            </a:r>
            <a:br>
              <a:rPr lang="es" sz="1400">
                <a:latin typeface="Arial"/>
                <a:ea typeface="Arial"/>
                <a:cs typeface="Arial"/>
                <a:sym typeface="Arial"/>
              </a:rPr>
            </a:br>
            <a:endParaRPr sz="1400">
              <a:latin typeface="Arial"/>
              <a:ea typeface="Arial"/>
              <a:cs typeface="Arial"/>
              <a:sym typeface="Arial"/>
            </a:endParaRPr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Char char="●"/>
            </a:pPr>
            <a:r>
              <a:rPr b="1" lang="es" sz="1400">
                <a:latin typeface="Arial"/>
                <a:ea typeface="Arial"/>
                <a:cs typeface="Arial"/>
                <a:sym typeface="Arial"/>
              </a:rPr>
              <a:t>Prueba de finalización:</a:t>
            </a:r>
            <a:r>
              <a:rPr lang="es" sz="1400">
                <a:latin typeface="Arial"/>
                <a:ea typeface="Arial"/>
                <a:cs typeface="Arial"/>
                <a:sym typeface="Arial"/>
              </a:rPr>
              <a:t> finalizar lista y verificar campos </a:t>
            </a:r>
            <a:r>
              <a:rPr lang="es" sz="1400">
                <a:latin typeface="Roboto Mono"/>
                <a:ea typeface="Roboto Mono"/>
                <a:cs typeface="Roboto Mono"/>
                <a:sym typeface="Roboto Mono"/>
              </a:rPr>
              <a:t>finalizedAt</a:t>
            </a:r>
            <a:r>
              <a:rPr lang="es" sz="1400"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lang="es" sz="1400">
                <a:latin typeface="Roboto Mono"/>
                <a:ea typeface="Roboto Mono"/>
                <a:cs typeface="Roboto Mono"/>
                <a:sym typeface="Roboto Mono"/>
              </a:rPr>
              <a:t>finalizedBy</a:t>
            </a:r>
            <a:r>
              <a:rPr lang="es" sz="1400">
                <a:latin typeface="Arial"/>
                <a:ea typeface="Arial"/>
                <a:cs typeface="Arial"/>
                <a:sym typeface="Arial"/>
              </a:rPr>
              <a:t> en Firestore.</a:t>
            </a:r>
            <a:endParaRPr sz="1400">
              <a:latin typeface="Arial"/>
              <a:ea typeface="Arial"/>
              <a:cs typeface="Arial"/>
              <a:sym typeface="Arial"/>
            </a:endParaRPr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t/>
            </a:r>
            <a:endParaRPr b="1" sz="120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21" name="Shape 5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" name="Google Shape;522;p80"/>
          <p:cNvSpPr txBox="1"/>
          <p:nvPr>
            <p:ph type="title"/>
          </p:nvPr>
        </p:nvSpPr>
        <p:spPr>
          <a:xfrm>
            <a:off x="823850" y="2053000"/>
            <a:ext cx="4587000" cy="1148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Información para el cliente</a:t>
            </a:r>
            <a:endParaRPr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26" name="Shape 5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7" name="Google Shape;527;p81"/>
          <p:cNvSpPr txBox="1"/>
          <p:nvPr>
            <p:ph type="title"/>
          </p:nvPr>
        </p:nvSpPr>
        <p:spPr>
          <a:xfrm>
            <a:off x="1052550" y="393750"/>
            <a:ext cx="7038900" cy="503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Información para el cliente</a:t>
            </a:r>
            <a:endParaRPr/>
          </a:p>
        </p:txBody>
      </p:sp>
      <p:sp>
        <p:nvSpPr>
          <p:cNvPr id="528" name="Google Shape;528;p81"/>
          <p:cNvSpPr txBox="1"/>
          <p:nvPr>
            <p:ph idx="1" type="body"/>
          </p:nvPr>
        </p:nvSpPr>
        <p:spPr>
          <a:xfrm>
            <a:off x="311700" y="1307850"/>
            <a:ext cx="8520600" cy="3623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s" sz="1700"/>
              <a:t>Requisitos físicos y de hardware</a:t>
            </a:r>
            <a:endParaRPr b="1" sz="17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s" sz="1100"/>
              <a:t>Para Android:</a:t>
            </a:r>
            <a:endParaRPr b="1" sz="1100"/>
          </a:p>
          <a:p>
            <a:pPr indent="-298450" lvl="0" marL="457200" rtl="0" algn="l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lang="es" sz="1100"/>
              <a:t>Dispositivo con sistema operativo Android 8.0 (Oreo) o superior.</a:t>
            </a:r>
            <a:br>
              <a:rPr lang="es" sz="1100"/>
            </a:br>
            <a:endParaRPr sz="1100"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lang="es" sz="1100"/>
              <a:t>Memoria RAM mínima: 2 GB.</a:t>
            </a:r>
            <a:br>
              <a:rPr lang="es" sz="1100"/>
            </a:br>
            <a:endParaRPr sz="1100"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lang="es" sz="1100"/>
              <a:t>Espacio de almacenamiento disponible: 50 MB aprox.</a:t>
            </a:r>
            <a:br>
              <a:rPr lang="es" sz="1100"/>
            </a:br>
            <a:endParaRPr sz="1100"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lang="es" sz="1100"/>
              <a:t>Cámara (opcional, solo si quiere usar la función de escaneo de códigos de barras).</a:t>
            </a:r>
            <a:br>
              <a:rPr lang="es" sz="1100"/>
            </a:br>
            <a:endParaRPr sz="1100"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lang="es" sz="1100"/>
              <a:t>Conexión a Internet estable para sincronización y listas.</a:t>
            </a:r>
            <a:endParaRPr sz="11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s" sz="1100"/>
              <a:t>Para Web:</a:t>
            </a:r>
            <a:endParaRPr b="1" sz="1100"/>
          </a:p>
          <a:p>
            <a:pPr indent="-298450" lvl="0" marL="457200" rtl="0" algn="l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lang="es" sz="1100"/>
              <a:t>Ordenador, portátil o tablet con navegador moderno: Chrome, Firefox, Edge o Safari actualizado.</a:t>
            </a:r>
            <a:br>
              <a:rPr lang="es" sz="1100"/>
            </a:br>
            <a:endParaRPr sz="1100"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lang="es" sz="1100"/>
              <a:t>Conexión a Internet estable para sincronización y listas.</a:t>
            </a:r>
            <a:endParaRPr sz="110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2" name="Shape 5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3" name="Google Shape;533;p82"/>
          <p:cNvSpPr txBox="1"/>
          <p:nvPr>
            <p:ph type="title"/>
          </p:nvPr>
        </p:nvSpPr>
        <p:spPr>
          <a:xfrm>
            <a:off x="1052550" y="378800"/>
            <a:ext cx="7038900" cy="518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Información para el cliente</a:t>
            </a:r>
            <a:endParaRPr/>
          </a:p>
        </p:txBody>
      </p:sp>
      <p:sp>
        <p:nvSpPr>
          <p:cNvPr id="534" name="Google Shape;534;p82"/>
          <p:cNvSpPr txBox="1"/>
          <p:nvPr>
            <p:ph idx="1" type="body"/>
          </p:nvPr>
        </p:nvSpPr>
        <p:spPr>
          <a:xfrm>
            <a:off x="311700" y="1307850"/>
            <a:ext cx="8520600" cy="3742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20000"/>
          </a:bodyPr>
          <a:lstStyle/>
          <a:p>
            <a:pPr indent="0" lvl="0" marL="0" rtl="0" algn="l"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s" sz="1700"/>
              <a:t>Requisitos software</a:t>
            </a:r>
            <a:endParaRPr b="1" sz="17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s" sz="1100"/>
              <a:t>Para Android:</a:t>
            </a:r>
            <a:endParaRPr b="1" sz="1100"/>
          </a:p>
          <a:p>
            <a:pPr indent="-298450" lvl="0" marL="457200" rtl="0" algn="l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lang="es" sz="1100"/>
              <a:t>App instalada desde Google Play o mediante APK proporcionado.</a:t>
            </a:r>
            <a:br>
              <a:rPr lang="es" sz="1100"/>
            </a:br>
            <a:endParaRPr sz="1100"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lang="es" sz="1100"/>
              <a:t>Sistema operativo Android 8.0 o superior.</a:t>
            </a:r>
            <a:br>
              <a:rPr lang="es" sz="1100"/>
            </a:br>
            <a:endParaRPr sz="1100"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lang="es" sz="1100"/>
              <a:t>Permisos de la app: cámara (solo si se va a usar escaneo de códigos de barras).</a:t>
            </a:r>
            <a:endParaRPr sz="11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s" sz="1100"/>
              <a:t>Para Web:</a:t>
            </a:r>
            <a:endParaRPr b="1" sz="1100"/>
          </a:p>
          <a:p>
            <a:pPr indent="-298450" lvl="0" marL="457200" rtl="0" algn="l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lang="es" sz="1100"/>
              <a:t>Navegador actualizado: Chrome, Firefox, Edge o Safari.</a:t>
            </a:r>
            <a:br>
              <a:rPr lang="es" sz="1100"/>
            </a:br>
            <a:endParaRPr sz="1100"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lang="es" sz="1100"/>
              <a:t>Capacidad de conectarse al dominio de la app.</a:t>
            </a:r>
            <a:endParaRPr sz="11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s" sz="1100"/>
              <a:t>Común a ambas plataformas:</a:t>
            </a:r>
            <a:endParaRPr b="1" sz="1100"/>
          </a:p>
          <a:p>
            <a:pPr indent="-298450" lvl="0" marL="457200" rtl="0" algn="l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lang="es" sz="1100"/>
              <a:t>Cuenta de usuario con correo electrónico y contraseña.</a:t>
            </a:r>
            <a:br>
              <a:rPr lang="es" sz="1100"/>
            </a:br>
            <a:endParaRPr sz="1100"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lang="es" sz="1100"/>
              <a:t>Conexión a Internet para ver y sincronizar listas</a:t>
            </a:r>
            <a:endParaRPr b="1" sz="110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8" name="Shape 5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9" name="Google Shape;539;p83"/>
          <p:cNvSpPr txBox="1"/>
          <p:nvPr>
            <p:ph type="title"/>
          </p:nvPr>
        </p:nvSpPr>
        <p:spPr>
          <a:xfrm>
            <a:off x="1297500" y="393750"/>
            <a:ext cx="7038900" cy="533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45833"/>
              <a:buFont typeface="Arial"/>
              <a:buNone/>
            </a:pPr>
            <a:r>
              <a:rPr lang="es"/>
              <a:t>Información para el cliente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0" name="Google Shape;540;p83"/>
          <p:cNvSpPr txBox="1"/>
          <p:nvPr>
            <p:ph idx="1" type="body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s" sz="1600"/>
              <a:t>Manual de instalación, configuración y administración</a:t>
            </a:r>
            <a:endParaRPr b="1" sz="16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8750"/>
              <a:buFont typeface="Arial"/>
              <a:buNone/>
            </a:pPr>
            <a:r>
              <a:rPr b="1" lang="es" sz="1600"/>
              <a:t>Instalación en Android:</a:t>
            </a:r>
            <a:endParaRPr b="1" sz="1600"/>
          </a:p>
          <a:p>
            <a:pPr indent="-322580" lvl="0" marL="457200" rtl="0" algn="l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ct val="100000"/>
              <a:buAutoNum type="arabicPeriod"/>
            </a:pPr>
            <a:r>
              <a:rPr lang="es" sz="1600"/>
              <a:t>Descargar la app desde Google Play o instalar el APK proporcionado.</a:t>
            </a:r>
            <a:br>
              <a:rPr lang="es" sz="1600"/>
            </a:br>
            <a:endParaRPr sz="1600"/>
          </a:p>
          <a:p>
            <a:pPr indent="-32258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AutoNum type="arabicPeriod"/>
            </a:pPr>
            <a:r>
              <a:rPr lang="es" sz="1600"/>
              <a:t>Conceder permisos de cámara si se desea usar el escaneo de códigos de barras.</a:t>
            </a:r>
            <a:br>
              <a:rPr lang="es" sz="1600"/>
            </a:br>
            <a:endParaRPr sz="1600"/>
          </a:p>
          <a:p>
            <a:pPr indent="-32258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AutoNum type="arabicPeriod"/>
            </a:pPr>
            <a:r>
              <a:rPr lang="es" sz="1600"/>
              <a:t>Abrir la app e iniciar sesión o registrarse con correo y contraseña.</a:t>
            </a:r>
            <a:br>
              <a:rPr lang="es" sz="1600"/>
            </a:br>
            <a:endParaRPr sz="1600"/>
          </a:p>
          <a:p>
            <a:pPr indent="-293211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68750"/>
              <a:buAutoNum type="arabicPeriod"/>
            </a:pPr>
            <a:r>
              <a:rPr lang="es" sz="1600"/>
              <a:t>La app se sincroniza automáticamente con la nube (Firestore).</a:t>
            </a:r>
            <a:br>
              <a:rPr lang="es" sz="1100"/>
            </a:br>
            <a:endParaRPr sz="1100"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44" name="Shape 5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5" name="Google Shape;545;p84"/>
          <p:cNvSpPr txBox="1"/>
          <p:nvPr>
            <p:ph type="title"/>
          </p:nvPr>
        </p:nvSpPr>
        <p:spPr>
          <a:xfrm>
            <a:off x="1297500" y="408700"/>
            <a:ext cx="7038900" cy="503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45833"/>
              <a:buFont typeface="Arial"/>
              <a:buNone/>
            </a:pPr>
            <a:r>
              <a:rPr lang="es"/>
              <a:t>Información para el cliente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6" name="Google Shape;546;p84"/>
          <p:cNvSpPr txBox="1"/>
          <p:nvPr>
            <p:ph idx="1" type="body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s" sz="1600"/>
              <a:t>Manual de instalación, configuración y administración</a:t>
            </a:r>
            <a:endParaRPr b="1" sz="16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s" sz="1400"/>
              <a:t>Instalación en Web:</a:t>
            </a:r>
            <a:endParaRPr b="1" sz="1400"/>
          </a:p>
          <a:p>
            <a:pPr indent="-317500" lvl="0" marL="457200" rtl="0" algn="l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400"/>
              <a:buAutoNum type="arabicPeriod"/>
            </a:pPr>
            <a:r>
              <a:rPr lang="es" sz="1400"/>
              <a:t>Acceder al dominio de la app.</a:t>
            </a:r>
            <a:br>
              <a:rPr lang="es" sz="1400"/>
            </a:br>
            <a:endParaRPr sz="1400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AutoNum type="arabicPeriod"/>
            </a:pPr>
            <a:r>
              <a:rPr lang="es" sz="1400"/>
              <a:t>Registrarse o iniciar sesión con correo y contraseña.</a:t>
            </a:r>
            <a:br>
              <a:rPr lang="es" sz="1400"/>
            </a:br>
            <a:endParaRPr sz="1400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AutoNum type="arabicPeriod"/>
            </a:pPr>
            <a:r>
              <a:rPr lang="es" sz="1400"/>
              <a:t>Todas las listas y productos se sincronizan automáticamente.</a:t>
            </a:r>
            <a:endParaRPr sz="210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0" name="Shape 5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1" name="Google Shape;551;p85"/>
          <p:cNvSpPr txBox="1"/>
          <p:nvPr>
            <p:ph type="title"/>
          </p:nvPr>
        </p:nvSpPr>
        <p:spPr>
          <a:xfrm>
            <a:off x="1297500" y="401225"/>
            <a:ext cx="7038900" cy="55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/>
              <a:t>Información para el cliente</a:t>
            </a:r>
            <a:endParaRPr/>
          </a:p>
        </p:txBody>
      </p:sp>
      <p:sp>
        <p:nvSpPr>
          <p:cNvPr id="552" name="Google Shape;552;p85"/>
          <p:cNvSpPr txBox="1"/>
          <p:nvPr>
            <p:ph idx="1" type="body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10000"/>
          </a:bodyPr>
          <a:lstStyle/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s" sz="1600"/>
              <a:t>Manual de instalación, configuración y administración</a:t>
            </a:r>
            <a:endParaRPr b="1" sz="16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78571"/>
              <a:buFont typeface="Arial"/>
              <a:buNone/>
            </a:pPr>
            <a:r>
              <a:rPr b="1" lang="es" sz="1400"/>
              <a:t>Configuración y administración de listas:</a:t>
            </a:r>
            <a:endParaRPr b="1" sz="1400"/>
          </a:p>
          <a:p>
            <a:pPr indent="-310832" lvl="0" marL="457200" rtl="0" algn="l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ct val="100000"/>
              <a:buChar char="●"/>
            </a:pPr>
            <a:r>
              <a:rPr lang="es" sz="1400"/>
              <a:t>Crear listas individuales o compartirlas con otros usuarios mediante correo electrónico.</a:t>
            </a:r>
            <a:br>
              <a:rPr lang="es" sz="1400"/>
            </a:br>
            <a:endParaRPr sz="1400"/>
          </a:p>
          <a:p>
            <a:pPr indent="-310832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Char char="●"/>
            </a:pPr>
            <a:r>
              <a:rPr lang="es" sz="1400"/>
              <a:t>Añadir, modificar o eliminar productos y observaciones.</a:t>
            </a:r>
            <a:br>
              <a:rPr lang="es" sz="1400"/>
            </a:br>
            <a:endParaRPr sz="1400"/>
          </a:p>
          <a:p>
            <a:pPr indent="-310832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Char char="●"/>
            </a:pPr>
            <a:r>
              <a:rPr lang="es" sz="1400"/>
              <a:t>Añadir precios a productos y ver el total de la lista.</a:t>
            </a:r>
            <a:br>
              <a:rPr lang="es" sz="1400"/>
            </a:br>
            <a:endParaRPr sz="1400"/>
          </a:p>
          <a:p>
            <a:pPr indent="-310832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Char char="●"/>
            </a:pPr>
            <a:r>
              <a:rPr lang="es" sz="1400"/>
              <a:t>Calcular automáticamente cuánto debe pagar cada usuario en listas compartidas.</a:t>
            </a:r>
            <a:br>
              <a:rPr lang="es" sz="1400"/>
            </a:br>
            <a:endParaRPr sz="1400"/>
          </a:p>
          <a:p>
            <a:pPr indent="-310832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Char char="●"/>
            </a:pPr>
            <a:r>
              <a:rPr lang="es" sz="1400"/>
              <a:t>Finalizar listas y administrar permisos de usuarios invitados.</a:t>
            </a:r>
            <a:endParaRPr sz="210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6" name="Shape 5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7" name="Google Shape;557;p86"/>
          <p:cNvSpPr txBox="1"/>
          <p:nvPr>
            <p:ph type="title"/>
          </p:nvPr>
        </p:nvSpPr>
        <p:spPr>
          <a:xfrm>
            <a:off x="1052550" y="371325"/>
            <a:ext cx="7038900" cy="548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45833"/>
              <a:buFont typeface="Arial"/>
              <a:buNone/>
            </a:pPr>
            <a:r>
              <a:rPr lang="es"/>
              <a:t>Información para el cliente</a:t>
            </a:r>
            <a:endParaRPr/>
          </a:p>
        </p:txBody>
      </p:sp>
      <p:sp>
        <p:nvSpPr>
          <p:cNvPr id="558" name="Google Shape;558;p86"/>
          <p:cNvSpPr txBox="1"/>
          <p:nvPr>
            <p:ph idx="1" type="body"/>
          </p:nvPr>
        </p:nvSpPr>
        <p:spPr>
          <a:xfrm>
            <a:off x="311700" y="1152475"/>
            <a:ext cx="8520600" cy="3888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900"/>
              <a:t>Manual de usuario</a:t>
            </a:r>
            <a:endParaRPr sz="19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s" sz="1300"/>
              <a:t>1. Registro e inicio de sesión:</a:t>
            </a:r>
            <a:endParaRPr b="1" sz="1300"/>
          </a:p>
          <a:p>
            <a:pPr indent="-311150" lvl="0" marL="457200" rtl="0" algn="l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300"/>
              <a:buChar char="●"/>
            </a:pPr>
            <a:r>
              <a:rPr lang="es" sz="1300"/>
              <a:t>Crear una cuenta con correo y contraseña.</a:t>
            </a:r>
            <a:br>
              <a:rPr lang="es" sz="1300"/>
            </a:br>
            <a:endParaRPr sz="1300"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Char char="●"/>
            </a:pPr>
            <a:r>
              <a:rPr lang="es" sz="1300"/>
              <a:t>Iniciar sesión con usuario registrado.</a:t>
            </a:r>
            <a:endParaRPr sz="13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s" sz="1300"/>
              <a:t>2. Crear lista de compras:</a:t>
            </a:r>
            <a:endParaRPr b="1" sz="1300"/>
          </a:p>
          <a:p>
            <a:pPr indent="-311150" lvl="0" marL="457200" rtl="0" algn="l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300"/>
              <a:buChar char="●"/>
            </a:pPr>
            <a:r>
              <a:rPr lang="es" sz="1300"/>
              <a:t>Pulsar el botón “Crear lista”, introducir un nombre y guardar.</a:t>
            </a:r>
            <a:endParaRPr sz="13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s" sz="1300"/>
              <a:t>3. Añadir productos:</a:t>
            </a:r>
            <a:endParaRPr b="1" sz="1300"/>
          </a:p>
          <a:p>
            <a:pPr indent="-311150" lvl="0" marL="457200" rtl="0" algn="l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300"/>
              <a:buChar char="●"/>
            </a:pPr>
            <a:r>
              <a:rPr b="1" lang="es" sz="1300"/>
              <a:t>Manual:</a:t>
            </a:r>
            <a:r>
              <a:rPr lang="es" sz="1300"/>
              <a:t> escribir el nombre del producto y guardarlo.</a:t>
            </a:r>
            <a:br>
              <a:rPr lang="es" sz="1300"/>
            </a:br>
            <a:endParaRPr sz="1300"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Char char="●"/>
            </a:pPr>
            <a:r>
              <a:rPr b="1" lang="es" sz="1300"/>
              <a:t>Android (opcional):</a:t>
            </a:r>
            <a:r>
              <a:rPr lang="es" sz="1300"/>
              <a:t> usar el escáner de códigos de barras para añadir automáticamente nombre, marca y modelo.</a:t>
            </a:r>
            <a:endParaRPr sz="200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2" name="Shape 5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Google Shape;563;p87"/>
          <p:cNvSpPr txBox="1"/>
          <p:nvPr>
            <p:ph type="title"/>
          </p:nvPr>
        </p:nvSpPr>
        <p:spPr>
          <a:xfrm>
            <a:off x="1052550" y="371325"/>
            <a:ext cx="7038900" cy="55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/>
              <a:t>Información para el cliente</a:t>
            </a:r>
            <a:endParaRPr/>
          </a:p>
        </p:txBody>
      </p:sp>
      <p:sp>
        <p:nvSpPr>
          <p:cNvPr id="564" name="Google Shape;564;p87"/>
          <p:cNvSpPr txBox="1"/>
          <p:nvPr>
            <p:ph idx="1" type="body"/>
          </p:nvPr>
        </p:nvSpPr>
        <p:spPr>
          <a:xfrm>
            <a:off x="311700" y="1353150"/>
            <a:ext cx="8520600" cy="3717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20000"/>
          </a:bodyPr>
          <a:lstStyle/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s" sz="1300"/>
              <a:t>4. Gestionar productos:</a:t>
            </a:r>
            <a:endParaRPr b="1" sz="1300"/>
          </a:p>
          <a:p>
            <a:pPr indent="-311150" lvl="0" marL="457200" rtl="0" algn="l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300"/>
              <a:buChar char="●"/>
            </a:pPr>
            <a:r>
              <a:rPr lang="es" sz="1300"/>
              <a:t>Marcar productos como comprados.</a:t>
            </a:r>
            <a:br>
              <a:rPr lang="es" sz="1300"/>
            </a:br>
            <a:endParaRPr sz="1300"/>
          </a:p>
          <a:p>
            <a:pPr indent="-3111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Char char="●"/>
            </a:pPr>
            <a:r>
              <a:rPr lang="es" sz="1300"/>
              <a:t>Eliminar productos.</a:t>
            </a:r>
            <a:br>
              <a:rPr lang="es" sz="1300"/>
            </a:br>
            <a:endParaRPr sz="1300"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Char char="●"/>
            </a:pPr>
            <a:r>
              <a:rPr lang="es" sz="1300"/>
              <a:t>Ver productos comprados al final de la lista para mantener claridad.</a:t>
            </a:r>
            <a:endParaRPr sz="13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s" sz="1300"/>
              <a:t>5. Observaciones:</a:t>
            </a:r>
            <a:endParaRPr b="1" sz="1300"/>
          </a:p>
          <a:p>
            <a:pPr indent="-311150" lvl="0" marL="457200" rtl="0" algn="l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300"/>
              <a:buChar char="●"/>
            </a:pPr>
            <a:r>
              <a:rPr lang="es" sz="1300"/>
              <a:t>Añadir notas sobre la lista o productos.</a:t>
            </a:r>
            <a:br>
              <a:rPr lang="es" sz="1300"/>
            </a:br>
            <a:endParaRPr sz="1300"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Char char="●"/>
            </a:pPr>
            <a:r>
              <a:rPr lang="es" sz="1300"/>
              <a:t>Modificar o eliminar observaciones si es necesario.</a:t>
            </a:r>
            <a:endParaRPr sz="13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s" sz="1300"/>
              <a:t>6. Compartir listas:</a:t>
            </a:r>
            <a:endParaRPr b="1" sz="1300"/>
          </a:p>
          <a:p>
            <a:pPr indent="-311150" lvl="0" marL="457200" rtl="0" algn="l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300"/>
              <a:buChar char="●"/>
            </a:pPr>
            <a:r>
              <a:rPr lang="es" sz="1300"/>
              <a:t>Introducir el correo del usuario invitado y enviar invitación.</a:t>
            </a:r>
            <a:br>
              <a:rPr lang="es" sz="1300"/>
            </a:br>
            <a:endParaRPr sz="1300"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Char char="●"/>
            </a:pPr>
            <a:r>
              <a:rPr lang="es" sz="1300"/>
              <a:t>Ver quién ha añadido y quién ha comprado cada producto.</a:t>
            </a:r>
            <a:endParaRPr sz="200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8" name="Shape 5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9" name="Google Shape;569;p88"/>
          <p:cNvSpPr txBox="1"/>
          <p:nvPr>
            <p:ph type="title"/>
          </p:nvPr>
        </p:nvSpPr>
        <p:spPr>
          <a:xfrm>
            <a:off x="2454600" y="251700"/>
            <a:ext cx="4234800" cy="518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45833"/>
              <a:buFont typeface="Arial"/>
              <a:buNone/>
            </a:pPr>
            <a:r>
              <a:rPr lang="es"/>
              <a:t>Información para el cliente</a:t>
            </a:r>
            <a:endParaRPr/>
          </a:p>
        </p:txBody>
      </p:sp>
      <p:sp>
        <p:nvSpPr>
          <p:cNvPr id="570" name="Google Shape;570;p88"/>
          <p:cNvSpPr txBox="1"/>
          <p:nvPr>
            <p:ph idx="1" type="body"/>
          </p:nvPr>
        </p:nvSpPr>
        <p:spPr>
          <a:xfrm>
            <a:off x="311700" y="1473950"/>
            <a:ext cx="8520600" cy="3828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s" sz="1300"/>
              <a:t>7. Gestión económica:</a:t>
            </a:r>
            <a:endParaRPr b="1" sz="1300"/>
          </a:p>
          <a:p>
            <a:pPr indent="-311150" lvl="0" marL="457200" rtl="0" algn="l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300"/>
              <a:buChar char="●"/>
            </a:pPr>
            <a:r>
              <a:rPr lang="es" sz="1300"/>
              <a:t>Añadir precios a productos.</a:t>
            </a:r>
            <a:br>
              <a:rPr lang="es" sz="1300"/>
            </a:br>
            <a:endParaRPr sz="1300"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Char char="●"/>
            </a:pPr>
            <a:r>
              <a:rPr lang="es" sz="1300"/>
              <a:t>Consultar </a:t>
            </a:r>
            <a:r>
              <a:rPr b="1" lang="es" sz="1300"/>
              <a:t>total de la lista</a:t>
            </a:r>
            <a:r>
              <a:rPr lang="es" sz="1300"/>
              <a:t>.</a:t>
            </a:r>
            <a:br>
              <a:rPr lang="es" sz="1300"/>
            </a:br>
            <a:endParaRPr sz="1300"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Char char="●"/>
            </a:pPr>
            <a:r>
              <a:rPr lang="es" sz="1300"/>
              <a:t>Calcular automáticamente cuánto debe pagar cada usuario en listas compartidas.</a:t>
            </a:r>
            <a:br>
              <a:rPr lang="es" sz="1300"/>
            </a:br>
            <a:endParaRPr sz="13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s" sz="1300"/>
              <a:t>8. Sincronización y finalización de listas:</a:t>
            </a:r>
            <a:endParaRPr b="1" sz="1300"/>
          </a:p>
          <a:p>
            <a:pPr indent="-311150" lvl="0" marL="457200" rtl="0" algn="l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300"/>
              <a:buChar char="●"/>
            </a:pPr>
            <a:r>
              <a:rPr lang="es" sz="1300"/>
              <a:t>Todos los cambios se reflejan en tiempo real en Android y Web.</a:t>
            </a:r>
            <a:br>
              <a:rPr lang="es" sz="1300"/>
            </a:br>
            <a:endParaRPr sz="1300"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Char char="●"/>
            </a:pPr>
            <a:r>
              <a:rPr lang="es" sz="1300"/>
              <a:t>Finalizar lista cuando se completa la compra y registrar </a:t>
            </a:r>
            <a:r>
              <a:rPr lang="es" sz="1300"/>
              <a:t>quien</a:t>
            </a:r>
            <a:r>
              <a:rPr lang="es" sz="1300"/>
              <a:t> la finalizó.</a:t>
            </a:r>
            <a:endParaRPr sz="1300"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4" name="Shape 5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5" name="Google Shape;575;p89"/>
          <p:cNvSpPr txBox="1"/>
          <p:nvPr>
            <p:ph type="title"/>
          </p:nvPr>
        </p:nvSpPr>
        <p:spPr>
          <a:xfrm>
            <a:off x="1297500" y="393750"/>
            <a:ext cx="7038900" cy="55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s" sz="2500"/>
              <a:t>Bibliografía y fuentes de información</a:t>
            </a:r>
            <a:endParaRPr sz="2500"/>
          </a:p>
        </p:txBody>
      </p:sp>
      <p:sp>
        <p:nvSpPr>
          <p:cNvPr id="576" name="Google Shape;576;p89"/>
          <p:cNvSpPr txBox="1"/>
          <p:nvPr>
            <p:ph idx="1" type="body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u="sng">
                <a:hlinkClick r:id="rId3"/>
              </a:rPr>
              <a:t>Chatgpt</a:t>
            </a:r>
            <a:r>
              <a:rPr lang="es"/>
              <a:t>, </a:t>
            </a:r>
            <a:r>
              <a:rPr lang="es" u="sng">
                <a:hlinkClick r:id="rId4"/>
              </a:rPr>
              <a:t>Deepseek </a:t>
            </a:r>
            <a:r>
              <a:rPr lang="es"/>
              <a:t>→ Cuestiones de código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 u="sng">
                <a:hlinkClick r:id="rId5"/>
              </a:rPr>
              <a:t>Figma </a:t>
            </a:r>
            <a:r>
              <a:rPr lang="es"/>
              <a:t>→ Creación de pantallas del software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 u="sng">
                <a:hlinkClick r:id="rId6"/>
              </a:rPr>
              <a:t>LucidChart </a:t>
            </a:r>
            <a:r>
              <a:rPr lang="es"/>
              <a:t>→ </a:t>
            </a:r>
            <a:r>
              <a:rPr lang="es"/>
              <a:t>Creación de mapa de navegación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Focus">
  <a:themeElements>
    <a:clrScheme name="Focus">
      <a:dk1>
        <a:srgbClr val="1B212C"/>
      </a:dk1>
      <a:lt1>
        <a:srgbClr val="FFFFFF"/>
      </a:lt1>
      <a:dk2>
        <a:srgbClr val="D9D9D9"/>
      </a:dk2>
      <a:lt2>
        <a:srgbClr val="82C7A5"/>
      </a:lt2>
      <a:accent1>
        <a:srgbClr val="0145AC"/>
      </a:accent1>
      <a:accent2>
        <a:srgbClr val="EECE1A"/>
      </a:accent2>
      <a:accent3>
        <a:srgbClr val="4E5567"/>
      </a:accent3>
      <a:accent4>
        <a:srgbClr val="F4D6AD"/>
      </a:accent4>
      <a:accent5>
        <a:srgbClr val="7890CD"/>
      </a:accent5>
      <a:accent6>
        <a:srgbClr val="F15E22"/>
      </a:accent6>
      <a:hlink>
        <a:srgbClr val="7890CD"/>
      </a:hlink>
      <a:folHlink>
        <a:srgbClr val="7890C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